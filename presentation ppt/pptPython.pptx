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6" r:id="rId5"/>
    <p:sldId id="27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4" r:id="rId16"/>
    <p:sldId id="275" r:id="rId17"/>
    <p:sldId id="269" r:id="rId18"/>
    <p:sldId id="270" r:id="rId19"/>
    <p:sldId id="271" r:id="rId20"/>
  </p:sldIdLst>
  <p:sldSz cx="12192000" cy="6858000"/>
  <p:notesSz cx="6858000" cy="12192000"/>
  <p:embeddedFontLst>
    <p:embeddedFont>
      <p:font typeface="MiSans" panose="020B0604020202020204" charset="-122"/>
      <p:regular r:id="rId22"/>
    </p:embeddedFont>
    <p:embeddedFont>
      <p:font typeface="Liter" panose="020B0604020202020204" charset="0"/>
      <p:regular r:id="rId23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0510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ADC52-EAD6-B674-B6C4-E510109E2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74C5C-BF0C-FC5A-B128-BA159A941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61103-2D4A-01C1-95C7-18E63749F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40AF4-11F8-2642-7AEF-E6C7BEE55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09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49D5A-231B-9977-D331-324D7220A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BD304-638F-ED23-CB0A-A841E63BC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B583F-6CC8-99DC-183B-68EB8F495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387B4-C441-E256-DDF3-C4C66D1405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151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75bfe91a2abac76432b21239b08a08eb73cb4646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Shape 1"/>
          <p:cNvSpPr/>
          <p:nvPr/>
        </p:nvSpPr>
        <p:spPr>
          <a:xfrm>
            <a:off x="384810" y="541020"/>
            <a:ext cx="2588895" cy="388620"/>
          </a:xfrm>
          <a:custGeom>
            <a:avLst/>
            <a:gdLst/>
            <a:ahLst/>
            <a:cxnLst/>
            <a:rect l="l" t="t" r="r" b="b"/>
            <a:pathLst>
              <a:path w="2588895" h="388620">
                <a:moveTo>
                  <a:pt x="194310" y="0"/>
                </a:moveTo>
                <a:lnTo>
                  <a:pt x="2394585" y="0"/>
                </a:lnTo>
                <a:cubicBezTo>
                  <a:pt x="2501899" y="0"/>
                  <a:pt x="2588895" y="86996"/>
                  <a:pt x="2588895" y="194310"/>
                </a:cubicBezTo>
                <a:lnTo>
                  <a:pt x="2588895" y="194310"/>
                </a:lnTo>
                <a:cubicBezTo>
                  <a:pt x="2588895" y="301624"/>
                  <a:pt x="2501899" y="388620"/>
                  <a:pt x="2394585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2"/>
          <p:cNvSpPr/>
          <p:nvPr/>
        </p:nvSpPr>
        <p:spPr>
          <a:xfrm>
            <a:off x="579120" y="628650"/>
            <a:ext cx="22767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PROJET DE FIN DE MODULE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38250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Prédiction de la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Réussite Académique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 Étudiants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0386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pour la Science des Données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810" y="4960620"/>
            <a:ext cx="5551170" cy="1512570"/>
          </a:xfrm>
          <a:custGeom>
            <a:avLst/>
            <a:gdLst/>
            <a:ahLst/>
            <a:cxnLst/>
            <a:rect l="l" t="t" r="r" b="b"/>
            <a:pathLst>
              <a:path w="5551170" h="1512570">
                <a:moveTo>
                  <a:pt x="114305" y="0"/>
                </a:moveTo>
                <a:lnTo>
                  <a:pt x="5436865" y="0"/>
                </a:lnTo>
                <a:cubicBezTo>
                  <a:pt x="5499994" y="0"/>
                  <a:pt x="5551170" y="51176"/>
                  <a:pt x="5551170" y="114305"/>
                </a:cubicBezTo>
                <a:lnTo>
                  <a:pt x="5551170" y="1398265"/>
                </a:lnTo>
                <a:cubicBezTo>
                  <a:pt x="5551170" y="1461394"/>
                  <a:pt x="5499994" y="1512570"/>
                  <a:pt x="5436865" y="1512570"/>
                </a:cubicBezTo>
                <a:lnTo>
                  <a:pt x="114305" y="1512570"/>
                </a:lnTo>
                <a:cubicBezTo>
                  <a:pt x="51176" y="1512570"/>
                  <a:pt x="0" y="1461394"/>
                  <a:pt x="0" y="13982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6"/>
          <p:cNvSpPr/>
          <p:nvPr/>
        </p:nvSpPr>
        <p:spPr>
          <a:xfrm>
            <a:off x="579120" y="515493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Équipe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9120" y="5497830"/>
            <a:ext cx="523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BASSIRY Wijdane • MHADA Hiba • MOUJOUD Aya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GRANDI Soukaina • TACE Mouad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52210" y="4960620"/>
            <a:ext cx="5551170" cy="1512570"/>
          </a:xfrm>
          <a:custGeom>
            <a:avLst/>
            <a:gdLst/>
            <a:ahLst/>
            <a:cxnLst/>
            <a:rect l="l" t="t" r="r" b="b"/>
            <a:pathLst>
              <a:path w="5551170" h="1512570">
                <a:moveTo>
                  <a:pt x="114305" y="0"/>
                </a:moveTo>
                <a:lnTo>
                  <a:pt x="5436865" y="0"/>
                </a:lnTo>
                <a:cubicBezTo>
                  <a:pt x="5499994" y="0"/>
                  <a:pt x="5551170" y="51176"/>
                  <a:pt x="5551170" y="114305"/>
                </a:cubicBezTo>
                <a:lnTo>
                  <a:pt x="5551170" y="1398265"/>
                </a:lnTo>
                <a:cubicBezTo>
                  <a:pt x="5551170" y="1461394"/>
                  <a:pt x="5499994" y="1512570"/>
                  <a:pt x="5436865" y="1512570"/>
                </a:cubicBezTo>
                <a:lnTo>
                  <a:pt x="114305" y="1512570"/>
                </a:lnTo>
                <a:cubicBezTo>
                  <a:pt x="51176" y="1512570"/>
                  <a:pt x="0" y="1461394"/>
                  <a:pt x="0" y="13982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Text 9"/>
          <p:cNvSpPr/>
          <p:nvPr/>
        </p:nvSpPr>
        <p:spPr>
          <a:xfrm>
            <a:off x="6446520" y="515493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Encadrants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46520" y="5497830"/>
            <a:ext cx="5238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Pr. SAID NOUH &amp; Pr. TAOUFIK AMZIL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46520" y="5821680"/>
            <a:ext cx="523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Université Hassan II de Casablanca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Faculté des Sciences Ben M'Sick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620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Sommaire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642110"/>
            <a:ext cx="5551170" cy="1083945"/>
          </a:xfrm>
          <a:custGeom>
            <a:avLst/>
            <a:gdLst/>
            <a:ahLst/>
            <a:cxnLst/>
            <a:rect l="l" t="t" r="r" b="b"/>
            <a:pathLst>
              <a:path w="5551170" h="1083945">
                <a:moveTo>
                  <a:pt x="114302" y="0"/>
                </a:moveTo>
                <a:lnTo>
                  <a:pt x="5436868" y="0"/>
                </a:lnTo>
                <a:cubicBezTo>
                  <a:pt x="5499995" y="0"/>
                  <a:pt x="5551170" y="51175"/>
                  <a:pt x="5551170" y="114302"/>
                </a:cubicBezTo>
                <a:lnTo>
                  <a:pt x="5551170" y="969643"/>
                </a:lnTo>
                <a:cubicBezTo>
                  <a:pt x="5551170" y="1032770"/>
                  <a:pt x="5499995" y="1083945"/>
                  <a:pt x="5436868" y="1083945"/>
                </a:cubicBezTo>
                <a:lnTo>
                  <a:pt x="114302" y="1083945"/>
                </a:lnTo>
                <a:cubicBezTo>
                  <a:pt x="51175" y="1083945"/>
                  <a:pt x="0" y="1032770"/>
                  <a:pt x="0" y="96964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579120" y="19192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727115" y="2033588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03020" y="1919288"/>
            <a:ext cx="267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Introduction &amp; Problématique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3020" y="2224088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Contexte du projet et défis identifiés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651634"/>
            <a:ext cx="5551170" cy="1083945"/>
          </a:xfrm>
          <a:custGeom>
            <a:avLst/>
            <a:gdLst/>
            <a:ahLst/>
            <a:cxnLst/>
            <a:rect l="l" t="t" r="r" b="b"/>
            <a:pathLst>
              <a:path w="5551170" h="1083945">
                <a:moveTo>
                  <a:pt x="114302" y="0"/>
                </a:moveTo>
                <a:lnTo>
                  <a:pt x="5436868" y="0"/>
                </a:lnTo>
                <a:cubicBezTo>
                  <a:pt x="5499995" y="0"/>
                  <a:pt x="5551170" y="51175"/>
                  <a:pt x="5551170" y="114302"/>
                </a:cubicBezTo>
                <a:lnTo>
                  <a:pt x="5551170" y="969643"/>
                </a:lnTo>
                <a:cubicBezTo>
                  <a:pt x="5551170" y="1032770"/>
                  <a:pt x="5499995" y="1083945"/>
                  <a:pt x="5436868" y="1083945"/>
                </a:cubicBezTo>
                <a:lnTo>
                  <a:pt x="114302" y="1083945"/>
                </a:lnTo>
                <a:cubicBezTo>
                  <a:pt x="51175" y="1083945"/>
                  <a:pt x="0" y="1032770"/>
                  <a:pt x="0" y="96964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Shape 8"/>
          <p:cNvSpPr/>
          <p:nvPr/>
        </p:nvSpPr>
        <p:spPr>
          <a:xfrm>
            <a:off x="6446520" y="19192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6573798" y="2033588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0420" y="1919288"/>
            <a:ext cx="358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kern="0" spc="-5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État de </a:t>
            </a:r>
            <a:r>
              <a:rPr lang="en-US" sz="1600" b="1" kern="0" spc="-56" dirty="0" err="1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l'Art</a:t>
            </a:r>
            <a:r>
              <a:rPr lang="en-US" sz="1600" b="1" kern="0" spc="-5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Revue de Littérature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61795" y="2224088"/>
            <a:ext cx="29828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MA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Justification de notre Approche</a:t>
            </a:r>
          </a:p>
        </p:txBody>
      </p:sp>
      <p:sp>
        <p:nvSpPr>
          <p:cNvPr id="14" name="Shape 12"/>
          <p:cNvSpPr/>
          <p:nvPr/>
        </p:nvSpPr>
        <p:spPr>
          <a:xfrm>
            <a:off x="384810" y="2889885"/>
            <a:ext cx="5551170" cy="1083945"/>
          </a:xfrm>
          <a:custGeom>
            <a:avLst/>
            <a:gdLst/>
            <a:ahLst/>
            <a:cxnLst/>
            <a:rect l="l" t="t" r="r" b="b"/>
            <a:pathLst>
              <a:path w="5551170" h="1083945">
                <a:moveTo>
                  <a:pt x="114302" y="0"/>
                </a:moveTo>
                <a:lnTo>
                  <a:pt x="5436868" y="0"/>
                </a:lnTo>
                <a:cubicBezTo>
                  <a:pt x="5499995" y="0"/>
                  <a:pt x="5551170" y="51175"/>
                  <a:pt x="5551170" y="114302"/>
                </a:cubicBezTo>
                <a:lnTo>
                  <a:pt x="5551170" y="969643"/>
                </a:lnTo>
                <a:cubicBezTo>
                  <a:pt x="5551170" y="1032770"/>
                  <a:pt x="5499995" y="1083945"/>
                  <a:pt x="5436868" y="1083945"/>
                </a:cubicBezTo>
                <a:lnTo>
                  <a:pt x="114302" y="1083945"/>
                </a:lnTo>
                <a:cubicBezTo>
                  <a:pt x="51175" y="1083945"/>
                  <a:pt x="0" y="1032770"/>
                  <a:pt x="0" y="96964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Shape 13"/>
          <p:cNvSpPr/>
          <p:nvPr/>
        </p:nvSpPr>
        <p:spPr>
          <a:xfrm>
            <a:off x="579120" y="31670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Text 14"/>
          <p:cNvSpPr/>
          <p:nvPr/>
        </p:nvSpPr>
        <p:spPr>
          <a:xfrm>
            <a:off x="705445" y="3281363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03020" y="3167063"/>
            <a:ext cx="371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Exploration &amp; Prétraitement des Données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03020" y="3471863"/>
            <a:ext cx="369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EDA et nettoyage des données (SMOTE)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2210" y="2889885"/>
            <a:ext cx="5551170" cy="1083945"/>
          </a:xfrm>
          <a:custGeom>
            <a:avLst/>
            <a:gdLst/>
            <a:ahLst/>
            <a:cxnLst/>
            <a:rect l="l" t="t" r="r" b="b"/>
            <a:pathLst>
              <a:path w="5551170" h="1083945">
                <a:moveTo>
                  <a:pt x="114302" y="0"/>
                </a:moveTo>
                <a:lnTo>
                  <a:pt x="5436868" y="0"/>
                </a:lnTo>
                <a:cubicBezTo>
                  <a:pt x="5499995" y="0"/>
                  <a:pt x="5551170" y="51175"/>
                  <a:pt x="5551170" y="114302"/>
                </a:cubicBezTo>
                <a:lnTo>
                  <a:pt x="5551170" y="969643"/>
                </a:lnTo>
                <a:cubicBezTo>
                  <a:pt x="5551170" y="1032770"/>
                  <a:pt x="5499995" y="1083945"/>
                  <a:pt x="5436868" y="1083945"/>
                </a:cubicBezTo>
                <a:lnTo>
                  <a:pt x="114302" y="1083945"/>
                </a:lnTo>
                <a:cubicBezTo>
                  <a:pt x="51175" y="1083945"/>
                  <a:pt x="0" y="1032770"/>
                  <a:pt x="0" y="96964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0" name="Shape 18"/>
          <p:cNvSpPr/>
          <p:nvPr/>
        </p:nvSpPr>
        <p:spPr>
          <a:xfrm>
            <a:off x="6446520" y="31670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6572964" y="3281363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0420" y="3167063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Sélection des Caractéristiques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0420" y="3471863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Selection et variables déterminantes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810" y="4137660"/>
            <a:ext cx="5551170" cy="1083945"/>
          </a:xfrm>
          <a:custGeom>
            <a:avLst/>
            <a:gdLst/>
            <a:ahLst/>
            <a:cxnLst/>
            <a:rect l="l" t="t" r="r" b="b"/>
            <a:pathLst>
              <a:path w="5551170" h="1083945">
                <a:moveTo>
                  <a:pt x="114302" y="0"/>
                </a:moveTo>
                <a:lnTo>
                  <a:pt x="5436868" y="0"/>
                </a:lnTo>
                <a:cubicBezTo>
                  <a:pt x="5499995" y="0"/>
                  <a:pt x="5551170" y="51175"/>
                  <a:pt x="5551170" y="114302"/>
                </a:cubicBezTo>
                <a:lnTo>
                  <a:pt x="5551170" y="969643"/>
                </a:lnTo>
                <a:cubicBezTo>
                  <a:pt x="5551170" y="1032770"/>
                  <a:pt x="5499995" y="1083945"/>
                  <a:pt x="5436868" y="1083945"/>
                </a:cubicBezTo>
                <a:lnTo>
                  <a:pt x="114302" y="1083945"/>
                </a:lnTo>
                <a:cubicBezTo>
                  <a:pt x="51175" y="1083945"/>
                  <a:pt x="0" y="1032770"/>
                  <a:pt x="0" y="96964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5" name="Shape 23"/>
          <p:cNvSpPr/>
          <p:nvPr/>
        </p:nvSpPr>
        <p:spPr>
          <a:xfrm>
            <a:off x="579120" y="44148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6" name="Text 24"/>
          <p:cNvSpPr/>
          <p:nvPr/>
        </p:nvSpPr>
        <p:spPr>
          <a:xfrm>
            <a:off x="706993" y="4529138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03020" y="4414838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Modélisation &amp; Évaluation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03020" y="4719638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Algorithmes de Boosting et benchmarking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52210" y="4137660"/>
            <a:ext cx="5551170" cy="1083945"/>
          </a:xfrm>
          <a:custGeom>
            <a:avLst/>
            <a:gdLst/>
            <a:ahLst/>
            <a:cxnLst/>
            <a:rect l="l" t="t" r="r" b="b"/>
            <a:pathLst>
              <a:path w="5551170" h="1083945">
                <a:moveTo>
                  <a:pt x="114302" y="0"/>
                </a:moveTo>
                <a:lnTo>
                  <a:pt x="5436868" y="0"/>
                </a:lnTo>
                <a:cubicBezTo>
                  <a:pt x="5499995" y="0"/>
                  <a:pt x="5551170" y="51175"/>
                  <a:pt x="5551170" y="114302"/>
                </a:cubicBezTo>
                <a:lnTo>
                  <a:pt x="5551170" y="969643"/>
                </a:lnTo>
                <a:cubicBezTo>
                  <a:pt x="5551170" y="1032770"/>
                  <a:pt x="5499995" y="1083945"/>
                  <a:pt x="5436868" y="1083945"/>
                </a:cubicBezTo>
                <a:lnTo>
                  <a:pt x="114302" y="1083945"/>
                </a:lnTo>
                <a:cubicBezTo>
                  <a:pt x="51175" y="1083945"/>
                  <a:pt x="0" y="1032770"/>
                  <a:pt x="0" y="96964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0" name="Shape 28"/>
          <p:cNvSpPr/>
          <p:nvPr/>
        </p:nvSpPr>
        <p:spPr>
          <a:xfrm>
            <a:off x="6446520" y="44148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1" name="Text 29"/>
          <p:cNvSpPr/>
          <p:nvPr/>
        </p:nvSpPr>
        <p:spPr>
          <a:xfrm>
            <a:off x="6571893" y="4529138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70420" y="4414838"/>
            <a:ext cx="280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Déploiement (Interface Flask)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0420" y="4719638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 web et interface utilisateur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4810" y="5385435"/>
            <a:ext cx="11418570" cy="1083945"/>
          </a:xfrm>
          <a:custGeom>
            <a:avLst/>
            <a:gdLst/>
            <a:ahLst/>
            <a:cxnLst/>
            <a:rect l="l" t="t" r="r" b="b"/>
            <a:pathLst>
              <a:path w="11418570" h="1083945">
                <a:moveTo>
                  <a:pt x="114302" y="0"/>
                </a:moveTo>
                <a:lnTo>
                  <a:pt x="11304268" y="0"/>
                </a:lnTo>
                <a:cubicBezTo>
                  <a:pt x="11367395" y="0"/>
                  <a:pt x="11418570" y="51175"/>
                  <a:pt x="11418570" y="114302"/>
                </a:cubicBezTo>
                <a:lnTo>
                  <a:pt x="11418570" y="969643"/>
                </a:lnTo>
                <a:cubicBezTo>
                  <a:pt x="11418570" y="1032770"/>
                  <a:pt x="11367395" y="1083945"/>
                  <a:pt x="11304268" y="1083945"/>
                </a:cubicBezTo>
                <a:lnTo>
                  <a:pt x="114302" y="1083945"/>
                </a:lnTo>
                <a:cubicBezTo>
                  <a:pt x="51175" y="1083945"/>
                  <a:pt x="0" y="1032770"/>
                  <a:pt x="0" y="96964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5" name="Shape 33"/>
          <p:cNvSpPr/>
          <p:nvPr/>
        </p:nvSpPr>
        <p:spPr>
          <a:xfrm>
            <a:off x="579120" y="56626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6" name="Text 34"/>
          <p:cNvSpPr/>
          <p:nvPr/>
        </p:nvSpPr>
        <p:spPr>
          <a:xfrm>
            <a:off x="714375" y="577691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03020" y="5662613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 &amp; Tests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03020" y="596741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Bilan du projet et perspectives futures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512" y="686873"/>
            <a:ext cx="11685883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et Problématique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127" y="1341210"/>
            <a:ext cx="11467168" cy="1362901"/>
          </a:xfrm>
          <a:custGeom>
            <a:avLst/>
            <a:gdLst/>
            <a:ahLst/>
            <a:cxnLst/>
            <a:rect l="l" t="t" r="r" b="b"/>
            <a:pathLst>
              <a:path w="11467168" h="1362901">
                <a:moveTo>
                  <a:pt x="108460" y="0"/>
                </a:moveTo>
                <a:lnTo>
                  <a:pt x="11358708" y="0"/>
                </a:lnTo>
                <a:cubicBezTo>
                  <a:pt x="11418609" y="0"/>
                  <a:pt x="11467168" y="48559"/>
                  <a:pt x="11467168" y="108460"/>
                </a:cubicBezTo>
                <a:lnTo>
                  <a:pt x="11467168" y="1254441"/>
                </a:lnTo>
                <a:cubicBezTo>
                  <a:pt x="11467168" y="1314342"/>
                  <a:pt x="11418609" y="1362901"/>
                  <a:pt x="11358708" y="1362901"/>
                </a:cubicBezTo>
                <a:lnTo>
                  <a:pt x="108460" y="1362901"/>
                </a:lnTo>
                <a:cubicBezTo>
                  <a:pt x="48559" y="1362901"/>
                  <a:pt x="0" y="1314342"/>
                  <a:pt x="0" y="1254441"/>
                </a:cubicBezTo>
                <a:lnTo>
                  <a:pt x="0" y="108460"/>
                </a:lnTo>
                <a:cubicBezTo>
                  <a:pt x="0" y="48559"/>
                  <a:pt x="48559" y="0"/>
                  <a:pt x="10846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585650" y="1561733"/>
            <a:ext cx="578420" cy="578420"/>
          </a:xfrm>
          <a:custGeom>
            <a:avLst/>
            <a:gdLst/>
            <a:ahLst/>
            <a:cxnLst/>
            <a:rect l="l" t="t" r="r" b="b"/>
            <a:pathLst>
              <a:path w="578420" h="578420">
                <a:moveTo>
                  <a:pt x="108454" y="0"/>
                </a:moveTo>
                <a:lnTo>
                  <a:pt x="469966" y="0"/>
                </a:lnTo>
                <a:cubicBezTo>
                  <a:pt x="529863" y="0"/>
                  <a:pt x="578420" y="48556"/>
                  <a:pt x="578420" y="108454"/>
                </a:cubicBezTo>
                <a:lnTo>
                  <a:pt x="578420" y="469966"/>
                </a:lnTo>
                <a:cubicBezTo>
                  <a:pt x="578420" y="529863"/>
                  <a:pt x="529863" y="578420"/>
                  <a:pt x="469966" y="578420"/>
                </a:cubicBezTo>
                <a:lnTo>
                  <a:pt x="108454" y="578420"/>
                </a:lnTo>
                <a:cubicBezTo>
                  <a:pt x="48556" y="578420"/>
                  <a:pt x="0" y="529863"/>
                  <a:pt x="0" y="469966"/>
                </a:cubicBezTo>
                <a:lnTo>
                  <a:pt x="0" y="108454"/>
                </a:lnTo>
                <a:cubicBezTo>
                  <a:pt x="0" y="48596"/>
                  <a:pt x="48596" y="0"/>
                  <a:pt x="108454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741552" y="1715376"/>
            <a:ext cx="271134" cy="271134"/>
          </a:xfrm>
          <a:custGeom>
            <a:avLst/>
            <a:gdLst/>
            <a:ahLst/>
            <a:cxnLst/>
            <a:rect l="l" t="t" r="r" b="b"/>
            <a:pathLst>
              <a:path w="271134" h="271134">
                <a:moveTo>
                  <a:pt x="135567" y="0"/>
                </a:moveTo>
                <a:cubicBezTo>
                  <a:pt x="143352" y="0"/>
                  <a:pt x="150501" y="4289"/>
                  <a:pt x="154208" y="11121"/>
                </a:cubicBezTo>
                <a:lnTo>
                  <a:pt x="268592" y="222944"/>
                </a:lnTo>
                <a:cubicBezTo>
                  <a:pt x="272140" y="229511"/>
                  <a:pt x="271981" y="237454"/>
                  <a:pt x="268169" y="243862"/>
                </a:cubicBezTo>
                <a:cubicBezTo>
                  <a:pt x="264356" y="250270"/>
                  <a:pt x="257419" y="254188"/>
                  <a:pt x="249952" y="254188"/>
                </a:cubicBezTo>
                <a:lnTo>
                  <a:pt x="21182" y="254188"/>
                </a:lnTo>
                <a:cubicBezTo>
                  <a:pt x="13716" y="254188"/>
                  <a:pt x="6831" y="250270"/>
                  <a:pt x="2966" y="243862"/>
                </a:cubicBezTo>
                <a:cubicBezTo>
                  <a:pt x="-900" y="237454"/>
                  <a:pt x="-1006" y="229511"/>
                  <a:pt x="2542" y="222944"/>
                </a:cubicBezTo>
                <a:lnTo>
                  <a:pt x="116927" y="11121"/>
                </a:lnTo>
                <a:cubicBezTo>
                  <a:pt x="120634" y="4289"/>
                  <a:pt x="127783" y="0"/>
                  <a:pt x="135567" y="0"/>
                </a:cubicBezTo>
                <a:close/>
                <a:moveTo>
                  <a:pt x="135567" y="88966"/>
                </a:moveTo>
                <a:cubicBezTo>
                  <a:pt x="128524" y="88966"/>
                  <a:pt x="122858" y="94632"/>
                  <a:pt x="122858" y="101675"/>
                </a:cubicBezTo>
                <a:lnTo>
                  <a:pt x="122858" y="160986"/>
                </a:lnTo>
                <a:cubicBezTo>
                  <a:pt x="122858" y="168029"/>
                  <a:pt x="128524" y="173695"/>
                  <a:pt x="135567" y="173695"/>
                </a:cubicBezTo>
                <a:cubicBezTo>
                  <a:pt x="142610" y="173695"/>
                  <a:pt x="148277" y="168029"/>
                  <a:pt x="148277" y="160986"/>
                </a:cubicBezTo>
                <a:lnTo>
                  <a:pt x="148277" y="101675"/>
                </a:lnTo>
                <a:cubicBezTo>
                  <a:pt x="148277" y="94632"/>
                  <a:pt x="142610" y="88966"/>
                  <a:pt x="135567" y="88966"/>
                </a:cubicBezTo>
                <a:close/>
                <a:moveTo>
                  <a:pt x="149706" y="203351"/>
                </a:moveTo>
                <a:cubicBezTo>
                  <a:pt x="150028" y="198102"/>
                  <a:pt x="147411" y="193109"/>
                  <a:pt x="142912" y="190388"/>
                </a:cubicBezTo>
                <a:cubicBezTo>
                  <a:pt x="138412" y="187666"/>
                  <a:pt x="132775" y="187666"/>
                  <a:pt x="128276" y="190388"/>
                </a:cubicBezTo>
                <a:cubicBezTo>
                  <a:pt x="123776" y="193109"/>
                  <a:pt x="121159" y="198102"/>
                  <a:pt x="121481" y="203351"/>
                </a:cubicBezTo>
                <a:cubicBezTo>
                  <a:pt x="121159" y="208599"/>
                  <a:pt x="123776" y="213592"/>
                  <a:pt x="128276" y="216314"/>
                </a:cubicBezTo>
                <a:cubicBezTo>
                  <a:pt x="132775" y="219035"/>
                  <a:pt x="138412" y="219035"/>
                  <a:pt x="142912" y="216314"/>
                </a:cubicBezTo>
                <a:cubicBezTo>
                  <a:pt x="147411" y="213592"/>
                  <a:pt x="150028" y="208599"/>
                  <a:pt x="149706" y="203351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1344826" y="1561733"/>
            <a:ext cx="10375401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 Défi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4826" y="1959283"/>
            <a:ext cx="10348288" cy="533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Augmentation alarmante</a:t>
            </a:r>
            <a:r>
              <a:rPr lang="en-US" sz="128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des taux d'échec et d'abandon dans l'enseignement supérieur. Les institutions font face à un défi majeur pour accompagner les étudiants vers la réussite.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127" y="2896504"/>
            <a:ext cx="11467168" cy="1362901"/>
          </a:xfrm>
          <a:custGeom>
            <a:avLst/>
            <a:gdLst/>
            <a:ahLst/>
            <a:cxnLst/>
            <a:rect l="l" t="t" r="r" b="b"/>
            <a:pathLst>
              <a:path w="11467168" h="1362901">
                <a:moveTo>
                  <a:pt x="108460" y="0"/>
                </a:moveTo>
                <a:lnTo>
                  <a:pt x="11358708" y="0"/>
                </a:lnTo>
                <a:cubicBezTo>
                  <a:pt x="11418609" y="0"/>
                  <a:pt x="11467168" y="48559"/>
                  <a:pt x="11467168" y="108460"/>
                </a:cubicBezTo>
                <a:lnTo>
                  <a:pt x="11467168" y="1254441"/>
                </a:lnTo>
                <a:cubicBezTo>
                  <a:pt x="11467168" y="1314342"/>
                  <a:pt x="11418609" y="1362901"/>
                  <a:pt x="11358708" y="1362901"/>
                </a:cubicBezTo>
                <a:lnTo>
                  <a:pt x="108460" y="1362901"/>
                </a:lnTo>
                <a:cubicBezTo>
                  <a:pt x="48559" y="1362901"/>
                  <a:pt x="0" y="1314342"/>
                  <a:pt x="0" y="1254441"/>
                </a:cubicBezTo>
                <a:lnTo>
                  <a:pt x="0" y="108460"/>
                </a:lnTo>
                <a:cubicBezTo>
                  <a:pt x="0" y="48559"/>
                  <a:pt x="48559" y="0"/>
                  <a:pt x="10846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Shape 8"/>
          <p:cNvSpPr/>
          <p:nvPr/>
        </p:nvSpPr>
        <p:spPr>
          <a:xfrm>
            <a:off x="585650" y="3117027"/>
            <a:ext cx="578420" cy="578420"/>
          </a:xfrm>
          <a:custGeom>
            <a:avLst/>
            <a:gdLst/>
            <a:ahLst/>
            <a:cxnLst/>
            <a:rect l="l" t="t" r="r" b="b"/>
            <a:pathLst>
              <a:path w="578420" h="578420">
                <a:moveTo>
                  <a:pt x="108454" y="0"/>
                </a:moveTo>
                <a:lnTo>
                  <a:pt x="469966" y="0"/>
                </a:lnTo>
                <a:cubicBezTo>
                  <a:pt x="529863" y="0"/>
                  <a:pt x="578420" y="48556"/>
                  <a:pt x="578420" y="108454"/>
                </a:cubicBezTo>
                <a:lnTo>
                  <a:pt x="578420" y="469966"/>
                </a:lnTo>
                <a:cubicBezTo>
                  <a:pt x="578420" y="529863"/>
                  <a:pt x="529863" y="578420"/>
                  <a:pt x="469966" y="578420"/>
                </a:cubicBezTo>
                <a:lnTo>
                  <a:pt x="108454" y="578420"/>
                </a:lnTo>
                <a:cubicBezTo>
                  <a:pt x="48556" y="578420"/>
                  <a:pt x="0" y="529863"/>
                  <a:pt x="0" y="469966"/>
                </a:cubicBezTo>
                <a:lnTo>
                  <a:pt x="0" y="108454"/>
                </a:lnTo>
                <a:cubicBezTo>
                  <a:pt x="0" y="48596"/>
                  <a:pt x="48596" y="0"/>
                  <a:pt x="10845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Shape 9"/>
          <p:cNvSpPr/>
          <p:nvPr/>
        </p:nvSpPr>
        <p:spPr>
          <a:xfrm>
            <a:off x="741552" y="3270670"/>
            <a:ext cx="271134" cy="271134"/>
          </a:xfrm>
          <a:custGeom>
            <a:avLst/>
            <a:gdLst/>
            <a:ahLst/>
            <a:cxnLst/>
            <a:rect l="l" t="t" r="r" b="b"/>
            <a:pathLst>
              <a:path w="271134" h="271134">
                <a:moveTo>
                  <a:pt x="237242" y="135567"/>
                </a:moveTo>
                <a:cubicBezTo>
                  <a:pt x="237242" y="79451"/>
                  <a:pt x="191683" y="33892"/>
                  <a:pt x="135567" y="33892"/>
                </a:cubicBezTo>
                <a:cubicBezTo>
                  <a:pt x="79451" y="33892"/>
                  <a:pt x="33892" y="79451"/>
                  <a:pt x="33892" y="135567"/>
                </a:cubicBezTo>
                <a:cubicBezTo>
                  <a:pt x="33892" y="191683"/>
                  <a:pt x="79451" y="237242"/>
                  <a:pt x="135567" y="237242"/>
                </a:cubicBezTo>
                <a:cubicBezTo>
                  <a:pt x="191683" y="237242"/>
                  <a:pt x="237242" y="191683"/>
                  <a:pt x="237242" y="135567"/>
                </a:cubicBezTo>
                <a:close/>
                <a:moveTo>
                  <a:pt x="0" y="135567"/>
                </a:moveTo>
                <a:cubicBezTo>
                  <a:pt x="0" y="60746"/>
                  <a:pt x="60746" y="0"/>
                  <a:pt x="135567" y="0"/>
                </a:cubicBezTo>
                <a:cubicBezTo>
                  <a:pt x="210389" y="0"/>
                  <a:pt x="271134" y="60746"/>
                  <a:pt x="271134" y="135567"/>
                </a:cubicBezTo>
                <a:cubicBezTo>
                  <a:pt x="271134" y="210389"/>
                  <a:pt x="210389" y="271134"/>
                  <a:pt x="135567" y="271134"/>
                </a:cubicBezTo>
                <a:cubicBezTo>
                  <a:pt x="60746" y="271134"/>
                  <a:pt x="0" y="210389"/>
                  <a:pt x="0" y="135567"/>
                </a:cubicBezTo>
                <a:close/>
                <a:moveTo>
                  <a:pt x="135567" y="177932"/>
                </a:moveTo>
                <a:cubicBezTo>
                  <a:pt x="158949" y="177932"/>
                  <a:pt x="177932" y="158949"/>
                  <a:pt x="177932" y="135567"/>
                </a:cubicBezTo>
                <a:cubicBezTo>
                  <a:pt x="177932" y="112185"/>
                  <a:pt x="158949" y="93202"/>
                  <a:pt x="135567" y="93202"/>
                </a:cubicBezTo>
                <a:cubicBezTo>
                  <a:pt x="112185" y="93202"/>
                  <a:pt x="93202" y="112185"/>
                  <a:pt x="93202" y="135567"/>
                </a:cubicBezTo>
                <a:cubicBezTo>
                  <a:pt x="93202" y="158949"/>
                  <a:pt x="112185" y="177932"/>
                  <a:pt x="135567" y="177932"/>
                </a:cubicBezTo>
                <a:close/>
                <a:moveTo>
                  <a:pt x="135567" y="59311"/>
                </a:moveTo>
                <a:cubicBezTo>
                  <a:pt x="177654" y="59311"/>
                  <a:pt x="211824" y="93480"/>
                  <a:pt x="211824" y="135567"/>
                </a:cubicBezTo>
                <a:cubicBezTo>
                  <a:pt x="211824" y="177654"/>
                  <a:pt x="177654" y="211824"/>
                  <a:pt x="135567" y="211824"/>
                </a:cubicBezTo>
                <a:cubicBezTo>
                  <a:pt x="93480" y="211824"/>
                  <a:pt x="59311" y="177654"/>
                  <a:pt x="59311" y="135567"/>
                </a:cubicBezTo>
                <a:cubicBezTo>
                  <a:pt x="59311" y="93480"/>
                  <a:pt x="93480" y="59311"/>
                  <a:pt x="135567" y="59311"/>
                </a:cubicBezTo>
                <a:close/>
                <a:moveTo>
                  <a:pt x="118621" y="135567"/>
                </a:moveTo>
                <a:cubicBezTo>
                  <a:pt x="118621" y="126214"/>
                  <a:pt x="126214" y="118621"/>
                  <a:pt x="135567" y="118621"/>
                </a:cubicBezTo>
                <a:cubicBezTo>
                  <a:pt x="144920" y="118621"/>
                  <a:pt x="152513" y="126214"/>
                  <a:pt x="152513" y="135567"/>
                </a:cubicBezTo>
                <a:cubicBezTo>
                  <a:pt x="152513" y="144920"/>
                  <a:pt x="144920" y="152513"/>
                  <a:pt x="135567" y="152513"/>
                </a:cubicBezTo>
                <a:cubicBezTo>
                  <a:pt x="126214" y="152513"/>
                  <a:pt x="118621" y="144920"/>
                  <a:pt x="118621" y="135567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1344826" y="3117027"/>
            <a:ext cx="10375401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L'Objectif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44826" y="3514577"/>
            <a:ext cx="10348288" cy="533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Développer un </a:t>
            </a:r>
            <a:r>
              <a:rPr lang="en-US" sz="1281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outil d'aide à la décision intelligent</a:t>
            </a:r>
            <a:r>
              <a:rPr lang="en-US" sz="128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capable d'anticiper les difficultés des étudiants et d'identifier précocement les profils à risque.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127" y="4451798"/>
            <a:ext cx="11467168" cy="2402249"/>
          </a:xfrm>
          <a:custGeom>
            <a:avLst/>
            <a:gdLst/>
            <a:ahLst/>
            <a:cxnLst/>
            <a:rect l="l" t="t" r="r" b="b"/>
            <a:pathLst>
              <a:path w="11467168" h="2402249">
                <a:moveTo>
                  <a:pt x="108462" y="0"/>
                </a:moveTo>
                <a:lnTo>
                  <a:pt x="11358706" y="0"/>
                </a:lnTo>
                <a:cubicBezTo>
                  <a:pt x="11418608" y="0"/>
                  <a:pt x="11467168" y="48560"/>
                  <a:pt x="11467168" y="108462"/>
                </a:cubicBezTo>
                <a:lnTo>
                  <a:pt x="11467168" y="2293787"/>
                </a:lnTo>
                <a:cubicBezTo>
                  <a:pt x="11467168" y="2353689"/>
                  <a:pt x="11418608" y="2402249"/>
                  <a:pt x="11358706" y="2402249"/>
                </a:cubicBezTo>
                <a:lnTo>
                  <a:pt x="108462" y="2402249"/>
                </a:lnTo>
                <a:cubicBezTo>
                  <a:pt x="48560" y="2402249"/>
                  <a:pt x="0" y="2353689"/>
                  <a:pt x="0" y="2293787"/>
                </a:cubicBezTo>
                <a:lnTo>
                  <a:pt x="0" y="108462"/>
                </a:lnTo>
                <a:cubicBezTo>
                  <a:pt x="0" y="48600"/>
                  <a:pt x="48600" y="0"/>
                  <a:pt x="10846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Shape 13"/>
          <p:cNvSpPr/>
          <p:nvPr/>
        </p:nvSpPr>
        <p:spPr>
          <a:xfrm>
            <a:off x="585650" y="4672321"/>
            <a:ext cx="578420" cy="578420"/>
          </a:xfrm>
          <a:custGeom>
            <a:avLst/>
            <a:gdLst/>
            <a:ahLst/>
            <a:cxnLst/>
            <a:rect l="l" t="t" r="r" b="b"/>
            <a:pathLst>
              <a:path w="578420" h="578420">
                <a:moveTo>
                  <a:pt x="108454" y="0"/>
                </a:moveTo>
                <a:lnTo>
                  <a:pt x="469966" y="0"/>
                </a:lnTo>
                <a:cubicBezTo>
                  <a:pt x="529863" y="0"/>
                  <a:pt x="578420" y="48556"/>
                  <a:pt x="578420" y="108454"/>
                </a:cubicBezTo>
                <a:lnTo>
                  <a:pt x="578420" y="469966"/>
                </a:lnTo>
                <a:cubicBezTo>
                  <a:pt x="578420" y="529863"/>
                  <a:pt x="529863" y="578420"/>
                  <a:pt x="469966" y="578420"/>
                </a:cubicBezTo>
                <a:lnTo>
                  <a:pt x="108454" y="578420"/>
                </a:lnTo>
                <a:cubicBezTo>
                  <a:pt x="48556" y="578420"/>
                  <a:pt x="0" y="529863"/>
                  <a:pt x="0" y="469966"/>
                </a:cubicBezTo>
                <a:lnTo>
                  <a:pt x="0" y="108454"/>
                </a:lnTo>
                <a:cubicBezTo>
                  <a:pt x="0" y="48596"/>
                  <a:pt x="48596" y="0"/>
                  <a:pt x="108454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Shape 14"/>
          <p:cNvSpPr/>
          <p:nvPr/>
        </p:nvSpPr>
        <p:spPr>
          <a:xfrm>
            <a:off x="775444" y="4825963"/>
            <a:ext cx="203351" cy="271134"/>
          </a:xfrm>
          <a:custGeom>
            <a:avLst/>
            <a:gdLst/>
            <a:ahLst/>
            <a:cxnLst/>
            <a:rect l="l" t="t" r="r" b="b"/>
            <a:pathLst>
              <a:path w="203351" h="271134">
                <a:moveTo>
                  <a:pt x="155108" y="203351"/>
                </a:moveTo>
                <a:cubicBezTo>
                  <a:pt x="158974" y="191541"/>
                  <a:pt x="166705" y="180844"/>
                  <a:pt x="175443" y="171630"/>
                </a:cubicBezTo>
                <a:cubicBezTo>
                  <a:pt x="192759" y="153413"/>
                  <a:pt x="203351" y="128789"/>
                  <a:pt x="203351" y="101675"/>
                </a:cubicBezTo>
                <a:cubicBezTo>
                  <a:pt x="203351" y="45542"/>
                  <a:pt x="157809" y="0"/>
                  <a:pt x="101675" y="0"/>
                </a:cubicBezTo>
                <a:cubicBezTo>
                  <a:pt x="45542" y="0"/>
                  <a:pt x="0" y="45542"/>
                  <a:pt x="0" y="101675"/>
                </a:cubicBezTo>
                <a:cubicBezTo>
                  <a:pt x="0" y="128789"/>
                  <a:pt x="10591" y="153413"/>
                  <a:pt x="27908" y="171630"/>
                </a:cubicBezTo>
                <a:cubicBezTo>
                  <a:pt x="36645" y="180844"/>
                  <a:pt x="44430" y="191541"/>
                  <a:pt x="48243" y="203351"/>
                </a:cubicBezTo>
                <a:lnTo>
                  <a:pt x="155055" y="203351"/>
                </a:lnTo>
                <a:close/>
                <a:moveTo>
                  <a:pt x="152513" y="228769"/>
                </a:moveTo>
                <a:lnTo>
                  <a:pt x="50838" y="228769"/>
                </a:lnTo>
                <a:lnTo>
                  <a:pt x="50838" y="237242"/>
                </a:lnTo>
                <a:cubicBezTo>
                  <a:pt x="50838" y="260649"/>
                  <a:pt x="69796" y="279607"/>
                  <a:pt x="93202" y="279607"/>
                </a:cubicBezTo>
                <a:lnTo>
                  <a:pt x="110148" y="279607"/>
                </a:lnTo>
                <a:cubicBezTo>
                  <a:pt x="133555" y="279607"/>
                  <a:pt x="152513" y="260649"/>
                  <a:pt x="152513" y="237242"/>
                </a:cubicBezTo>
                <a:lnTo>
                  <a:pt x="152513" y="228769"/>
                </a:lnTo>
                <a:close/>
                <a:moveTo>
                  <a:pt x="97439" y="59311"/>
                </a:moveTo>
                <a:cubicBezTo>
                  <a:pt x="76362" y="59311"/>
                  <a:pt x="59311" y="76362"/>
                  <a:pt x="59311" y="97439"/>
                </a:cubicBezTo>
                <a:cubicBezTo>
                  <a:pt x="59311" y="104482"/>
                  <a:pt x="53644" y="110148"/>
                  <a:pt x="46601" y="110148"/>
                </a:cubicBezTo>
                <a:cubicBezTo>
                  <a:pt x="39558" y="110148"/>
                  <a:pt x="33892" y="104482"/>
                  <a:pt x="33892" y="97439"/>
                </a:cubicBezTo>
                <a:cubicBezTo>
                  <a:pt x="33892" y="62329"/>
                  <a:pt x="62329" y="33892"/>
                  <a:pt x="97439" y="33892"/>
                </a:cubicBezTo>
                <a:cubicBezTo>
                  <a:pt x="104482" y="33892"/>
                  <a:pt x="110148" y="39558"/>
                  <a:pt x="110148" y="46601"/>
                </a:cubicBezTo>
                <a:cubicBezTo>
                  <a:pt x="110148" y="53644"/>
                  <a:pt x="104482" y="59311"/>
                  <a:pt x="97439" y="59311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1344826" y="4672321"/>
            <a:ext cx="10375401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Solution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4826" y="5069871"/>
            <a:ext cx="10348288" cy="26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Utilisation du </a:t>
            </a:r>
            <a:r>
              <a:rPr lang="en-US" sz="1281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</a:t>
            </a:r>
            <a:r>
              <a:rPr lang="en-US" sz="128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pour classifier les profils étudiants en trois catégories distinctes 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48441" y="5482447"/>
            <a:ext cx="3315067" cy="1145994"/>
          </a:xfrm>
          <a:custGeom>
            <a:avLst/>
            <a:gdLst/>
            <a:ahLst/>
            <a:cxnLst/>
            <a:rect l="l" t="t" r="r" b="b"/>
            <a:pathLst>
              <a:path w="3315067" h="1145994">
                <a:moveTo>
                  <a:pt x="72301" y="0"/>
                </a:moveTo>
                <a:lnTo>
                  <a:pt x="3242766" y="0"/>
                </a:lnTo>
                <a:cubicBezTo>
                  <a:pt x="3282697" y="0"/>
                  <a:pt x="3315067" y="32370"/>
                  <a:pt x="3315067" y="72301"/>
                </a:cubicBezTo>
                <a:lnTo>
                  <a:pt x="3315067" y="1073693"/>
                </a:lnTo>
                <a:cubicBezTo>
                  <a:pt x="3315067" y="1113624"/>
                  <a:pt x="3282697" y="1145994"/>
                  <a:pt x="3242766" y="1145994"/>
                </a:cubicBezTo>
                <a:lnTo>
                  <a:pt x="72301" y="1145994"/>
                </a:lnTo>
                <a:cubicBezTo>
                  <a:pt x="32370" y="1145994"/>
                  <a:pt x="0" y="1113624"/>
                  <a:pt x="0" y="1073693"/>
                </a:cubicBezTo>
                <a:lnTo>
                  <a:pt x="0" y="72301"/>
                </a:lnTo>
                <a:cubicBezTo>
                  <a:pt x="0" y="32397"/>
                  <a:pt x="32397" y="0"/>
                  <a:pt x="72301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0" name="Shape 18"/>
          <p:cNvSpPr/>
          <p:nvPr/>
        </p:nvSpPr>
        <p:spPr>
          <a:xfrm>
            <a:off x="2857076" y="5630666"/>
            <a:ext cx="305026" cy="271134"/>
          </a:xfrm>
          <a:custGeom>
            <a:avLst/>
            <a:gdLst/>
            <a:ahLst/>
            <a:cxnLst/>
            <a:rect l="l" t="t" r="r" b="b"/>
            <a:pathLst>
              <a:path w="305026" h="271134">
                <a:moveTo>
                  <a:pt x="25419" y="103688"/>
                </a:moveTo>
                <a:lnTo>
                  <a:pt x="136203" y="149283"/>
                </a:lnTo>
                <a:cubicBezTo>
                  <a:pt x="141392" y="151401"/>
                  <a:pt x="146900" y="152513"/>
                  <a:pt x="152513" y="152513"/>
                </a:cubicBezTo>
                <a:cubicBezTo>
                  <a:pt x="158126" y="152513"/>
                  <a:pt x="163634" y="151401"/>
                  <a:pt x="168823" y="149283"/>
                </a:cubicBezTo>
                <a:lnTo>
                  <a:pt x="297188" y="96433"/>
                </a:lnTo>
                <a:cubicBezTo>
                  <a:pt x="301955" y="94473"/>
                  <a:pt x="305026" y="89866"/>
                  <a:pt x="305026" y="84729"/>
                </a:cubicBezTo>
                <a:cubicBezTo>
                  <a:pt x="305026" y="79593"/>
                  <a:pt x="301955" y="74986"/>
                  <a:pt x="297188" y="73026"/>
                </a:cubicBezTo>
                <a:lnTo>
                  <a:pt x="168823" y="20176"/>
                </a:lnTo>
                <a:cubicBezTo>
                  <a:pt x="163634" y="18058"/>
                  <a:pt x="158126" y="16946"/>
                  <a:pt x="152513" y="16946"/>
                </a:cubicBezTo>
                <a:cubicBezTo>
                  <a:pt x="146900" y="16946"/>
                  <a:pt x="141392" y="18058"/>
                  <a:pt x="136203" y="20176"/>
                </a:cubicBezTo>
                <a:lnTo>
                  <a:pt x="7837" y="73026"/>
                </a:lnTo>
                <a:cubicBezTo>
                  <a:pt x="3071" y="74986"/>
                  <a:pt x="0" y="79593"/>
                  <a:pt x="0" y="84729"/>
                </a:cubicBezTo>
                <a:lnTo>
                  <a:pt x="0" y="241479"/>
                </a:lnTo>
                <a:cubicBezTo>
                  <a:pt x="0" y="248522"/>
                  <a:pt x="5666" y="254188"/>
                  <a:pt x="12709" y="254188"/>
                </a:cubicBezTo>
                <a:cubicBezTo>
                  <a:pt x="19753" y="254188"/>
                  <a:pt x="25419" y="248522"/>
                  <a:pt x="25419" y="241479"/>
                </a:cubicBezTo>
                <a:lnTo>
                  <a:pt x="25419" y="103688"/>
                </a:lnTo>
                <a:close/>
                <a:moveTo>
                  <a:pt x="50838" y="141657"/>
                </a:moveTo>
                <a:lnTo>
                  <a:pt x="50838" y="203351"/>
                </a:lnTo>
                <a:cubicBezTo>
                  <a:pt x="50838" y="231417"/>
                  <a:pt x="96380" y="254188"/>
                  <a:pt x="152513" y="254188"/>
                </a:cubicBezTo>
                <a:cubicBezTo>
                  <a:pt x="208646" y="254188"/>
                  <a:pt x="254188" y="231417"/>
                  <a:pt x="254188" y="203351"/>
                </a:cubicBezTo>
                <a:lnTo>
                  <a:pt x="254188" y="141604"/>
                </a:lnTo>
                <a:lnTo>
                  <a:pt x="178514" y="172795"/>
                </a:lnTo>
                <a:cubicBezTo>
                  <a:pt x="170253" y="176184"/>
                  <a:pt x="161463" y="177932"/>
                  <a:pt x="152513" y="177932"/>
                </a:cubicBezTo>
                <a:cubicBezTo>
                  <a:pt x="143563" y="177932"/>
                  <a:pt x="134773" y="176184"/>
                  <a:pt x="126512" y="172795"/>
                </a:cubicBezTo>
                <a:lnTo>
                  <a:pt x="50838" y="141604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1455991" y="5974102"/>
            <a:ext cx="3099967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1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Diplômé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0509" y="6263312"/>
            <a:ext cx="3090930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Graduate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18054" y="5482447"/>
            <a:ext cx="3315067" cy="1145994"/>
          </a:xfrm>
          <a:custGeom>
            <a:avLst/>
            <a:gdLst/>
            <a:ahLst/>
            <a:cxnLst/>
            <a:rect l="l" t="t" r="r" b="b"/>
            <a:pathLst>
              <a:path w="3315067" h="1145994">
                <a:moveTo>
                  <a:pt x="72301" y="0"/>
                </a:moveTo>
                <a:lnTo>
                  <a:pt x="3242766" y="0"/>
                </a:lnTo>
                <a:cubicBezTo>
                  <a:pt x="3282697" y="0"/>
                  <a:pt x="3315067" y="32370"/>
                  <a:pt x="3315067" y="72301"/>
                </a:cubicBezTo>
                <a:lnTo>
                  <a:pt x="3315067" y="1073693"/>
                </a:lnTo>
                <a:cubicBezTo>
                  <a:pt x="3315067" y="1113624"/>
                  <a:pt x="3282697" y="1145994"/>
                  <a:pt x="3242766" y="1145994"/>
                </a:cubicBezTo>
                <a:lnTo>
                  <a:pt x="72301" y="1145994"/>
                </a:lnTo>
                <a:cubicBezTo>
                  <a:pt x="32370" y="1145994"/>
                  <a:pt x="0" y="1113624"/>
                  <a:pt x="0" y="1073693"/>
                </a:cubicBezTo>
                <a:lnTo>
                  <a:pt x="0" y="72301"/>
                </a:lnTo>
                <a:cubicBezTo>
                  <a:pt x="0" y="32397"/>
                  <a:pt x="32397" y="0"/>
                  <a:pt x="72301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10160">
            <a:solidFill>
              <a:srgbClr val="EF444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4" name="Shape 22"/>
          <p:cNvSpPr/>
          <p:nvPr/>
        </p:nvSpPr>
        <p:spPr>
          <a:xfrm>
            <a:off x="6309744" y="5630666"/>
            <a:ext cx="338918" cy="271134"/>
          </a:xfrm>
          <a:custGeom>
            <a:avLst/>
            <a:gdLst/>
            <a:ahLst/>
            <a:cxnLst/>
            <a:rect l="l" t="t" r="r" b="b"/>
            <a:pathLst>
              <a:path w="338918" h="271134">
                <a:moveTo>
                  <a:pt x="72232" y="67784"/>
                </a:moveTo>
                <a:cubicBezTo>
                  <a:pt x="72232" y="45080"/>
                  <a:pt x="84344" y="24102"/>
                  <a:pt x="104005" y="12750"/>
                </a:cubicBezTo>
                <a:cubicBezTo>
                  <a:pt x="123667" y="1399"/>
                  <a:pt x="147891" y="1399"/>
                  <a:pt x="167552" y="12750"/>
                </a:cubicBezTo>
                <a:cubicBezTo>
                  <a:pt x="187214" y="24102"/>
                  <a:pt x="199326" y="45080"/>
                  <a:pt x="199326" y="67784"/>
                </a:cubicBezTo>
                <a:cubicBezTo>
                  <a:pt x="199326" y="102856"/>
                  <a:pt x="170851" y="131331"/>
                  <a:pt x="135779" y="131331"/>
                </a:cubicBezTo>
                <a:cubicBezTo>
                  <a:pt x="100706" y="131331"/>
                  <a:pt x="72232" y="102856"/>
                  <a:pt x="72232" y="67784"/>
                </a:cubicBezTo>
                <a:close/>
                <a:moveTo>
                  <a:pt x="25631" y="255406"/>
                </a:moveTo>
                <a:cubicBezTo>
                  <a:pt x="25631" y="203245"/>
                  <a:pt x="67889" y="160986"/>
                  <a:pt x="120051" y="160986"/>
                </a:cubicBezTo>
                <a:lnTo>
                  <a:pt x="151507" y="160986"/>
                </a:lnTo>
                <a:cubicBezTo>
                  <a:pt x="203668" y="160986"/>
                  <a:pt x="245927" y="203245"/>
                  <a:pt x="245927" y="255406"/>
                </a:cubicBezTo>
                <a:cubicBezTo>
                  <a:pt x="245927" y="264091"/>
                  <a:pt x="238884" y="271134"/>
                  <a:pt x="230199" y="271134"/>
                </a:cubicBezTo>
                <a:lnTo>
                  <a:pt x="41359" y="271134"/>
                </a:lnTo>
                <a:cubicBezTo>
                  <a:pt x="32674" y="271134"/>
                  <a:pt x="25631" y="264091"/>
                  <a:pt x="25631" y="255406"/>
                </a:cubicBezTo>
                <a:close/>
                <a:moveTo>
                  <a:pt x="324249" y="65718"/>
                </a:moveTo>
                <a:cubicBezTo>
                  <a:pt x="329227" y="70696"/>
                  <a:pt x="329227" y="78745"/>
                  <a:pt x="324249" y="83670"/>
                </a:cubicBezTo>
                <a:lnTo>
                  <a:pt x="306297" y="101622"/>
                </a:lnTo>
                <a:lnTo>
                  <a:pt x="324249" y="119574"/>
                </a:lnTo>
                <a:cubicBezTo>
                  <a:pt x="329227" y="124552"/>
                  <a:pt x="329227" y="132602"/>
                  <a:pt x="324249" y="137526"/>
                </a:cubicBezTo>
                <a:cubicBezTo>
                  <a:pt x="319271" y="142451"/>
                  <a:pt x="311222" y="142504"/>
                  <a:pt x="306297" y="137526"/>
                </a:cubicBezTo>
                <a:lnTo>
                  <a:pt x="288345" y="119574"/>
                </a:lnTo>
                <a:lnTo>
                  <a:pt x="270393" y="137526"/>
                </a:lnTo>
                <a:cubicBezTo>
                  <a:pt x="265415" y="142504"/>
                  <a:pt x="257366" y="142504"/>
                  <a:pt x="252441" y="137526"/>
                </a:cubicBezTo>
                <a:cubicBezTo>
                  <a:pt x="247516" y="132549"/>
                  <a:pt x="247463" y="124499"/>
                  <a:pt x="252441" y="119574"/>
                </a:cubicBezTo>
                <a:lnTo>
                  <a:pt x="270393" y="101622"/>
                </a:lnTo>
                <a:lnTo>
                  <a:pt x="252441" y="83670"/>
                </a:lnTo>
                <a:cubicBezTo>
                  <a:pt x="247463" y="78692"/>
                  <a:pt x="247463" y="70643"/>
                  <a:pt x="252441" y="65718"/>
                </a:cubicBezTo>
                <a:cubicBezTo>
                  <a:pt x="257419" y="60793"/>
                  <a:pt x="265468" y="60740"/>
                  <a:pt x="270393" y="65718"/>
                </a:cubicBezTo>
                <a:lnTo>
                  <a:pt x="288345" y="83670"/>
                </a:lnTo>
                <a:lnTo>
                  <a:pt x="306297" y="65718"/>
                </a:lnTo>
                <a:cubicBezTo>
                  <a:pt x="311275" y="60740"/>
                  <a:pt x="319324" y="60740"/>
                  <a:pt x="324249" y="65718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Text 23"/>
          <p:cNvSpPr/>
          <p:nvPr/>
        </p:nvSpPr>
        <p:spPr>
          <a:xfrm>
            <a:off x="4925604" y="5974102"/>
            <a:ext cx="3099967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1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Abandon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0123" y="6263312"/>
            <a:ext cx="3090930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Dropout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87781" y="5482447"/>
            <a:ext cx="3315067" cy="1145994"/>
          </a:xfrm>
          <a:custGeom>
            <a:avLst/>
            <a:gdLst/>
            <a:ahLst/>
            <a:cxnLst/>
            <a:rect l="l" t="t" r="r" b="b"/>
            <a:pathLst>
              <a:path w="3315067" h="1145994">
                <a:moveTo>
                  <a:pt x="72301" y="0"/>
                </a:moveTo>
                <a:lnTo>
                  <a:pt x="3242766" y="0"/>
                </a:lnTo>
                <a:cubicBezTo>
                  <a:pt x="3282697" y="0"/>
                  <a:pt x="3315067" y="32370"/>
                  <a:pt x="3315067" y="72301"/>
                </a:cubicBezTo>
                <a:lnTo>
                  <a:pt x="3315067" y="1073693"/>
                </a:lnTo>
                <a:cubicBezTo>
                  <a:pt x="3315067" y="1113624"/>
                  <a:pt x="3282697" y="1145994"/>
                  <a:pt x="3242766" y="1145994"/>
                </a:cubicBezTo>
                <a:lnTo>
                  <a:pt x="72301" y="1145994"/>
                </a:lnTo>
                <a:cubicBezTo>
                  <a:pt x="32370" y="1145994"/>
                  <a:pt x="0" y="1113624"/>
                  <a:pt x="0" y="1073693"/>
                </a:cubicBezTo>
                <a:lnTo>
                  <a:pt x="0" y="72301"/>
                </a:lnTo>
                <a:cubicBezTo>
                  <a:pt x="0" y="32397"/>
                  <a:pt x="32397" y="0"/>
                  <a:pt x="72301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8" name="Shape 26"/>
          <p:cNvSpPr/>
          <p:nvPr/>
        </p:nvSpPr>
        <p:spPr>
          <a:xfrm>
            <a:off x="9796417" y="5630666"/>
            <a:ext cx="305026" cy="271134"/>
          </a:xfrm>
          <a:custGeom>
            <a:avLst/>
            <a:gdLst/>
            <a:ahLst/>
            <a:cxnLst/>
            <a:rect l="l" t="t" r="r" b="b"/>
            <a:pathLst>
              <a:path w="305026" h="271134">
                <a:moveTo>
                  <a:pt x="118621" y="4236"/>
                </a:moveTo>
                <a:cubicBezTo>
                  <a:pt x="153694" y="4236"/>
                  <a:pt x="182168" y="32711"/>
                  <a:pt x="182168" y="67784"/>
                </a:cubicBezTo>
                <a:cubicBezTo>
                  <a:pt x="182168" y="102856"/>
                  <a:pt x="153694" y="131331"/>
                  <a:pt x="118621" y="131331"/>
                </a:cubicBezTo>
                <a:cubicBezTo>
                  <a:pt x="83549" y="131331"/>
                  <a:pt x="55074" y="102856"/>
                  <a:pt x="55074" y="67784"/>
                </a:cubicBezTo>
                <a:cubicBezTo>
                  <a:pt x="55074" y="32711"/>
                  <a:pt x="83549" y="4236"/>
                  <a:pt x="118621" y="4236"/>
                </a:cubicBezTo>
                <a:close/>
                <a:moveTo>
                  <a:pt x="102893" y="160986"/>
                </a:moveTo>
                <a:lnTo>
                  <a:pt x="134349" y="160986"/>
                </a:lnTo>
                <a:cubicBezTo>
                  <a:pt x="136414" y="160986"/>
                  <a:pt x="138533" y="161039"/>
                  <a:pt x="140598" y="161198"/>
                </a:cubicBezTo>
                <a:cubicBezTo>
                  <a:pt x="132019" y="176131"/>
                  <a:pt x="127094" y="193395"/>
                  <a:pt x="127094" y="211824"/>
                </a:cubicBezTo>
                <a:cubicBezTo>
                  <a:pt x="127094" y="233959"/>
                  <a:pt x="134190" y="254453"/>
                  <a:pt x="146158" y="271134"/>
                </a:cubicBezTo>
                <a:lnTo>
                  <a:pt x="24201" y="271134"/>
                </a:lnTo>
                <a:cubicBezTo>
                  <a:pt x="15516" y="271134"/>
                  <a:pt x="8473" y="264091"/>
                  <a:pt x="8473" y="255406"/>
                </a:cubicBezTo>
                <a:cubicBezTo>
                  <a:pt x="8473" y="203245"/>
                  <a:pt x="50732" y="160986"/>
                  <a:pt x="102893" y="160986"/>
                </a:cubicBezTo>
                <a:close/>
                <a:moveTo>
                  <a:pt x="152513" y="211824"/>
                </a:moveTo>
                <a:cubicBezTo>
                  <a:pt x="152513" y="169736"/>
                  <a:pt x="186682" y="135567"/>
                  <a:pt x="228769" y="135567"/>
                </a:cubicBezTo>
                <a:cubicBezTo>
                  <a:pt x="270857" y="135567"/>
                  <a:pt x="305026" y="169736"/>
                  <a:pt x="305026" y="211824"/>
                </a:cubicBezTo>
                <a:cubicBezTo>
                  <a:pt x="305026" y="253911"/>
                  <a:pt x="270857" y="288080"/>
                  <a:pt x="228769" y="288080"/>
                </a:cubicBezTo>
                <a:cubicBezTo>
                  <a:pt x="186682" y="288080"/>
                  <a:pt x="152513" y="253911"/>
                  <a:pt x="152513" y="211824"/>
                </a:cubicBezTo>
                <a:close/>
                <a:moveTo>
                  <a:pt x="228769" y="169459"/>
                </a:moveTo>
                <a:cubicBezTo>
                  <a:pt x="224109" y="169459"/>
                  <a:pt x="220297" y="173272"/>
                  <a:pt x="220297" y="177932"/>
                </a:cubicBezTo>
                <a:lnTo>
                  <a:pt x="220297" y="211824"/>
                </a:lnTo>
                <a:cubicBezTo>
                  <a:pt x="220297" y="216484"/>
                  <a:pt x="224109" y="220297"/>
                  <a:pt x="228769" y="220297"/>
                </a:cubicBezTo>
                <a:lnTo>
                  <a:pt x="254188" y="220297"/>
                </a:lnTo>
                <a:cubicBezTo>
                  <a:pt x="258848" y="220297"/>
                  <a:pt x="262661" y="216484"/>
                  <a:pt x="262661" y="211824"/>
                </a:cubicBezTo>
                <a:cubicBezTo>
                  <a:pt x="262661" y="207163"/>
                  <a:pt x="258848" y="203351"/>
                  <a:pt x="254188" y="203351"/>
                </a:cubicBezTo>
                <a:lnTo>
                  <a:pt x="237242" y="203351"/>
                </a:lnTo>
                <a:lnTo>
                  <a:pt x="237242" y="177932"/>
                </a:lnTo>
                <a:cubicBezTo>
                  <a:pt x="237242" y="173272"/>
                  <a:pt x="233430" y="169459"/>
                  <a:pt x="228769" y="169459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9" name="Text 27"/>
          <p:cNvSpPr/>
          <p:nvPr/>
        </p:nvSpPr>
        <p:spPr>
          <a:xfrm>
            <a:off x="8395331" y="5974102"/>
            <a:ext cx="3099967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1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Inscrit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99850" y="6263312"/>
            <a:ext cx="3090930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Enrolled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2450" y="381000"/>
            <a:ext cx="5667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kern="0" spc="-5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État de l'Art : Revue de Littérature (2021-2025)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001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Évolution des méthodes et objectifs de recherche en EDM (Educational Data Mining)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5600700" cy="1638300"/>
          </a:xfrm>
          <a:custGeom>
            <a:avLst/>
            <a:gdLst/>
            <a:ahLst/>
            <a:cxnLst/>
            <a:rect l="l" t="t" r="r" b="b"/>
            <a:pathLst>
              <a:path w="5600700" h="1638300">
                <a:moveTo>
                  <a:pt x="38100" y="0"/>
                </a:moveTo>
                <a:lnTo>
                  <a:pt x="5486396" y="0"/>
                </a:lnTo>
                <a:cubicBezTo>
                  <a:pt x="5549524" y="0"/>
                  <a:pt x="5600700" y="51176"/>
                  <a:pt x="5600700" y="114304"/>
                </a:cubicBezTo>
                <a:lnTo>
                  <a:pt x="5600700" y="1523996"/>
                </a:lnTo>
                <a:cubicBezTo>
                  <a:pt x="5600700" y="1587124"/>
                  <a:pt x="5549524" y="1638300"/>
                  <a:pt x="5486396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400050" y="121920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Shape 5"/>
          <p:cNvSpPr/>
          <p:nvPr/>
        </p:nvSpPr>
        <p:spPr>
          <a:xfrm>
            <a:off x="571500" y="1371600"/>
            <a:ext cx="990600" cy="304800"/>
          </a:xfrm>
          <a:custGeom>
            <a:avLst/>
            <a:gdLst/>
            <a:ahLst/>
            <a:cxnLst/>
            <a:rect l="l" t="t" r="r" b="b"/>
            <a:pathLst>
              <a:path w="990600" h="304800">
                <a:moveTo>
                  <a:pt x="76200" y="0"/>
                </a:moveTo>
                <a:lnTo>
                  <a:pt x="914400" y="0"/>
                </a:lnTo>
                <a:cubicBezTo>
                  <a:pt x="956456" y="0"/>
                  <a:pt x="990600" y="34144"/>
                  <a:pt x="990600" y="76200"/>
                </a:cubicBezTo>
                <a:lnTo>
                  <a:pt x="990600" y="228600"/>
                </a:lnTo>
                <a:cubicBezTo>
                  <a:pt x="990600" y="270656"/>
                  <a:pt x="956456" y="304800"/>
                  <a:pt x="9144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685800" y="1409700"/>
            <a:ext cx="83522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2021-2022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3423" y="139065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du ML classique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0550" y="1790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814388" y="1752600"/>
            <a:ext cx="41243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Domination des modèles supervisés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Random Forest et SVM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3881" y="20764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8321" y="54825"/>
                </a:moveTo>
                <a:cubicBezTo>
                  <a:pt x="111498" y="53965"/>
                  <a:pt x="114832" y="55476"/>
                  <a:pt x="116265" y="58419"/>
                </a:cubicBezTo>
                <a:lnTo>
                  <a:pt x="121109" y="68212"/>
                </a:lnTo>
                <a:cubicBezTo>
                  <a:pt x="123792" y="68576"/>
                  <a:pt x="126422" y="69306"/>
                  <a:pt x="128896" y="70321"/>
                </a:cubicBezTo>
                <a:lnTo>
                  <a:pt x="138012" y="64253"/>
                </a:lnTo>
                <a:cubicBezTo>
                  <a:pt x="140747" y="62430"/>
                  <a:pt x="144367" y="62794"/>
                  <a:pt x="146685" y="65112"/>
                </a:cubicBezTo>
                <a:lnTo>
                  <a:pt x="151686" y="70113"/>
                </a:lnTo>
                <a:cubicBezTo>
                  <a:pt x="154004" y="72431"/>
                  <a:pt x="154368" y="76077"/>
                  <a:pt x="152545" y="78786"/>
                </a:cubicBezTo>
                <a:lnTo>
                  <a:pt x="146477" y="87876"/>
                </a:lnTo>
                <a:cubicBezTo>
                  <a:pt x="146971" y="89100"/>
                  <a:pt x="147414" y="90376"/>
                  <a:pt x="147779" y="91704"/>
                </a:cubicBezTo>
                <a:cubicBezTo>
                  <a:pt x="148144" y="93032"/>
                  <a:pt x="148378" y="94335"/>
                  <a:pt x="148560" y="95663"/>
                </a:cubicBezTo>
                <a:lnTo>
                  <a:pt x="158379" y="100507"/>
                </a:lnTo>
                <a:cubicBezTo>
                  <a:pt x="161322" y="101966"/>
                  <a:pt x="162833" y="105300"/>
                  <a:pt x="161973" y="108451"/>
                </a:cubicBezTo>
                <a:lnTo>
                  <a:pt x="160150" y="115275"/>
                </a:lnTo>
                <a:cubicBezTo>
                  <a:pt x="159291" y="118426"/>
                  <a:pt x="156348" y="120562"/>
                  <a:pt x="153066" y="120354"/>
                </a:cubicBezTo>
                <a:lnTo>
                  <a:pt x="142127" y="119650"/>
                </a:lnTo>
                <a:cubicBezTo>
                  <a:pt x="140486" y="121760"/>
                  <a:pt x="138585" y="123713"/>
                  <a:pt x="136423" y="125380"/>
                </a:cubicBezTo>
                <a:lnTo>
                  <a:pt x="137127" y="136293"/>
                </a:lnTo>
                <a:cubicBezTo>
                  <a:pt x="137335" y="139575"/>
                  <a:pt x="135199" y="142544"/>
                  <a:pt x="132048" y="143377"/>
                </a:cubicBezTo>
                <a:lnTo>
                  <a:pt x="125224" y="145200"/>
                </a:lnTo>
                <a:cubicBezTo>
                  <a:pt x="122047" y="146060"/>
                  <a:pt x="118739" y="144549"/>
                  <a:pt x="117280" y="141606"/>
                </a:cubicBezTo>
                <a:lnTo>
                  <a:pt x="112436" y="131813"/>
                </a:lnTo>
                <a:cubicBezTo>
                  <a:pt x="109753" y="131449"/>
                  <a:pt x="107123" y="130719"/>
                  <a:pt x="104648" y="129704"/>
                </a:cubicBezTo>
                <a:lnTo>
                  <a:pt x="95533" y="135772"/>
                </a:lnTo>
                <a:cubicBezTo>
                  <a:pt x="92798" y="137595"/>
                  <a:pt x="89178" y="137231"/>
                  <a:pt x="86860" y="134913"/>
                </a:cubicBezTo>
                <a:lnTo>
                  <a:pt x="81859" y="129912"/>
                </a:lnTo>
                <a:cubicBezTo>
                  <a:pt x="79541" y="127594"/>
                  <a:pt x="79177" y="123974"/>
                  <a:pt x="81000" y="121239"/>
                </a:cubicBezTo>
                <a:lnTo>
                  <a:pt x="87068" y="112123"/>
                </a:lnTo>
                <a:cubicBezTo>
                  <a:pt x="86573" y="110899"/>
                  <a:pt x="86131" y="109623"/>
                  <a:pt x="85766" y="108295"/>
                </a:cubicBezTo>
                <a:cubicBezTo>
                  <a:pt x="85401" y="106966"/>
                  <a:pt x="85167" y="105638"/>
                  <a:pt x="84985" y="104336"/>
                </a:cubicBezTo>
                <a:lnTo>
                  <a:pt x="75166" y="99492"/>
                </a:lnTo>
                <a:cubicBezTo>
                  <a:pt x="72223" y="98033"/>
                  <a:pt x="70738" y="94699"/>
                  <a:pt x="71571" y="91548"/>
                </a:cubicBezTo>
                <a:lnTo>
                  <a:pt x="73395" y="84724"/>
                </a:lnTo>
                <a:cubicBezTo>
                  <a:pt x="74254" y="81573"/>
                  <a:pt x="77197" y="79437"/>
                  <a:pt x="80479" y="79645"/>
                </a:cubicBezTo>
                <a:lnTo>
                  <a:pt x="91392" y="80349"/>
                </a:lnTo>
                <a:cubicBezTo>
                  <a:pt x="93032" y="78239"/>
                  <a:pt x="94934" y="76286"/>
                  <a:pt x="97095" y="74619"/>
                </a:cubicBezTo>
                <a:lnTo>
                  <a:pt x="96392" y="63732"/>
                </a:lnTo>
                <a:cubicBezTo>
                  <a:pt x="96184" y="60450"/>
                  <a:pt x="98320" y="57481"/>
                  <a:pt x="101471" y="56648"/>
                </a:cubicBezTo>
                <a:lnTo>
                  <a:pt x="108295" y="54825"/>
                </a:lnTo>
                <a:close/>
                <a:moveTo>
                  <a:pt x="116785" y="88553"/>
                </a:moveTo>
                <a:cubicBezTo>
                  <a:pt x="110461" y="88560"/>
                  <a:pt x="105331" y="93701"/>
                  <a:pt x="105339" y="100026"/>
                </a:cubicBezTo>
                <a:cubicBezTo>
                  <a:pt x="105346" y="106350"/>
                  <a:pt x="110487" y="111479"/>
                  <a:pt x="116811" y="111472"/>
                </a:cubicBezTo>
                <a:cubicBezTo>
                  <a:pt x="123136" y="111465"/>
                  <a:pt x="128265" y="106324"/>
                  <a:pt x="128258" y="99999"/>
                </a:cubicBezTo>
                <a:cubicBezTo>
                  <a:pt x="128251" y="93675"/>
                  <a:pt x="123110" y="88546"/>
                  <a:pt x="116785" y="88553"/>
                </a:cubicBezTo>
                <a:close/>
                <a:moveTo>
                  <a:pt x="58575" y="-11850"/>
                </a:moveTo>
                <a:lnTo>
                  <a:pt x="65399" y="-10027"/>
                </a:lnTo>
                <a:cubicBezTo>
                  <a:pt x="68550" y="-9168"/>
                  <a:pt x="70686" y="-6199"/>
                  <a:pt x="70478" y="-2943"/>
                </a:cubicBezTo>
                <a:lnTo>
                  <a:pt x="69774" y="7944"/>
                </a:lnTo>
                <a:cubicBezTo>
                  <a:pt x="71936" y="9611"/>
                  <a:pt x="73837" y="11538"/>
                  <a:pt x="75478" y="13674"/>
                </a:cubicBezTo>
                <a:lnTo>
                  <a:pt x="86417" y="12970"/>
                </a:lnTo>
                <a:cubicBezTo>
                  <a:pt x="89673" y="12762"/>
                  <a:pt x="92642" y="14898"/>
                  <a:pt x="93501" y="18049"/>
                </a:cubicBezTo>
                <a:lnTo>
                  <a:pt x="95324" y="24873"/>
                </a:lnTo>
                <a:cubicBezTo>
                  <a:pt x="96158" y="28024"/>
                  <a:pt x="94673" y="31358"/>
                  <a:pt x="91730" y="32817"/>
                </a:cubicBezTo>
                <a:lnTo>
                  <a:pt x="81911" y="37661"/>
                </a:lnTo>
                <a:cubicBezTo>
                  <a:pt x="81729" y="38989"/>
                  <a:pt x="81469" y="40318"/>
                  <a:pt x="81130" y="41620"/>
                </a:cubicBezTo>
                <a:cubicBezTo>
                  <a:pt x="80791" y="42922"/>
                  <a:pt x="80323" y="44224"/>
                  <a:pt x="79828" y="45448"/>
                </a:cubicBezTo>
                <a:lnTo>
                  <a:pt x="85896" y="54564"/>
                </a:lnTo>
                <a:cubicBezTo>
                  <a:pt x="87719" y="57299"/>
                  <a:pt x="87355" y="60919"/>
                  <a:pt x="85037" y="63237"/>
                </a:cubicBezTo>
                <a:lnTo>
                  <a:pt x="80036" y="68238"/>
                </a:lnTo>
                <a:cubicBezTo>
                  <a:pt x="77718" y="70556"/>
                  <a:pt x="74098" y="70920"/>
                  <a:pt x="71363" y="69097"/>
                </a:cubicBezTo>
                <a:lnTo>
                  <a:pt x="62247" y="63029"/>
                </a:lnTo>
                <a:cubicBezTo>
                  <a:pt x="59773" y="64044"/>
                  <a:pt x="57143" y="64774"/>
                  <a:pt x="54460" y="65138"/>
                </a:cubicBezTo>
                <a:lnTo>
                  <a:pt x="49616" y="74931"/>
                </a:lnTo>
                <a:cubicBezTo>
                  <a:pt x="48157" y="77874"/>
                  <a:pt x="44823" y="79359"/>
                  <a:pt x="41672" y="78525"/>
                </a:cubicBezTo>
                <a:lnTo>
                  <a:pt x="34848" y="76702"/>
                </a:lnTo>
                <a:cubicBezTo>
                  <a:pt x="31671" y="75843"/>
                  <a:pt x="29561" y="72874"/>
                  <a:pt x="29769" y="69618"/>
                </a:cubicBezTo>
                <a:lnTo>
                  <a:pt x="30473" y="58705"/>
                </a:lnTo>
                <a:cubicBezTo>
                  <a:pt x="28311" y="57038"/>
                  <a:pt x="26410" y="55111"/>
                  <a:pt x="24769" y="52975"/>
                </a:cubicBezTo>
                <a:lnTo>
                  <a:pt x="13830" y="53679"/>
                </a:lnTo>
                <a:cubicBezTo>
                  <a:pt x="10574" y="53887"/>
                  <a:pt x="7605" y="51751"/>
                  <a:pt x="6746" y="48600"/>
                </a:cubicBezTo>
                <a:lnTo>
                  <a:pt x="4922" y="41776"/>
                </a:lnTo>
                <a:cubicBezTo>
                  <a:pt x="4089" y="38625"/>
                  <a:pt x="5574" y="35291"/>
                  <a:pt x="8517" y="33832"/>
                </a:cubicBezTo>
                <a:lnTo>
                  <a:pt x="18336" y="28988"/>
                </a:lnTo>
                <a:cubicBezTo>
                  <a:pt x="18518" y="27660"/>
                  <a:pt x="18778" y="26357"/>
                  <a:pt x="19117" y="25029"/>
                </a:cubicBezTo>
                <a:cubicBezTo>
                  <a:pt x="19482" y="23701"/>
                  <a:pt x="19898" y="22425"/>
                  <a:pt x="20419" y="21201"/>
                </a:cubicBezTo>
                <a:lnTo>
                  <a:pt x="14351" y="12111"/>
                </a:lnTo>
                <a:cubicBezTo>
                  <a:pt x="12528" y="9376"/>
                  <a:pt x="12892" y="5756"/>
                  <a:pt x="15210" y="3438"/>
                </a:cubicBezTo>
                <a:lnTo>
                  <a:pt x="20211" y="-1563"/>
                </a:lnTo>
                <a:cubicBezTo>
                  <a:pt x="22529" y="-3881"/>
                  <a:pt x="26149" y="-4245"/>
                  <a:pt x="28884" y="-2422"/>
                </a:cubicBezTo>
                <a:lnTo>
                  <a:pt x="38000" y="3646"/>
                </a:lnTo>
                <a:cubicBezTo>
                  <a:pt x="40474" y="2631"/>
                  <a:pt x="43104" y="1901"/>
                  <a:pt x="45787" y="1537"/>
                </a:cubicBezTo>
                <a:lnTo>
                  <a:pt x="50631" y="-8256"/>
                </a:lnTo>
                <a:cubicBezTo>
                  <a:pt x="52090" y="-11199"/>
                  <a:pt x="55398" y="-12684"/>
                  <a:pt x="58575" y="-11850"/>
                </a:cubicBezTo>
                <a:close/>
                <a:moveTo>
                  <a:pt x="50110" y="21878"/>
                </a:moveTo>
                <a:cubicBezTo>
                  <a:pt x="43786" y="21878"/>
                  <a:pt x="38651" y="27013"/>
                  <a:pt x="38651" y="33337"/>
                </a:cubicBezTo>
                <a:cubicBezTo>
                  <a:pt x="38651" y="39662"/>
                  <a:pt x="43786" y="44797"/>
                  <a:pt x="50110" y="44797"/>
                </a:cubicBezTo>
                <a:cubicBezTo>
                  <a:pt x="56435" y="44797"/>
                  <a:pt x="61570" y="39662"/>
                  <a:pt x="61570" y="33337"/>
                </a:cubicBezTo>
                <a:cubicBezTo>
                  <a:pt x="61570" y="27013"/>
                  <a:pt x="56435" y="21878"/>
                  <a:pt x="50110" y="21878"/>
                </a:cubicBezTo>
                <a:close/>
              </a:path>
            </a:pathLst>
          </a:custGeom>
          <a:solidFill>
            <a:srgbClr val="8F8F8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814388" y="2038350"/>
            <a:ext cx="4333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Rôle </a:t>
            </a: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crucial du prétraitement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pour affiner la précision (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70-75%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2971800"/>
            <a:ext cx="5600700" cy="1638300"/>
          </a:xfrm>
          <a:custGeom>
            <a:avLst/>
            <a:gdLst/>
            <a:ahLst/>
            <a:cxnLst/>
            <a:rect l="l" t="t" r="r" b="b"/>
            <a:pathLst>
              <a:path w="5600700" h="1638300">
                <a:moveTo>
                  <a:pt x="38100" y="0"/>
                </a:moveTo>
                <a:lnTo>
                  <a:pt x="5486396" y="0"/>
                </a:lnTo>
                <a:cubicBezTo>
                  <a:pt x="5549524" y="0"/>
                  <a:pt x="5600700" y="51176"/>
                  <a:pt x="5600700" y="114304"/>
                </a:cubicBezTo>
                <a:lnTo>
                  <a:pt x="5600700" y="1523996"/>
                </a:lnTo>
                <a:cubicBezTo>
                  <a:pt x="5600700" y="1587124"/>
                  <a:pt x="5549524" y="1638300"/>
                  <a:pt x="5486396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Shape 13"/>
          <p:cNvSpPr/>
          <p:nvPr/>
        </p:nvSpPr>
        <p:spPr>
          <a:xfrm>
            <a:off x="400050" y="297180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Shape 14"/>
          <p:cNvSpPr/>
          <p:nvPr/>
        </p:nvSpPr>
        <p:spPr>
          <a:xfrm>
            <a:off x="571500" y="3124200"/>
            <a:ext cx="1019175" cy="304800"/>
          </a:xfrm>
          <a:custGeom>
            <a:avLst/>
            <a:gdLst/>
            <a:ahLst/>
            <a:cxnLst/>
            <a:rect l="l" t="t" r="r" b="b"/>
            <a:pathLst>
              <a:path w="1019175" h="304800">
                <a:moveTo>
                  <a:pt x="76200" y="0"/>
                </a:moveTo>
                <a:lnTo>
                  <a:pt x="942975" y="0"/>
                </a:lnTo>
                <a:cubicBezTo>
                  <a:pt x="985031" y="0"/>
                  <a:pt x="1019175" y="34144"/>
                  <a:pt x="1019175" y="76200"/>
                </a:cubicBezTo>
                <a:lnTo>
                  <a:pt x="1019175" y="228600"/>
                </a:lnTo>
                <a:cubicBezTo>
                  <a:pt x="1019175" y="270656"/>
                  <a:pt x="985031" y="304800"/>
                  <a:pt x="9429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685800" y="3162300"/>
            <a:ext cx="86534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2023-2024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03546" y="3143250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Émergence du Boosting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0550" y="35433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3337" y="83344"/>
                </a:moveTo>
                <a:lnTo>
                  <a:pt x="6381" y="83344"/>
                </a:lnTo>
                <a:cubicBezTo>
                  <a:pt x="-104" y="83344"/>
                  <a:pt x="-4089" y="76286"/>
                  <a:pt x="-755" y="70712"/>
                </a:cubicBezTo>
                <a:lnTo>
                  <a:pt x="13022" y="47740"/>
                </a:lnTo>
                <a:cubicBezTo>
                  <a:pt x="15288" y="43964"/>
                  <a:pt x="19351" y="41672"/>
                  <a:pt x="23753" y="41672"/>
                </a:cubicBezTo>
                <a:lnTo>
                  <a:pt x="48496" y="41672"/>
                </a:lnTo>
                <a:cubicBezTo>
                  <a:pt x="68316" y="8100"/>
                  <a:pt x="97877" y="6407"/>
                  <a:pt x="117645" y="9298"/>
                </a:cubicBezTo>
                <a:cubicBezTo>
                  <a:pt x="120979" y="9793"/>
                  <a:pt x="123583" y="12397"/>
                  <a:pt x="124052" y="15705"/>
                </a:cubicBezTo>
                <a:cubicBezTo>
                  <a:pt x="126943" y="35473"/>
                  <a:pt x="125250" y="65034"/>
                  <a:pt x="91678" y="84854"/>
                </a:cubicBezTo>
                <a:lnTo>
                  <a:pt x="91678" y="109597"/>
                </a:lnTo>
                <a:cubicBezTo>
                  <a:pt x="91678" y="113999"/>
                  <a:pt x="89386" y="118062"/>
                  <a:pt x="85610" y="120328"/>
                </a:cubicBezTo>
                <a:lnTo>
                  <a:pt x="62638" y="134105"/>
                </a:lnTo>
                <a:cubicBezTo>
                  <a:pt x="57090" y="137439"/>
                  <a:pt x="50006" y="133428"/>
                  <a:pt x="50006" y="126969"/>
                </a:cubicBezTo>
                <a:lnTo>
                  <a:pt x="50006" y="100013"/>
                </a:lnTo>
                <a:cubicBezTo>
                  <a:pt x="50006" y="90819"/>
                  <a:pt x="42531" y="83344"/>
                  <a:pt x="33337" y="83344"/>
                </a:cubicBezTo>
                <a:lnTo>
                  <a:pt x="33311" y="83344"/>
                </a:lnTo>
                <a:close/>
                <a:moveTo>
                  <a:pt x="104180" y="41672"/>
                </a:moveTo>
                <a:cubicBezTo>
                  <a:pt x="104180" y="34772"/>
                  <a:pt x="98578" y="29170"/>
                  <a:pt x="91678" y="29170"/>
                </a:cubicBezTo>
                <a:cubicBezTo>
                  <a:pt x="84778" y="29170"/>
                  <a:pt x="79177" y="34772"/>
                  <a:pt x="79177" y="41672"/>
                </a:cubicBezTo>
                <a:cubicBezTo>
                  <a:pt x="79177" y="48572"/>
                  <a:pt x="84778" y="54173"/>
                  <a:pt x="91678" y="54173"/>
                </a:cubicBezTo>
                <a:cubicBezTo>
                  <a:pt x="98578" y="54173"/>
                  <a:pt x="104180" y="48572"/>
                  <a:pt x="104180" y="41672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Text 18"/>
          <p:cNvSpPr/>
          <p:nvPr/>
        </p:nvSpPr>
        <p:spPr>
          <a:xfrm>
            <a:off x="814388" y="3505200"/>
            <a:ext cx="466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de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pour la prédiction précoce dès la 1ère année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0550" y="3829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Text 20"/>
          <p:cNvSpPr/>
          <p:nvPr/>
        </p:nvSpPr>
        <p:spPr>
          <a:xfrm>
            <a:off x="814388" y="3790950"/>
            <a:ext cx="125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Précision : </a:t>
            </a:r>
            <a:r>
              <a:rPr lang="en-US" sz="1200" b="1" dirty="0">
                <a:solidFill>
                  <a:srgbClr val="6366F1"/>
                </a:solidFill>
                <a:highlight>
                  <a:srgbClr val="6366F1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80%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3881" y="411480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8F8F8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4" name="Text 22"/>
          <p:cNvSpPr/>
          <p:nvPr/>
        </p:nvSpPr>
        <p:spPr>
          <a:xfrm>
            <a:off x="814388" y="4076700"/>
            <a:ext cx="3752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des habitudes d'étude et participation parentale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0050" y="4724400"/>
            <a:ext cx="5600700" cy="1638300"/>
          </a:xfrm>
          <a:custGeom>
            <a:avLst/>
            <a:gdLst/>
            <a:ahLst/>
            <a:cxnLst/>
            <a:rect l="l" t="t" r="r" b="b"/>
            <a:pathLst>
              <a:path w="5600700" h="1638300">
                <a:moveTo>
                  <a:pt x="38100" y="0"/>
                </a:moveTo>
                <a:lnTo>
                  <a:pt x="5486396" y="0"/>
                </a:lnTo>
                <a:cubicBezTo>
                  <a:pt x="5549524" y="0"/>
                  <a:pt x="5600700" y="51176"/>
                  <a:pt x="5600700" y="114304"/>
                </a:cubicBezTo>
                <a:lnTo>
                  <a:pt x="5600700" y="1523996"/>
                </a:lnTo>
                <a:cubicBezTo>
                  <a:pt x="5600700" y="1587124"/>
                  <a:pt x="5549524" y="1638300"/>
                  <a:pt x="5486396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6" name="Shape 24"/>
          <p:cNvSpPr/>
          <p:nvPr/>
        </p:nvSpPr>
        <p:spPr>
          <a:xfrm>
            <a:off x="400050" y="472440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7" name="Shape 25"/>
          <p:cNvSpPr/>
          <p:nvPr/>
        </p:nvSpPr>
        <p:spPr>
          <a:xfrm>
            <a:off x="571500" y="4876800"/>
            <a:ext cx="590550" cy="304800"/>
          </a:xfrm>
          <a:custGeom>
            <a:avLst/>
            <a:gdLst/>
            <a:ahLst/>
            <a:cxnLst/>
            <a:rect l="l" t="t" r="r" b="b"/>
            <a:pathLst>
              <a:path w="590550" h="304800">
                <a:moveTo>
                  <a:pt x="76200" y="0"/>
                </a:moveTo>
                <a:lnTo>
                  <a:pt x="514350" y="0"/>
                </a:lnTo>
                <a:cubicBezTo>
                  <a:pt x="556406" y="0"/>
                  <a:pt x="590550" y="34144"/>
                  <a:pt x="590550" y="76200"/>
                </a:cubicBezTo>
                <a:lnTo>
                  <a:pt x="590550" y="228600"/>
                </a:lnTo>
                <a:cubicBezTo>
                  <a:pt x="590550" y="270656"/>
                  <a:pt x="556406" y="304800"/>
                  <a:pt x="5143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8" name="Text 26"/>
          <p:cNvSpPr/>
          <p:nvPr/>
        </p:nvSpPr>
        <p:spPr>
          <a:xfrm>
            <a:off x="685800" y="4914900"/>
            <a:ext cx="43838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76588" y="489585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Percée du Deep Learning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0550" y="52959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1" name="Text 29"/>
          <p:cNvSpPr/>
          <p:nvPr/>
        </p:nvSpPr>
        <p:spPr>
          <a:xfrm>
            <a:off x="814388" y="5257800"/>
            <a:ext cx="3924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Supériorité des modèles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Bi-LSTM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 </a:t>
            </a:r>
            <a:r>
              <a:rPr lang="en-US" sz="1200" b="1" dirty="0">
                <a:solidFill>
                  <a:srgbClr val="6366F1"/>
                </a:solidFill>
                <a:highlight>
                  <a:srgbClr val="6366F1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&gt; 88% 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précision)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1025" y="5581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8F8F8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3" name="Text 31"/>
          <p:cNvSpPr/>
          <p:nvPr/>
        </p:nvSpPr>
        <p:spPr>
          <a:xfrm>
            <a:off x="796409" y="5543550"/>
            <a:ext cx="5124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 identifiées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Manque d'interprétabilité (" 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Boîte Noire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"), déploiement complexe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250" y="1219200"/>
            <a:ext cx="5619750" cy="5143500"/>
          </a:xfrm>
          <a:custGeom>
            <a:avLst/>
            <a:gdLst/>
            <a:ahLst/>
            <a:cxnLst/>
            <a:rect l="l" t="t" r="r" b="b"/>
            <a:pathLst>
              <a:path w="5619750" h="5143500">
                <a:moveTo>
                  <a:pt x="114289" y="0"/>
                </a:moveTo>
                <a:lnTo>
                  <a:pt x="5505461" y="0"/>
                </a:lnTo>
                <a:cubicBezTo>
                  <a:pt x="5568539" y="0"/>
                  <a:pt x="5619750" y="51211"/>
                  <a:pt x="5619750" y="114289"/>
                </a:cubicBezTo>
                <a:lnTo>
                  <a:pt x="5619750" y="5029211"/>
                </a:lnTo>
                <a:cubicBezTo>
                  <a:pt x="5619750" y="5092331"/>
                  <a:pt x="5568581" y="5143500"/>
                  <a:pt x="5505461" y="5143500"/>
                </a:cubicBezTo>
                <a:lnTo>
                  <a:pt x="114289" y="5143500"/>
                </a:lnTo>
                <a:cubicBezTo>
                  <a:pt x="51211" y="5143500"/>
                  <a:pt x="0" y="5092289"/>
                  <a:pt x="0" y="50292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5" name="Text 33"/>
          <p:cNvSpPr/>
          <p:nvPr/>
        </p:nvSpPr>
        <p:spPr>
          <a:xfrm>
            <a:off x="6381750" y="140970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Répartition des Objectifs de Recherche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1750" y="1714500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Distribution des études EDM par objectif principal</a:t>
            </a:r>
            <a:endParaRPr lang="en-US" sz="16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81750" y="2057400"/>
            <a:ext cx="5238750" cy="3048000"/>
          </a:xfrm>
          <a:prstGeom prst="roundRect">
            <a:avLst>
              <a:gd name="adj" fmla="val 0"/>
            </a:avLst>
          </a:prstGeom>
        </p:spPr>
      </p:pic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381750" y="2057400"/>
            <a:ext cx="5238750" cy="3048000"/>
          </a:xfrm>
          <a:prstGeom prst="roundRect">
            <a:avLst>
              <a:gd name="adj" fmla="val 0"/>
            </a:avLst>
          </a:prstGeom>
        </p:spPr>
      </p:pic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381750" y="2057400"/>
            <a:ext cx="5238750" cy="3048000"/>
          </a:xfrm>
          <a:prstGeom prst="roundRect">
            <a:avLst>
              <a:gd name="adj" fmla="val 0"/>
            </a:avLst>
          </a:prstGeom>
        </p:spPr>
      </p:pic>
      <p:sp>
        <p:nvSpPr>
          <p:cNvPr id="40" name="Shape 35"/>
          <p:cNvSpPr/>
          <p:nvPr/>
        </p:nvSpPr>
        <p:spPr>
          <a:xfrm>
            <a:off x="6385560" y="5474970"/>
            <a:ext cx="5227320" cy="693420"/>
          </a:xfrm>
          <a:custGeom>
            <a:avLst/>
            <a:gdLst/>
            <a:ahLst/>
            <a:cxnLst/>
            <a:rect l="l" t="t" r="r" b="b"/>
            <a:pathLst>
              <a:path w="5227320" h="693420">
                <a:moveTo>
                  <a:pt x="76200" y="0"/>
                </a:moveTo>
                <a:lnTo>
                  <a:pt x="5151120" y="0"/>
                </a:lnTo>
                <a:cubicBezTo>
                  <a:pt x="5193204" y="0"/>
                  <a:pt x="5227320" y="34116"/>
                  <a:pt x="5227320" y="76200"/>
                </a:cubicBezTo>
                <a:lnTo>
                  <a:pt x="5227320" y="617220"/>
                </a:lnTo>
                <a:cubicBezTo>
                  <a:pt x="5227320" y="659304"/>
                  <a:pt x="5193204" y="693420"/>
                  <a:pt x="515112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1" name="Shape 36"/>
          <p:cNvSpPr/>
          <p:nvPr/>
        </p:nvSpPr>
        <p:spPr>
          <a:xfrm>
            <a:off x="6551295" y="572643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2" name="Text 37"/>
          <p:cNvSpPr/>
          <p:nvPr/>
        </p:nvSpPr>
        <p:spPr>
          <a:xfrm>
            <a:off x="6856095" y="5593080"/>
            <a:ext cx="395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 Clé</a:t>
            </a:r>
            <a:endParaRPr lang="en-US" sz="1600" dirty="0"/>
          </a:p>
        </p:txBody>
      </p:sp>
      <p:sp>
        <p:nvSpPr>
          <p:cNvPr id="43" name="Text 38"/>
          <p:cNvSpPr/>
          <p:nvPr/>
        </p:nvSpPr>
        <p:spPr>
          <a:xfrm>
            <a:off x="6856095" y="5821680"/>
            <a:ext cx="395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57,1%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 études visent la prédiction globale de la réussite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2450" y="381000"/>
            <a:ext cx="6200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kern="0" spc="-5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Benchmark des Performances et Choix Stratégique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7620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comparative et justification de notre approche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43000"/>
            <a:ext cx="6800850" cy="5334000"/>
          </a:xfrm>
          <a:custGeom>
            <a:avLst/>
            <a:gdLst/>
            <a:ahLst/>
            <a:cxnLst/>
            <a:rect l="l" t="t" r="r" b="b"/>
            <a:pathLst>
              <a:path w="6800850" h="5334000">
                <a:moveTo>
                  <a:pt x="114308" y="0"/>
                </a:moveTo>
                <a:lnTo>
                  <a:pt x="6686542" y="0"/>
                </a:lnTo>
                <a:cubicBezTo>
                  <a:pt x="6749673" y="0"/>
                  <a:pt x="6800850" y="51177"/>
                  <a:pt x="6800850" y="114308"/>
                </a:cubicBezTo>
                <a:lnTo>
                  <a:pt x="6800850" y="5219692"/>
                </a:lnTo>
                <a:cubicBezTo>
                  <a:pt x="6800850" y="5282823"/>
                  <a:pt x="6749673" y="5334000"/>
                  <a:pt x="6686542" y="5334000"/>
                </a:cubicBezTo>
                <a:lnTo>
                  <a:pt x="114308" y="5334000"/>
                </a:lnTo>
                <a:cubicBezTo>
                  <a:pt x="51177" y="5334000"/>
                  <a:pt x="0" y="5282823"/>
                  <a:pt x="0" y="5219692"/>
                </a:cubicBezTo>
                <a:lnTo>
                  <a:pt x="0" y="114308"/>
                </a:lnTo>
                <a:cubicBezTo>
                  <a:pt x="0" y="51177"/>
                  <a:pt x="51177" y="0"/>
                  <a:pt x="114308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533400" y="1295400"/>
            <a:ext cx="659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Comparaison des Performances Moyennes (Accuracy)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3400" y="1600200"/>
            <a:ext cx="657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Évaluation comparative des approches ML et Deep Learning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33400" y="1905000"/>
            <a:ext cx="6496050" cy="3810000"/>
          </a:xfrm>
          <a:prstGeom prst="roundRect">
            <a:avLst>
              <a:gd name="adj" fmla="val 0"/>
            </a:avLst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33400" y="1905000"/>
            <a:ext cx="6496050" cy="3810000"/>
          </a:xfrm>
          <a:prstGeom prst="roundRect">
            <a:avLst>
              <a:gd name="adj" fmla="val 0"/>
            </a:avLst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33400" y="1905000"/>
            <a:ext cx="6496050" cy="3810000"/>
          </a:xfrm>
          <a:prstGeom prst="roundRect">
            <a:avLst>
              <a:gd name="adj" fmla="val 0"/>
            </a:avLst>
          </a:prstGeom>
        </p:spPr>
      </p:pic>
      <p:sp>
        <p:nvSpPr>
          <p:cNvPr id="11" name="Shape 6"/>
          <p:cNvSpPr/>
          <p:nvPr/>
        </p:nvSpPr>
        <p:spPr>
          <a:xfrm>
            <a:off x="7349490" y="1143000"/>
            <a:ext cx="4457700" cy="1562100"/>
          </a:xfrm>
          <a:custGeom>
            <a:avLst/>
            <a:gdLst/>
            <a:ahLst/>
            <a:cxnLst/>
            <a:rect l="l" t="t" r="r" b="b"/>
            <a:pathLst>
              <a:path w="4457700" h="1562100">
                <a:moveTo>
                  <a:pt x="38100" y="0"/>
                </a:moveTo>
                <a:lnTo>
                  <a:pt x="4343401" y="0"/>
                </a:lnTo>
                <a:cubicBezTo>
                  <a:pt x="4406527" y="0"/>
                  <a:pt x="4457700" y="51173"/>
                  <a:pt x="4457700" y="114299"/>
                </a:cubicBezTo>
                <a:lnTo>
                  <a:pt x="4457700" y="1447801"/>
                </a:lnTo>
                <a:cubicBezTo>
                  <a:pt x="4457700" y="1510927"/>
                  <a:pt x="4406527" y="1562100"/>
                  <a:pt x="4343401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2" name="Shape 7"/>
          <p:cNvSpPr/>
          <p:nvPr/>
        </p:nvSpPr>
        <p:spPr>
          <a:xfrm>
            <a:off x="7349490" y="11430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Shape 8"/>
          <p:cNvSpPr/>
          <p:nvPr/>
        </p:nvSpPr>
        <p:spPr>
          <a:xfrm>
            <a:off x="7544753" y="1343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21431"/>
                </a:moveTo>
                <a:cubicBezTo>
                  <a:pt x="4789" y="21431"/>
                  <a:pt x="0" y="26220"/>
                  <a:pt x="0" y="32147"/>
                </a:cubicBezTo>
                <a:cubicBezTo>
                  <a:pt x="0" y="38074"/>
                  <a:pt x="4789" y="42863"/>
                  <a:pt x="10716" y="42863"/>
                </a:cubicBezTo>
                <a:lnTo>
                  <a:pt x="39748" y="42863"/>
                </a:lnTo>
                <a:cubicBezTo>
                  <a:pt x="43867" y="52339"/>
                  <a:pt x="53310" y="58936"/>
                  <a:pt x="64294" y="58936"/>
                </a:cubicBezTo>
                <a:cubicBezTo>
                  <a:pt x="75277" y="58936"/>
                  <a:pt x="84720" y="52339"/>
                  <a:pt x="88839" y="42863"/>
                </a:cubicBezTo>
                <a:lnTo>
                  <a:pt x="160734" y="42863"/>
                </a:lnTo>
                <a:cubicBezTo>
                  <a:pt x="166661" y="42863"/>
                  <a:pt x="171450" y="38074"/>
                  <a:pt x="171450" y="32147"/>
                </a:cubicBezTo>
                <a:cubicBezTo>
                  <a:pt x="171450" y="26220"/>
                  <a:pt x="166661" y="21431"/>
                  <a:pt x="160734" y="21431"/>
                </a:cubicBezTo>
                <a:lnTo>
                  <a:pt x="88839" y="21431"/>
                </a:lnTo>
                <a:cubicBezTo>
                  <a:pt x="84720" y="11955"/>
                  <a:pt x="75277" y="5358"/>
                  <a:pt x="64294" y="5358"/>
                </a:cubicBezTo>
                <a:cubicBezTo>
                  <a:pt x="53310" y="5358"/>
                  <a:pt x="43867" y="11955"/>
                  <a:pt x="39748" y="21431"/>
                </a:cubicBezTo>
                <a:lnTo>
                  <a:pt x="10716" y="21431"/>
                </a:lnTo>
                <a:close/>
                <a:moveTo>
                  <a:pt x="10716" y="75009"/>
                </a:move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93326" y="96441"/>
                </a:lnTo>
                <a:cubicBezTo>
                  <a:pt x="97445" y="105917"/>
                  <a:pt x="106888" y="112514"/>
                  <a:pt x="117872" y="112514"/>
                </a:cubicBezTo>
                <a:cubicBezTo>
                  <a:pt x="128855" y="112514"/>
                  <a:pt x="138299" y="105917"/>
                  <a:pt x="142417" y="96441"/>
                </a:cubicBezTo>
                <a:lnTo>
                  <a:pt x="160734" y="96441"/>
                </a:lnTo>
                <a:cubicBezTo>
                  <a:pt x="166661" y="96441"/>
                  <a:pt x="171450" y="91652"/>
                  <a:pt x="171450" y="85725"/>
                </a:cubicBezTo>
                <a:cubicBezTo>
                  <a:pt x="171450" y="79798"/>
                  <a:pt x="166661" y="75009"/>
                  <a:pt x="160734" y="75009"/>
                </a:cubicBezTo>
                <a:lnTo>
                  <a:pt x="142417" y="75009"/>
                </a:lnTo>
                <a:cubicBezTo>
                  <a:pt x="138299" y="65533"/>
                  <a:pt x="128855" y="58936"/>
                  <a:pt x="117872" y="58936"/>
                </a:cubicBezTo>
                <a:cubicBezTo>
                  <a:pt x="106888" y="58936"/>
                  <a:pt x="97445" y="65533"/>
                  <a:pt x="93326" y="75009"/>
                </a:cubicBezTo>
                <a:lnTo>
                  <a:pt x="10716" y="75009"/>
                </a:lnTo>
                <a:close/>
                <a:moveTo>
                  <a:pt x="10716" y="128588"/>
                </a:moveTo>
                <a:cubicBezTo>
                  <a:pt x="4789" y="128588"/>
                  <a:pt x="0" y="133376"/>
                  <a:pt x="0" y="139303"/>
                </a:cubicBezTo>
                <a:cubicBezTo>
                  <a:pt x="0" y="145230"/>
                  <a:pt x="4789" y="150019"/>
                  <a:pt x="10716" y="150019"/>
                </a:cubicBezTo>
                <a:lnTo>
                  <a:pt x="29033" y="150019"/>
                </a:lnTo>
                <a:cubicBezTo>
                  <a:pt x="33151" y="159495"/>
                  <a:pt x="42595" y="166092"/>
                  <a:pt x="53578" y="166092"/>
                </a:cubicBezTo>
                <a:cubicBezTo>
                  <a:pt x="64562" y="166092"/>
                  <a:pt x="74005" y="159495"/>
                  <a:pt x="78124" y="150019"/>
                </a:cubicBez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ubicBezTo>
                  <a:pt x="171450" y="133376"/>
                  <a:pt x="166661" y="128588"/>
                  <a:pt x="160734" y="128588"/>
                </a:cubicBezTo>
                <a:lnTo>
                  <a:pt x="78124" y="128588"/>
                </a:lnTo>
                <a:cubicBezTo>
                  <a:pt x="74005" y="119111"/>
                  <a:pt x="64562" y="112514"/>
                  <a:pt x="53578" y="112514"/>
                </a:cubicBezTo>
                <a:cubicBezTo>
                  <a:pt x="42595" y="112514"/>
                  <a:pt x="33151" y="119111"/>
                  <a:pt x="29033" y="128588"/>
                </a:cubicBezTo>
                <a:lnTo>
                  <a:pt x="10716" y="128588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4" name="Text 9"/>
          <p:cNvSpPr/>
          <p:nvPr/>
        </p:nvSpPr>
        <p:spPr>
          <a:xfrm>
            <a:off x="7811453" y="12954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L'Importance du Prétraitement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520940" y="1657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Text 11"/>
          <p:cNvSpPr/>
          <p:nvPr/>
        </p:nvSpPr>
        <p:spPr>
          <a:xfrm>
            <a:off x="7612380" y="1695450"/>
            <a:ext cx="104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825740" y="1638300"/>
            <a:ext cx="3905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des valeurs manquantes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Technique la plus récurrente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520940" y="2152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Text 14"/>
          <p:cNvSpPr/>
          <p:nvPr/>
        </p:nvSpPr>
        <p:spPr>
          <a:xfrm>
            <a:off x="7602021" y="21907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825740" y="2133600"/>
            <a:ext cx="3905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Normalisation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(Z-score / Min-Max) : Indispensable pour stabiliser les modèles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7349490" y="2819400"/>
            <a:ext cx="4457700" cy="3657600"/>
          </a:xfrm>
          <a:custGeom>
            <a:avLst/>
            <a:gdLst/>
            <a:ahLst/>
            <a:cxnLst/>
            <a:rect l="l" t="t" r="r" b="b"/>
            <a:pathLst>
              <a:path w="4457700" h="3657600">
                <a:moveTo>
                  <a:pt x="38100" y="0"/>
                </a:moveTo>
                <a:lnTo>
                  <a:pt x="4343400" y="0"/>
                </a:lnTo>
                <a:cubicBezTo>
                  <a:pt x="4406484" y="0"/>
                  <a:pt x="4457700" y="51216"/>
                  <a:pt x="4457700" y="114300"/>
                </a:cubicBezTo>
                <a:lnTo>
                  <a:pt x="4457700" y="3543300"/>
                </a:lnTo>
                <a:cubicBezTo>
                  <a:pt x="4457700" y="3606384"/>
                  <a:pt x="4406484" y="3657600"/>
                  <a:pt x="4343400" y="3657600"/>
                </a:cubicBezTo>
                <a:lnTo>
                  <a:pt x="38100" y="3657600"/>
                </a:lnTo>
                <a:cubicBezTo>
                  <a:pt x="17058" y="3657600"/>
                  <a:pt x="0" y="3640542"/>
                  <a:pt x="0" y="3619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Shape 17"/>
          <p:cNvSpPr/>
          <p:nvPr/>
        </p:nvSpPr>
        <p:spPr>
          <a:xfrm>
            <a:off x="7349490" y="2819400"/>
            <a:ext cx="38100" cy="3657600"/>
          </a:xfrm>
          <a:custGeom>
            <a:avLst/>
            <a:gdLst/>
            <a:ahLst/>
            <a:cxnLst/>
            <a:rect l="l" t="t" r="r" b="b"/>
            <a:pathLst>
              <a:path w="38100" h="3657600">
                <a:moveTo>
                  <a:pt x="38100" y="0"/>
                </a:moveTo>
                <a:lnTo>
                  <a:pt x="38100" y="0"/>
                </a:lnTo>
                <a:lnTo>
                  <a:pt x="38100" y="3657600"/>
                </a:lnTo>
                <a:lnTo>
                  <a:pt x="38100" y="3657600"/>
                </a:lnTo>
                <a:cubicBezTo>
                  <a:pt x="17072" y="3657600"/>
                  <a:pt x="0" y="3640528"/>
                  <a:pt x="0" y="3619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Shape 18"/>
          <p:cNvSpPr/>
          <p:nvPr/>
        </p:nvSpPr>
        <p:spPr>
          <a:xfrm>
            <a:off x="7544753" y="3019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4" name="Text 19"/>
          <p:cNvSpPr/>
          <p:nvPr/>
        </p:nvSpPr>
        <p:spPr>
          <a:xfrm>
            <a:off x="7811453" y="297180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Notre Positionnement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524750" y="3485436"/>
            <a:ext cx="4131945" cy="617220"/>
          </a:xfrm>
          <a:custGeom>
            <a:avLst/>
            <a:gdLst/>
            <a:ahLst/>
            <a:cxnLst/>
            <a:rect l="l" t="t" r="r" b="b"/>
            <a:pathLst>
              <a:path w="4131945" h="617220">
                <a:moveTo>
                  <a:pt x="76202" y="0"/>
                </a:moveTo>
                <a:lnTo>
                  <a:pt x="4055743" y="0"/>
                </a:lnTo>
                <a:cubicBezTo>
                  <a:pt x="4097828" y="0"/>
                  <a:pt x="4131945" y="34117"/>
                  <a:pt x="4131945" y="76202"/>
                </a:cubicBezTo>
                <a:lnTo>
                  <a:pt x="4131945" y="541018"/>
                </a:lnTo>
                <a:cubicBezTo>
                  <a:pt x="4131945" y="583103"/>
                  <a:pt x="4097828" y="617220"/>
                  <a:pt x="40557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6" name="Text 21"/>
          <p:cNvSpPr/>
          <p:nvPr/>
        </p:nvSpPr>
        <p:spPr>
          <a:xfrm>
            <a:off x="7604760" y="3565446"/>
            <a:ext cx="4048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Choix Technique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7604760" y="3813096"/>
            <a:ext cx="40481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Modèles de </a:t>
            </a: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Boosting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(LightGBM/XGBoost) + RFE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7524750" y="4520446"/>
            <a:ext cx="4131945" cy="826770"/>
          </a:xfrm>
          <a:custGeom>
            <a:avLst/>
            <a:gdLst/>
            <a:ahLst/>
            <a:cxnLst/>
            <a:rect l="l" t="t" r="r" b="b"/>
            <a:pathLst>
              <a:path w="4131945" h="826770">
                <a:moveTo>
                  <a:pt x="76203" y="0"/>
                </a:moveTo>
                <a:lnTo>
                  <a:pt x="4055742" y="0"/>
                </a:lnTo>
                <a:cubicBezTo>
                  <a:pt x="4097828" y="0"/>
                  <a:pt x="4131945" y="34117"/>
                  <a:pt x="4131945" y="76203"/>
                </a:cubicBezTo>
                <a:lnTo>
                  <a:pt x="4131945" y="750567"/>
                </a:lnTo>
                <a:cubicBezTo>
                  <a:pt x="4131945" y="792653"/>
                  <a:pt x="4097828" y="826770"/>
                  <a:pt x="4055742" y="826770"/>
                </a:cubicBezTo>
                <a:lnTo>
                  <a:pt x="76203" y="826770"/>
                </a:lnTo>
                <a:cubicBezTo>
                  <a:pt x="34146" y="826770"/>
                  <a:pt x="0" y="792624"/>
                  <a:pt x="0" y="75056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9" name="Text 24"/>
          <p:cNvSpPr/>
          <p:nvPr/>
        </p:nvSpPr>
        <p:spPr>
          <a:xfrm>
            <a:off x="7604760" y="4600456"/>
            <a:ext cx="4048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Justification Stratégique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7604760" y="4848106"/>
            <a:ext cx="40481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Équilibre optimal entre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haute performance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(proche DL) et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interprétabilité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(leviers de réussite)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7524750" y="5765126"/>
            <a:ext cx="4131945" cy="388620"/>
          </a:xfrm>
          <a:custGeom>
            <a:avLst/>
            <a:gdLst/>
            <a:ahLst/>
            <a:cxnLst/>
            <a:rect l="l" t="t" r="r" b="b"/>
            <a:pathLst>
              <a:path w="4131945" h="388620">
                <a:moveTo>
                  <a:pt x="76201" y="0"/>
                </a:moveTo>
                <a:lnTo>
                  <a:pt x="4055744" y="0"/>
                </a:lnTo>
                <a:cubicBezTo>
                  <a:pt x="4097829" y="0"/>
                  <a:pt x="4131945" y="34116"/>
                  <a:pt x="4131945" y="76201"/>
                </a:cubicBezTo>
                <a:lnTo>
                  <a:pt x="4131945" y="312419"/>
                </a:lnTo>
                <a:cubicBezTo>
                  <a:pt x="4131945" y="354504"/>
                  <a:pt x="4097829" y="388620"/>
                  <a:pt x="4055744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2" name="Shape 27"/>
          <p:cNvSpPr/>
          <p:nvPr/>
        </p:nvSpPr>
        <p:spPr>
          <a:xfrm>
            <a:off x="7614285" y="587561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3" name="Text 28"/>
          <p:cNvSpPr/>
          <p:nvPr/>
        </p:nvSpPr>
        <p:spPr>
          <a:xfrm>
            <a:off x="7852410" y="5845135"/>
            <a:ext cx="3800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 : Aide à la décision universitaire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Exploration des Données (EDA)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337310"/>
            <a:ext cx="4446270" cy="1893570"/>
          </a:xfrm>
          <a:custGeom>
            <a:avLst/>
            <a:gdLst/>
            <a:ahLst/>
            <a:cxnLst/>
            <a:rect l="l" t="t" r="r" b="b"/>
            <a:pathLst>
              <a:path w="4446270" h="1893570">
                <a:moveTo>
                  <a:pt x="114296" y="0"/>
                </a:moveTo>
                <a:lnTo>
                  <a:pt x="4331974" y="0"/>
                </a:lnTo>
                <a:cubicBezTo>
                  <a:pt x="4395098" y="0"/>
                  <a:pt x="4446270" y="51172"/>
                  <a:pt x="4446270" y="114296"/>
                </a:cubicBezTo>
                <a:lnTo>
                  <a:pt x="4446270" y="1779274"/>
                </a:lnTo>
                <a:cubicBezTo>
                  <a:pt x="4446270" y="1842398"/>
                  <a:pt x="4395098" y="1893570"/>
                  <a:pt x="43319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579120" y="1531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724376" y="16649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1150620" y="162687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2930" y="2145030"/>
            <a:ext cx="1969770" cy="883920"/>
          </a:xfrm>
          <a:custGeom>
            <a:avLst/>
            <a:gdLst/>
            <a:ahLst/>
            <a:cxnLst/>
            <a:rect l="l" t="t" r="r" b="b"/>
            <a:pathLst>
              <a:path w="1969770" h="883920">
                <a:moveTo>
                  <a:pt x="76203" y="0"/>
                </a:moveTo>
                <a:lnTo>
                  <a:pt x="1893567" y="0"/>
                </a:lnTo>
                <a:cubicBezTo>
                  <a:pt x="1935653" y="0"/>
                  <a:pt x="1969770" y="34117"/>
                  <a:pt x="1969770" y="76203"/>
                </a:cubicBezTo>
                <a:lnTo>
                  <a:pt x="1969770" y="807717"/>
                </a:lnTo>
                <a:cubicBezTo>
                  <a:pt x="1969770" y="849803"/>
                  <a:pt x="1935653" y="883920"/>
                  <a:pt x="18935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615315" y="2263141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4,424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" y="2682241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Enregistrements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70810" y="2145030"/>
            <a:ext cx="1969770" cy="883920"/>
          </a:xfrm>
          <a:custGeom>
            <a:avLst/>
            <a:gdLst/>
            <a:ahLst/>
            <a:cxnLst/>
            <a:rect l="l" t="t" r="r" b="b"/>
            <a:pathLst>
              <a:path w="1969770" h="883920">
                <a:moveTo>
                  <a:pt x="76203" y="0"/>
                </a:moveTo>
                <a:lnTo>
                  <a:pt x="1893567" y="0"/>
                </a:lnTo>
                <a:cubicBezTo>
                  <a:pt x="1935653" y="0"/>
                  <a:pt x="1969770" y="34117"/>
                  <a:pt x="1969770" y="76203"/>
                </a:cubicBezTo>
                <a:lnTo>
                  <a:pt x="1969770" y="807717"/>
                </a:lnTo>
                <a:cubicBezTo>
                  <a:pt x="1969770" y="849803"/>
                  <a:pt x="1935653" y="883920"/>
                  <a:pt x="18935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2703195" y="2263141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50820" y="2682241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Variables initiales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810" y="3387090"/>
            <a:ext cx="4446270" cy="3084195"/>
          </a:xfrm>
          <a:custGeom>
            <a:avLst/>
            <a:gdLst/>
            <a:ahLst/>
            <a:cxnLst/>
            <a:rect l="l" t="t" r="r" b="b"/>
            <a:pathLst>
              <a:path w="4446270" h="3084195">
                <a:moveTo>
                  <a:pt x="114300" y="0"/>
                </a:moveTo>
                <a:lnTo>
                  <a:pt x="4331970" y="0"/>
                </a:lnTo>
                <a:cubicBezTo>
                  <a:pt x="4395096" y="0"/>
                  <a:pt x="4446270" y="51174"/>
                  <a:pt x="4446270" y="114300"/>
                </a:cubicBezTo>
                <a:lnTo>
                  <a:pt x="4446270" y="2969895"/>
                </a:lnTo>
                <a:cubicBezTo>
                  <a:pt x="4446270" y="3033021"/>
                  <a:pt x="4395096" y="3084195"/>
                  <a:pt x="4331970" y="3084195"/>
                </a:cubicBezTo>
                <a:lnTo>
                  <a:pt x="114300" y="3084195"/>
                </a:lnTo>
                <a:cubicBezTo>
                  <a:pt x="51174" y="3084195"/>
                  <a:pt x="0" y="3033021"/>
                  <a:pt x="0" y="296989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Shape 13"/>
          <p:cNvSpPr/>
          <p:nvPr/>
        </p:nvSpPr>
        <p:spPr>
          <a:xfrm>
            <a:off x="579120" y="3581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Shape 14"/>
          <p:cNvSpPr/>
          <p:nvPr/>
        </p:nvSpPr>
        <p:spPr>
          <a:xfrm>
            <a:off x="700564" y="3714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1150620" y="3676650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Distribution de la Cible</a:t>
            </a:r>
            <a:endParaRPr lang="en-US" sz="1600" dirty="0"/>
          </a:p>
        </p:txBody>
      </p:sp>
      <p:pic>
        <p:nvPicPr>
          <p:cNvPr id="18" name="Image 0" descr="https://kimi-img.moonshot.cn/pub/slides/26-02-16-22:14:03-d69icarfoslmp6m0jk40.png"/>
          <p:cNvPicPr>
            <a:picLocks noChangeAspect="1"/>
          </p:cNvPicPr>
          <p:nvPr/>
        </p:nvPicPr>
        <p:blipFill>
          <a:blip r:embed="rId3"/>
          <a:srcRect l="90" r="90"/>
          <a:stretch/>
        </p:blipFill>
        <p:spPr>
          <a:xfrm>
            <a:off x="579120" y="4191000"/>
            <a:ext cx="4057650" cy="2085975"/>
          </a:xfrm>
          <a:prstGeom prst="roundRect">
            <a:avLst>
              <a:gd name="adj" fmla="val 0"/>
            </a:avLst>
          </a:prstGeom>
        </p:spPr>
      </p:pic>
      <p:sp>
        <p:nvSpPr>
          <p:cNvPr id="19" name="Shape 16"/>
          <p:cNvSpPr/>
          <p:nvPr/>
        </p:nvSpPr>
        <p:spPr>
          <a:xfrm>
            <a:off x="5033010" y="1337310"/>
            <a:ext cx="6770370" cy="5132070"/>
          </a:xfrm>
          <a:custGeom>
            <a:avLst/>
            <a:gdLst/>
            <a:ahLst/>
            <a:cxnLst/>
            <a:rect l="l" t="t" r="r" b="b"/>
            <a:pathLst>
              <a:path w="6770370" h="5132070">
                <a:moveTo>
                  <a:pt x="114291" y="0"/>
                </a:moveTo>
                <a:lnTo>
                  <a:pt x="6656079" y="0"/>
                </a:lnTo>
                <a:cubicBezTo>
                  <a:pt x="6719200" y="0"/>
                  <a:pt x="6770370" y="51170"/>
                  <a:pt x="6770370" y="114291"/>
                </a:cubicBezTo>
                <a:lnTo>
                  <a:pt x="6770370" y="5017779"/>
                </a:lnTo>
                <a:cubicBezTo>
                  <a:pt x="6770370" y="5080900"/>
                  <a:pt x="6719200" y="5132070"/>
                  <a:pt x="6656079" y="5132070"/>
                </a:cubicBezTo>
                <a:lnTo>
                  <a:pt x="114291" y="5132070"/>
                </a:lnTo>
                <a:cubicBezTo>
                  <a:pt x="51170" y="5132070"/>
                  <a:pt x="0" y="5080900"/>
                  <a:pt x="0" y="5017779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0" name="Shape 17"/>
          <p:cNvSpPr/>
          <p:nvPr/>
        </p:nvSpPr>
        <p:spPr>
          <a:xfrm>
            <a:off x="5227320" y="1531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Shape 18"/>
          <p:cNvSpPr/>
          <p:nvPr/>
        </p:nvSpPr>
        <p:spPr>
          <a:xfrm>
            <a:off x="5384482" y="166497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Text 19"/>
          <p:cNvSpPr/>
          <p:nvPr/>
        </p:nvSpPr>
        <p:spPr>
          <a:xfrm>
            <a:off x="5798820" y="162687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Observations Clés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231130" y="2381251"/>
            <a:ext cx="6379845" cy="1112520"/>
          </a:xfrm>
          <a:custGeom>
            <a:avLst/>
            <a:gdLst/>
            <a:ahLst/>
            <a:cxnLst/>
            <a:rect l="l" t="t" r="r" b="b"/>
            <a:pathLst>
              <a:path w="6379845" h="1112520">
                <a:moveTo>
                  <a:pt x="76196" y="0"/>
                </a:moveTo>
                <a:lnTo>
                  <a:pt x="6303649" y="0"/>
                </a:lnTo>
                <a:cubicBezTo>
                  <a:pt x="6345731" y="0"/>
                  <a:pt x="6379845" y="34114"/>
                  <a:pt x="6379845" y="76196"/>
                </a:cubicBezTo>
                <a:lnTo>
                  <a:pt x="6379845" y="1036324"/>
                </a:lnTo>
                <a:cubicBezTo>
                  <a:pt x="6379845" y="1078406"/>
                  <a:pt x="6345731" y="1112520"/>
                  <a:pt x="6303649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4" name="Shape 21"/>
          <p:cNvSpPr/>
          <p:nvPr/>
        </p:nvSpPr>
        <p:spPr>
          <a:xfrm>
            <a:off x="5387340" y="25374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Shape 22"/>
          <p:cNvSpPr/>
          <p:nvPr/>
        </p:nvSpPr>
        <p:spPr>
          <a:xfrm>
            <a:off x="5483781" y="2642236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475" y="32147"/>
                </a:moveTo>
                <a:cubicBezTo>
                  <a:pt x="134916" y="32147"/>
                  <a:pt x="129525" y="33654"/>
                  <a:pt x="124804" y="36400"/>
                </a:cubicBezTo>
                <a:cubicBezTo>
                  <a:pt x="119513" y="31042"/>
                  <a:pt x="113351" y="26555"/>
                  <a:pt x="106553" y="23173"/>
                </a:cubicBezTo>
                <a:cubicBezTo>
                  <a:pt x="115997" y="15136"/>
                  <a:pt x="128018" y="10716"/>
                  <a:pt x="140475" y="10716"/>
                </a:cubicBezTo>
                <a:cubicBezTo>
                  <a:pt x="169407" y="10716"/>
                  <a:pt x="192881" y="34156"/>
                  <a:pt x="192881" y="63122"/>
                </a:cubicBezTo>
                <a:cubicBezTo>
                  <a:pt x="192881" y="77019"/>
                  <a:pt x="187356" y="90346"/>
                  <a:pt x="177545" y="100158"/>
                </a:cubicBezTo>
                <a:lnTo>
                  <a:pt x="153736" y="123966"/>
                </a:lnTo>
                <a:cubicBezTo>
                  <a:pt x="143924" y="133778"/>
                  <a:pt x="130597" y="139303"/>
                  <a:pt x="116700" y="139303"/>
                </a:cubicBezTo>
                <a:cubicBezTo>
                  <a:pt x="87768" y="139303"/>
                  <a:pt x="64294" y="115863"/>
                  <a:pt x="64294" y="86897"/>
                </a:cubicBezTo>
                <a:cubicBezTo>
                  <a:pt x="64294" y="86395"/>
                  <a:pt x="64294" y="85892"/>
                  <a:pt x="64327" y="85390"/>
                </a:cubicBezTo>
                <a:cubicBezTo>
                  <a:pt x="64495" y="79463"/>
                  <a:pt x="69417" y="74808"/>
                  <a:pt x="75344" y="74976"/>
                </a:cubicBezTo>
                <a:cubicBezTo>
                  <a:pt x="81271" y="75143"/>
                  <a:pt x="85926" y="80066"/>
                  <a:pt x="85758" y="85993"/>
                </a:cubicBezTo>
                <a:cubicBezTo>
                  <a:pt x="85758" y="86294"/>
                  <a:pt x="85758" y="86596"/>
                  <a:pt x="85758" y="86864"/>
                </a:cubicBezTo>
                <a:cubicBezTo>
                  <a:pt x="85758" y="103975"/>
                  <a:pt x="99622" y="117838"/>
                  <a:pt x="116733" y="117838"/>
                </a:cubicBezTo>
                <a:cubicBezTo>
                  <a:pt x="124937" y="117838"/>
                  <a:pt x="132807" y="114590"/>
                  <a:pt x="138633" y="108764"/>
                </a:cubicBezTo>
                <a:lnTo>
                  <a:pt x="162442" y="84955"/>
                </a:lnTo>
                <a:cubicBezTo>
                  <a:pt x="168235" y="79162"/>
                  <a:pt x="171517" y="71259"/>
                  <a:pt x="171517" y="63055"/>
                </a:cubicBezTo>
                <a:cubicBezTo>
                  <a:pt x="171517" y="45943"/>
                  <a:pt x="157654" y="32080"/>
                  <a:pt x="140542" y="32080"/>
                </a:cubicBezTo>
                <a:close/>
                <a:moveTo>
                  <a:pt x="92154" y="58032"/>
                </a:moveTo>
                <a:cubicBezTo>
                  <a:pt x="91518" y="57764"/>
                  <a:pt x="90882" y="57396"/>
                  <a:pt x="90313" y="56994"/>
                </a:cubicBezTo>
                <a:cubicBezTo>
                  <a:pt x="86093" y="54817"/>
                  <a:pt x="81271" y="53578"/>
                  <a:pt x="76215" y="53578"/>
                </a:cubicBezTo>
                <a:cubicBezTo>
                  <a:pt x="68011" y="53578"/>
                  <a:pt x="60141" y="56826"/>
                  <a:pt x="54315" y="62653"/>
                </a:cubicBezTo>
                <a:lnTo>
                  <a:pt x="30506" y="86462"/>
                </a:lnTo>
                <a:cubicBezTo>
                  <a:pt x="24713" y="92255"/>
                  <a:pt x="21431" y="100158"/>
                  <a:pt x="21431" y="108362"/>
                </a:cubicBezTo>
                <a:cubicBezTo>
                  <a:pt x="21431" y="125473"/>
                  <a:pt x="35295" y="139337"/>
                  <a:pt x="52406" y="139337"/>
                </a:cubicBezTo>
                <a:cubicBezTo>
                  <a:pt x="57931" y="139337"/>
                  <a:pt x="63323" y="137863"/>
                  <a:pt x="68044" y="135117"/>
                </a:cubicBezTo>
                <a:cubicBezTo>
                  <a:pt x="73335" y="140475"/>
                  <a:pt x="79497" y="144962"/>
                  <a:pt x="86328" y="148344"/>
                </a:cubicBezTo>
                <a:cubicBezTo>
                  <a:pt x="76885" y="156348"/>
                  <a:pt x="64897" y="160801"/>
                  <a:pt x="52406" y="160801"/>
                </a:cubicBezTo>
                <a:cubicBezTo>
                  <a:pt x="23474" y="160801"/>
                  <a:pt x="0" y="137361"/>
                  <a:pt x="0" y="108395"/>
                </a:cubicBezTo>
                <a:cubicBezTo>
                  <a:pt x="0" y="94498"/>
                  <a:pt x="5525" y="81171"/>
                  <a:pt x="15337" y="71359"/>
                </a:cubicBezTo>
                <a:lnTo>
                  <a:pt x="39146" y="47551"/>
                </a:lnTo>
                <a:cubicBezTo>
                  <a:pt x="48957" y="37739"/>
                  <a:pt x="62285" y="32214"/>
                  <a:pt x="76181" y="32214"/>
                </a:cubicBezTo>
                <a:cubicBezTo>
                  <a:pt x="105181" y="32214"/>
                  <a:pt x="128588" y="55855"/>
                  <a:pt x="128588" y="84754"/>
                </a:cubicBezTo>
                <a:cubicBezTo>
                  <a:pt x="128588" y="85189"/>
                  <a:pt x="128588" y="85625"/>
                  <a:pt x="128588" y="86060"/>
                </a:cubicBezTo>
                <a:cubicBezTo>
                  <a:pt x="128454" y="91987"/>
                  <a:pt x="123531" y="96642"/>
                  <a:pt x="117604" y="96508"/>
                </a:cubicBezTo>
                <a:cubicBezTo>
                  <a:pt x="111677" y="96374"/>
                  <a:pt x="107022" y="91451"/>
                  <a:pt x="107156" y="85524"/>
                </a:cubicBezTo>
                <a:cubicBezTo>
                  <a:pt x="107156" y="85256"/>
                  <a:pt x="107156" y="85022"/>
                  <a:pt x="107156" y="84754"/>
                </a:cubicBezTo>
                <a:cubicBezTo>
                  <a:pt x="107156" y="73469"/>
                  <a:pt x="101129" y="63557"/>
                  <a:pt x="92154" y="58099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6" name="Text 23"/>
          <p:cNvSpPr/>
          <p:nvPr/>
        </p:nvSpPr>
        <p:spPr>
          <a:xfrm>
            <a:off x="5882640" y="2537461"/>
            <a:ext cx="565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Forte corrélation académique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882640" y="2842261"/>
            <a:ext cx="5648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Les résultats des </a:t>
            </a:r>
            <a:r>
              <a:rPr lang="en-US" sz="1200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semestres 1 et 2</a:t>
            </a: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montrent une corrélation significative avec le statut final de l'étudiant.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231130" y="3653790"/>
            <a:ext cx="6379845" cy="1112520"/>
          </a:xfrm>
          <a:custGeom>
            <a:avLst/>
            <a:gdLst/>
            <a:ahLst/>
            <a:cxnLst/>
            <a:rect l="l" t="t" r="r" b="b"/>
            <a:pathLst>
              <a:path w="6379845" h="1112520">
                <a:moveTo>
                  <a:pt x="76196" y="0"/>
                </a:moveTo>
                <a:lnTo>
                  <a:pt x="6303649" y="0"/>
                </a:lnTo>
                <a:cubicBezTo>
                  <a:pt x="6345731" y="0"/>
                  <a:pt x="6379845" y="34114"/>
                  <a:pt x="6379845" y="76196"/>
                </a:cubicBezTo>
                <a:lnTo>
                  <a:pt x="6379845" y="1036324"/>
                </a:lnTo>
                <a:cubicBezTo>
                  <a:pt x="6379845" y="1078406"/>
                  <a:pt x="6345731" y="1112520"/>
                  <a:pt x="6303649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9" name="Shape 26"/>
          <p:cNvSpPr/>
          <p:nvPr/>
        </p:nvSpPr>
        <p:spPr>
          <a:xfrm>
            <a:off x="5387340" y="381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0" name="Shape 27"/>
          <p:cNvSpPr/>
          <p:nvPr/>
        </p:nvSpPr>
        <p:spPr>
          <a:xfrm>
            <a:off x="5473065" y="39147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1" name="Text 28"/>
          <p:cNvSpPr/>
          <p:nvPr/>
        </p:nvSpPr>
        <p:spPr>
          <a:xfrm>
            <a:off x="5882640" y="3810000"/>
            <a:ext cx="565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 socio-économique visible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882640" y="4114800"/>
            <a:ext cx="5648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Les facteurs comme le </a:t>
            </a:r>
            <a:r>
              <a:rPr lang="en-US" sz="120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revenu familial</a:t>
            </a: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la </a:t>
            </a:r>
            <a:r>
              <a:rPr lang="en-US" sz="120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bourse</a:t>
            </a: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et le </a:t>
            </a:r>
            <a:r>
              <a:rPr lang="en-US" sz="120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statut marital</a:t>
            </a: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influencent la trajectoire académique.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231130" y="4926330"/>
            <a:ext cx="6379845" cy="1112520"/>
          </a:xfrm>
          <a:custGeom>
            <a:avLst/>
            <a:gdLst/>
            <a:ahLst/>
            <a:cxnLst/>
            <a:rect l="l" t="t" r="r" b="b"/>
            <a:pathLst>
              <a:path w="6379845" h="1112520">
                <a:moveTo>
                  <a:pt x="76196" y="0"/>
                </a:moveTo>
                <a:lnTo>
                  <a:pt x="6303649" y="0"/>
                </a:lnTo>
                <a:cubicBezTo>
                  <a:pt x="6345731" y="0"/>
                  <a:pt x="6379845" y="34114"/>
                  <a:pt x="6379845" y="76196"/>
                </a:cubicBezTo>
                <a:lnTo>
                  <a:pt x="6379845" y="1036324"/>
                </a:lnTo>
                <a:cubicBezTo>
                  <a:pt x="6379845" y="1078406"/>
                  <a:pt x="6345731" y="1112520"/>
                  <a:pt x="6303649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4" name="Shape 31"/>
          <p:cNvSpPr/>
          <p:nvPr/>
        </p:nvSpPr>
        <p:spPr>
          <a:xfrm>
            <a:off x="5387340" y="50825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5" name="Shape 32"/>
          <p:cNvSpPr/>
          <p:nvPr/>
        </p:nvSpPr>
        <p:spPr>
          <a:xfrm>
            <a:off x="5473065" y="5187316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6" name="Text 33"/>
          <p:cNvSpPr/>
          <p:nvPr/>
        </p:nvSpPr>
        <p:spPr>
          <a:xfrm>
            <a:off x="5882640" y="5082541"/>
            <a:ext cx="565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Déséquilibre des classes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882640" y="5387341"/>
            <a:ext cx="5648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classe </a:t>
            </a:r>
            <a:r>
              <a:rPr lang="en-US" sz="12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"Enrolled"</a:t>
            </a: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est sous-représentée, nécessitant un traitement spécifique lors de la modélisation.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Prétraitement &amp; Équilibrage (SMOTE)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413510"/>
            <a:ext cx="3674745" cy="5198745"/>
          </a:xfrm>
          <a:custGeom>
            <a:avLst/>
            <a:gdLst/>
            <a:ahLst/>
            <a:cxnLst/>
            <a:rect l="l" t="t" r="r" b="b"/>
            <a:pathLst>
              <a:path w="3674745" h="5198745">
                <a:moveTo>
                  <a:pt x="114285" y="0"/>
                </a:moveTo>
                <a:lnTo>
                  <a:pt x="3560460" y="0"/>
                </a:lnTo>
                <a:cubicBezTo>
                  <a:pt x="3623536" y="0"/>
                  <a:pt x="3674745" y="51209"/>
                  <a:pt x="3674745" y="114285"/>
                </a:cubicBezTo>
                <a:lnTo>
                  <a:pt x="3674745" y="5084460"/>
                </a:lnTo>
                <a:cubicBezTo>
                  <a:pt x="3674745" y="5147536"/>
                  <a:pt x="3623536" y="5198745"/>
                  <a:pt x="3560460" y="5198745"/>
                </a:cubicBezTo>
                <a:lnTo>
                  <a:pt x="114285" y="5198745"/>
                </a:lnTo>
                <a:cubicBezTo>
                  <a:pt x="51209" y="5198745"/>
                  <a:pt x="0" y="5147536"/>
                  <a:pt x="0" y="5084460"/>
                </a:cubicBezTo>
                <a:lnTo>
                  <a:pt x="0" y="114285"/>
                </a:lnTo>
                <a:cubicBezTo>
                  <a:pt x="0" y="51209"/>
                  <a:pt x="51209" y="0"/>
                  <a:pt x="11428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579120" y="1607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700564" y="17411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10815" y="20315"/>
                </a:moveTo>
                <a:cubicBezTo>
                  <a:pt x="215466" y="15664"/>
                  <a:pt x="215466" y="8111"/>
                  <a:pt x="210815" y="3460"/>
                </a:cubicBezTo>
                <a:cubicBezTo>
                  <a:pt x="206164" y="-1191"/>
                  <a:pt x="198611" y="-1191"/>
                  <a:pt x="193960" y="3460"/>
                </a:cubicBezTo>
                <a:lnTo>
                  <a:pt x="122523" y="74898"/>
                </a:lnTo>
                <a:lnTo>
                  <a:pt x="109612" y="61987"/>
                </a:lnTo>
                <a:cubicBezTo>
                  <a:pt x="108049" y="60424"/>
                  <a:pt x="105891" y="59531"/>
                  <a:pt x="103659" y="59531"/>
                </a:cubicBezTo>
                <a:cubicBezTo>
                  <a:pt x="99008" y="59531"/>
                  <a:pt x="95250" y="63289"/>
                  <a:pt x="95250" y="67940"/>
                </a:cubicBezTo>
                <a:lnTo>
                  <a:pt x="95250" y="78767"/>
                </a:lnTo>
                <a:lnTo>
                  <a:pt x="135545" y="119063"/>
                </a:lnTo>
                <a:lnTo>
                  <a:pt x="146372" y="119063"/>
                </a:lnTo>
                <a:cubicBezTo>
                  <a:pt x="151023" y="119063"/>
                  <a:pt x="154781" y="115305"/>
                  <a:pt x="154781" y="110654"/>
                </a:cubicBezTo>
                <a:cubicBezTo>
                  <a:pt x="154781" y="108421"/>
                  <a:pt x="153888" y="106263"/>
                  <a:pt x="152326" y="104701"/>
                </a:cubicBezTo>
                <a:lnTo>
                  <a:pt x="139415" y="91790"/>
                </a:lnTo>
                <a:lnTo>
                  <a:pt x="210852" y="20352"/>
                </a:lnTo>
                <a:close/>
                <a:moveTo>
                  <a:pt x="126913" y="131490"/>
                </a:moveTo>
                <a:lnTo>
                  <a:pt x="82823" y="87399"/>
                </a:lnTo>
                <a:cubicBezTo>
                  <a:pt x="66935" y="86023"/>
                  <a:pt x="51122" y="91753"/>
                  <a:pt x="39737" y="103138"/>
                </a:cubicBezTo>
                <a:lnTo>
                  <a:pt x="36761" y="106114"/>
                </a:lnTo>
                <a:cubicBezTo>
                  <a:pt x="28463" y="114412"/>
                  <a:pt x="23812" y="125648"/>
                  <a:pt x="23812" y="137368"/>
                </a:cubicBezTo>
                <a:cubicBezTo>
                  <a:pt x="23812" y="139898"/>
                  <a:pt x="26454" y="141536"/>
                  <a:pt x="28724" y="140419"/>
                </a:cubicBezTo>
                <a:lnTo>
                  <a:pt x="47737" y="130932"/>
                </a:lnTo>
                <a:cubicBezTo>
                  <a:pt x="49597" y="130001"/>
                  <a:pt x="51271" y="132457"/>
                  <a:pt x="49746" y="133871"/>
                </a:cubicBezTo>
                <a:lnTo>
                  <a:pt x="2716" y="176138"/>
                </a:lnTo>
                <a:cubicBezTo>
                  <a:pt x="1005" y="177701"/>
                  <a:pt x="0" y="179933"/>
                  <a:pt x="0" y="182277"/>
                </a:cubicBezTo>
                <a:cubicBezTo>
                  <a:pt x="0" y="186817"/>
                  <a:pt x="3683" y="190500"/>
                  <a:pt x="8223" y="190500"/>
                </a:cubicBezTo>
                <a:lnTo>
                  <a:pt x="72703" y="190500"/>
                </a:lnTo>
                <a:cubicBezTo>
                  <a:pt x="87139" y="190500"/>
                  <a:pt x="100943" y="184770"/>
                  <a:pt x="111175" y="174575"/>
                </a:cubicBezTo>
                <a:cubicBezTo>
                  <a:pt x="122560" y="163190"/>
                  <a:pt x="128253" y="147377"/>
                  <a:pt x="126913" y="13149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1150620" y="1703073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Nettoyage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2930" y="2756419"/>
            <a:ext cx="3274695" cy="960120"/>
          </a:xfrm>
          <a:custGeom>
            <a:avLst/>
            <a:gdLst/>
            <a:ahLst/>
            <a:cxnLst/>
            <a:rect l="l" t="t" r="r" b="b"/>
            <a:pathLst>
              <a:path w="3274695" h="960120">
                <a:moveTo>
                  <a:pt x="76205" y="0"/>
                </a:moveTo>
                <a:lnTo>
                  <a:pt x="3198490" y="0"/>
                </a:lnTo>
                <a:cubicBezTo>
                  <a:pt x="3240577" y="0"/>
                  <a:pt x="3274695" y="34118"/>
                  <a:pt x="3274695" y="76205"/>
                </a:cubicBezTo>
                <a:lnTo>
                  <a:pt x="3274695" y="883915"/>
                </a:lnTo>
                <a:cubicBezTo>
                  <a:pt x="3274695" y="926002"/>
                  <a:pt x="3240577" y="960120"/>
                  <a:pt x="319849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Shape 7"/>
          <p:cNvSpPr/>
          <p:nvPr/>
        </p:nvSpPr>
        <p:spPr>
          <a:xfrm>
            <a:off x="729615" y="291262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40690" y="1756"/>
                </a:moveTo>
                <a:cubicBezTo>
                  <a:pt x="41999" y="-2143"/>
                  <a:pt x="45631" y="-4762"/>
                  <a:pt x="49738" y="-4762"/>
                </a:cubicBezTo>
                <a:lnTo>
                  <a:pt x="83641" y="-4762"/>
                </a:lnTo>
                <a:cubicBezTo>
                  <a:pt x="87749" y="-4762"/>
                  <a:pt x="91380" y="-2143"/>
                  <a:pt x="92690" y="1756"/>
                </a:cubicBezTo>
                <a:lnTo>
                  <a:pt x="95250" y="9525"/>
                </a:lnTo>
                <a:lnTo>
                  <a:pt x="123825" y="9525"/>
                </a:lnTo>
                <a:cubicBezTo>
                  <a:pt x="129094" y="9525"/>
                  <a:pt x="133350" y="13781"/>
                  <a:pt x="133350" y="19050"/>
                </a:cubicBezTo>
                <a:cubicBezTo>
                  <a:pt x="133350" y="24319"/>
                  <a:pt x="129094" y="28575"/>
                  <a:pt x="123825" y="28575"/>
                </a:cubicBezTo>
                <a:lnTo>
                  <a:pt x="9525" y="28575"/>
                </a:lnTo>
                <a:cubicBezTo>
                  <a:pt x="4256" y="28575"/>
                  <a:pt x="0" y="24319"/>
                  <a:pt x="0" y="19050"/>
                </a:cubicBezTo>
                <a:cubicBezTo>
                  <a:pt x="0" y="13781"/>
                  <a:pt x="4256" y="9525"/>
                  <a:pt x="9525" y="9525"/>
                </a:cubicBezTo>
                <a:lnTo>
                  <a:pt x="38100" y="9525"/>
                </a:lnTo>
                <a:lnTo>
                  <a:pt x="40690" y="1756"/>
                </a:lnTo>
                <a:close/>
                <a:moveTo>
                  <a:pt x="9525" y="42863"/>
                </a:moveTo>
                <a:lnTo>
                  <a:pt x="123825" y="42863"/>
                </a:lnTo>
                <a:lnTo>
                  <a:pt x="123825" y="133350"/>
                </a:lnTo>
                <a:cubicBezTo>
                  <a:pt x="123825" y="143857"/>
                  <a:pt x="115282" y="152400"/>
                  <a:pt x="104775" y="152400"/>
                </a:cubicBezTo>
                <a:lnTo>
                  <a:pt x="28575" y="152400"/>
                </a:lnTo>
                <a:cubicBezTo>
                  <a:pt x="18068" y="152400"/>
                  <a:pt x="9525" y="143857"/>
                  <a:pt x="9525" y="133350"/>
                </a:cubicBezTo>
                <a:lnTo>
                  <a:pt x="9525" y="42863"/>
                </a:lnTo>
                <a:close/>
                <a:moveTo>
                  <a:pt x="35719" y="61912"/>
                </a:moveTo>
                <a:cubicBezTo>
                  <a:pt x="31760" y="61912"/>
                  <a:pt x="28575" y="65097"/>
                  <a:pt x="28575" y="69056"/>
                </a:cubicBezTo>
                <a:lnTo>
                  <a:pt x="28575" y="126206"/>
                </a:lnTo>
                <a:cubicBezTo>
                  <a:pt x="28575" y="130165"/>
                  <a:pt x="31760" y="133350"/>
                  <a:pt x="35719" y="133350"/>
                </a:cubicBezTo>
                <a:cubicBezTo>
                  <a:pt x="39678" y="133350"/>
                  <a:pt x="42863" y="130165"/>
                  <a:pt x="42863" y="126206"/>
                </a:cubicBezTo>
                <a:lnTo>
                  <a:pt x="42863" y="69056"/>
                </a:lnTo>
                <a:cubicBezTo>
                  <a:pt x="42863" y="65097"/>
                  <a:pt x="39678" y="61912"/>
                  <a:pt x="35719" y="61912"/>
                </a:cubicBezTo>
                <a:close/>
                <a:moveTo>
                  <a:pt x="66675" y="61912"/>
                </a:moveTo>
                <a:cubicBezTo>
                  <a:pt x="62716" y="61912"/>
                  <a:pt x="59531" y="65097"/>
                  <a:pt x="59531" y="69056"/>
                </a:cubicBezTo>
                <a:lnTo>
                  <a:pt x="59531" y="126206"/>
                </a:lnTo>
                <a:cubicBezTo>
                  <a:pt x="59531" y="130165"/>
                  <a:pt x="62716" y="133350"/>
                  <a:pt x="66675" y="133350"/>
                </a:cubicBezTo>
                <a:cubicBezTo>
                  <a:pt x="70634" y="133350"/>
                  <a:pt x="73819" y="130165"/>
                  <a:pt x="73819" y="126206"/>
                </a:cubicBezTo>
                <a:lnTo>
                  <a:pt x="73819" y="69056"/>
                </a:lnTo>
                <a:cubicBezTo>
                  <a:pt x="73819" y="65097"/>
                  <a:pt x="70634" y="61912"/>
                  <a:pt x="66675" y="61912"/>
                </a:cubicBezTo>
                <a:close/>
                <a:moveTo>
                  <a:pt x="97631" y="61912"/>
                </a:moveTo>
                <a:cubicBezTo>
                  <a:pt x="93672" y="61912"/>
                  <a:pt x="90488" y="65097"/>
                  <a:pt x="90488" y="69056"/>
                </a:cubicBezTo>
                <a:lnTo>
                  <a:pt x="90488" y="126206"/>
                </a:lnTo>
                <a:cubicBezTo>
                  <a:pt x="90488" y="130165"/>
                  <a:pt x="93672" y="133350"/>
                  <a:pt x="97631" y="133350"/>
                </a:cubicBezTo>
                <a:cubicBezTo>
                  <a:pt x="101590" y="133350"/>
                  <a:pt x="104775" y="130165"/>
                  <a:pt x="104775" y="126206"/>
                </a:cubicBezTo>
                <a:lnTo>
                  <a:pt x="104775" y="69056"/>
                </a:lnTo>
                <a:cubicBezTo>
                  <a:pt x="104775" y="65097"/>
                  <a:pt x="101590" y="61912"/>
                  <a:pt x="97631" y="61912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0" name="Text 8"/>
          <p:cNvSpPr/>
          <p:nvPr/>
        </p:nvSpPr>
        <p:spPr>
          <a:xfrm>
            <a:off x="967740" y="2874527"/>
            <a:ext cx="2847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Suppression de variables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7740" y="3141227"/>
            <a:ext cx="2847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Élimination des variables non-déterminantes comme </a:t>
            </a:r>
            <a:r>
              <a:rPr lang="en-US" sz="120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Nacionality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2930" y="3838455"/>
            <a:ext cx="3274695" cy="960120"/>
          </a:xfrm>
          <a:custGeom>
            <a:avLst/>
            <a:gdLst/>
            <a:ahLst/>
            <a:cxnLst/>
            <a:rect l="l" t="t" r="r" b="b"/>
            <a:pathLst>
              <a:path w="3274695" h="960120">
                <a:moveTo>
                  <a:pt x="76205" y="0"/>
                </a:moveTo>
                <a:lnTo>
                  <a:pt x="3198490" y="0"/>
                </a:lnTo>
                <a:cubicBezTo>
                  <a:pt x="3240577" y="0"/>
                  <a:pt x="3274695" y="34118"/>
                  <a:pt x="3274695" y="76205"/>
                </a:cubicBezTo>
                <a:lnTo>
                  <a:pt x="3274695" y="883915"/>
                </a:lnTo>
                <a:cubicBezTo>
                  <a:pt x="3274695" y="926002"/>
                  <a:pt x="3240577" y="960120"/>
                  <a:pt x="319849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Shape 11"/>
          <p:cNvSpPr/>
          <p:nvPr/>
        </p:nvSpPr>
        <p:spPr>
          <a:xfrm>
            <a:off x="720090" y="39946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19050"/>
                </a:moveTo>
                <a:cubicBezTo>
                  <a:pt x="5685" y="19050"/>
                  <a:pt x="2203" y="21372"/>
                  <a:pt x="714" y="24944"/>
                </a:cubicBezTo>
                <a:cubicBezTo>
                  <a:pt x="-774" y="28515"/>
                  <a:pt x="60" y="32593"/>
                  <a:pt x="2798" y="35302"/>
                </a:cubicBezTo>
                <a:lnTo>
                  <a:pt x="57150" y="89684"/>
                </a:lnTo>
                <a:lnTo>
                  <a:pt x="57150" y="123825"/>
                </a:lnTo>
                <a:cubicBezTo>
                  <a:pt x="57150" y="126355"/>
                  <a:pt x="58162" y="128766"/>
                  <a:pt x="59948" y="130552"/>
                </a:cubicBezTo>
                <a:lnTo>
                  <a:pt x="78998" y="149602"/>
                </a:lnTo>
                <a:cubicBezTo>
                  <a:pt x="81736" y="152340"/>
                  <a:pt x="85814" y="153144"/>
                  <a:pt x="89386" y="151656"/>
                </a:cubicBezTo>
                <a:cubicBezTo>
                  <a:pt x="92958" y="150168"/>
                  <a:pt x="95250" y="146715"/>
                  <a:pt x="95250" y="142875"/>
                </a:cubicBezTo>
                <a:lnTo>
                  <a:pt x="95250" y="89684"/>
                </a:lnTo>
                <a:lnTo>
                  <a:pt x="149602" y="35332"/>
                </a:lnTo>
                <a:cubicBezTo>
                  <a:pt x="152340" y="32593"/>
                  <a:pt x="153144" y="28515"/>
                  <a:pt x="151656" y="24944"/>
                </a:cubicBezTo>
                <a:cubicBezTo>
                  <a:pt x="150168" y="21372"/>
                  <a:pt x="146715" y="19050"/>
                  <a:pt x="142875" y="19050"/>
                </a:cubicBezTo>
                <a:lnTo>
                  <a:pt x="9525" y="1905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4" name="Text 12"/>
          <p:cNvSpPr/>
          <p:nvPr/>
        </p:nvSpPr>
        <p:spPr>
          <a:xfrm>
            <a:off x="967740" y="3956568"/>
            <a:ext cx="2847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Gestion des outliers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7740" y="4223268"/>
            <a:ext cx="2847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Détection et traitement des </a:t>
            </a:r>
            <a:r>
              <a:rPr lang="en-US" sz="1200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valeurs aberrantes</a:t>
            </a: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 méthode IQR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2930" y="4920496"/>
            <a:ext cx="3274695" cy="960120"/>
          </a:xfrm>
          <a:custGeom>
            <a:avLst/>
            <a:gdLst/>
            <a:ahLst/>
            <a:cxnLst/>
            <a:rect l="l" t="t" r="r" b="b"/>
            <a:pathLst>
              <a:path w="3274695" h="960120">
                <a:moveTo>
                  <a:pt x="76205" y="0"/>
                </a:moveTo>
                <a:lnTo>
                  <a:pt x="3198490" y="0"/>
                </a:lnTo>
                <a:cubicBezTo>
                  <a:pt x="3240577" y="0"/>
                  <a:pt x="3274695" y="34118"/>
                  <a:pt x="3274695" y="76205"/>
                </a:cubicBezTo>
                <a:lnTo>
                  <a:pt x="3274695" y="883915"/>
                </a:lnTo>
                <a:cubicBezTo>
                  <a:pt x="3274695" y="926002"/>
                  <a:pt x="3240577" y="960120"/>
                  <a:pt x="319849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7" name="Shape 15"/>
          <p:cNvSpPr/>
          <p:nvPr/>
        </p:nvSpPr>
        <p:spPr>
          <a:xfrm>
            <a:off x="720090" y="50767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8" name="Text 16"/>
          <p:cNvSpPr/>
          <p:nvPr/>
        </p:nvSpPr>
        <p:spPr>
          <a:xfrm>
            <a:off x="967740" y="5038609"/>
            <a:ext cx="2847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Validation des données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7740" y="5305309"/>
            <a:ext cx="2847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Vérification de la </a:t>
            </a:r>
            <a:r>
              <a:rPr lang="en-US" sz="120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cohérence</a:t>
            </a: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et de la </a:t>
            </a:r>
            <a:r>
              <a:rPr lang="en-US" sz="120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complétude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58270" y="1413510"/>
            <a:ext cx="3674745" cy="5198745"/>
          </a:xfrm>
          <a:custGeom>
            <a:avLst/>
            <a:gdLst/>
            <a:ahLst/>
            <a:cxnLst/>
            <a:rect l="l" t="t" r="r" b="b"/>
            <a:pathLst>
              <a:path w="3674745" h="5198745">
                <a:moveTo>
                  <a:pt x="114285" y="0"/>
                </a:moveTo>
                <a:lnTo>
                  <a:pt x="3560460" y="0"/>
                </a:lnTo>
                <a:cubicBezTo>
                  <a:pt x="3623536" y="0"/>
                  <a:pt x="3674745" y="51209"/>
                  <a:pt x="3674745" y="114285"/>
                </a:cubicBezTo>
                <a:lnTo>
                  <a:pt x="3674745" y="5084460"/>
                </a:lnTo>
                <a:cubicBezTo>
                  <a:pt x="3674745" y="5147536"/>
                  <a:pt x="3623536" y="5198745"/>
                  <a:pt x="3560460" y="5198745"/>
                </a:cubicBezTo>
                <a:lnTo>
                  <a:pt x="114285" y="5198745"/>
                </a:lnTo>
                <a:cubicBezTo>
                  <a:pt x="51209" y="5198745"/>
                  <a:pt x="0" y="5147536"/>
                  <a:pt x="0" y="5084460"/>
                </a:cubicBezTo>
                <a:lnTo>
                  <a:pt x="0" y="114285"/>
                </a:lnTo>
                <a:cubicBezTo>
                  <a:pt x="0" y="51209"/>
                  <a:pt x="51209" y="0"/>
                  <a:pt x="11428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1" name="Shape 19"/>
          <p:cNvSpPr/>
          <p:nvPr/>
        </p:nvSpPr>
        <p:spPr>
          <a:xfrm>
            <a:off x="4452580" y="1607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Shape 20"/>
          <p:cNvSpPr/>
          <p:nvPr/>
        </p:nvSpPr>
        <p:spPr>
          <a:xfrm>
            <a:off x="4574024" y="17411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1"/>
          <p:cNvSpPr/>
          <p:nvPr/>
        </p:nvSpPr>
        <p:spPr>
          <a:xfrm>
            <a:off x="5024081" y="1703073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Encodage &amp; Scaling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56390" y="2756419"/>
            <a:ext cx="3274695" cy="960120"/>
          </a:xfrm>
          <a:custGeom>
            <a:avLst/>
            <a:gdLst/>
            <a:ahLst/>
            <a:cxnLst/>
            <a:rect l="l" t="t" r="r" b="b"/>
            <a:pathLst>
              <a:path w="3274695" h="960120">
                <a:moveTo>
                  <a:pt x="76205" y="0"/>
                </a:moveTo>
                <a:lnTo>
                  <a:pt x="3198490" y="0"/>
                </a:lnTo>
                <a:cubicBezTo>
                  <a:pt x="3240577" y="0"/>
                  <a:pt x="3274695" y="34118"/>
                  <a:pt x="3274695" y="76205"/>
                </a:cubicBezTo>
                <a:lnTo>
                  <a:pt x="3274695" y="883915"/>
                </a:lnTo>
                <a:cubicBezTo>
                  <a:pt x="3274695" y="926002"/>
                  <a:pt x="3240577" y="960120"/>
                  <a:pt x="319849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5" name="Shape 23"/>
          <p:cNvSpPr/>
          <p:nvPr/>
        </p:nvSpPr>
        <p:spPr>
          <a:xfrm>
            <a:off x="4593550" y="29126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6" name="Text 24"/>
          <p:cNvSpPr/>
          <p:nvPr/>
        </p:nvSpPr>
        <p:spPr>
          <a:xfrm>
            <a:off x="4841200" y="2874527"/>
            <a:ext cx="2847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Encodage des labels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41200" y="3141227"/>
            <a:ext cx="2847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Transformation des variables catégorielles en </a:t>
            </a:r>
            <a:r>
              <a:rPr lang="en-US" sz="120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numérique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56390" y="3838455"/>
            <a:ext cx="3274695" cy="960120"/>
          </a:xfrm>
          <a:custGeom>
            <a:avLst/>
            <a:gdLst/>
            <a:ahLst/>
            <a:cxnLst/>
            <a:rect l="l" t="t" r="r" b="b"/>
            <a:pathLst>
              <a:path w="3274695" h="960120">
                <a:moveTo>
                  <a:pt x="76205" y="0"/>
                </a:moveTo>
                <a:lnTo>
                  <a:pt x="3198490" y="0"/>
                </a:lnTo>
                <a:cubicBezTo>
                  <a:pt x="3240577" y="0"/>
                  <a:pt x="3274695" y="34118"/>
                  <a:pt x="3274695" y="76205"/>
                </a:cubicBezTo>
                <a:lnTo>
                  <a:pt x="3274695" y="883915"/>
                </a:lnTo>
                <a:cubicBezTo>
                  <a:pt x="3274695" y="926002"/>
                  <a:pt x="3240577" y="960120"/>
                  <a:pt x="319849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9" name="Shape 27"/>
          <p:cNvSpPr/>
          <p:nvPr/>
        </p:nvSpPr>
        <p:spPr>
          <a:xfrm>
            <a:off x="4593550" y="39946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5731" y="66675"/>
                </a:moveTo>
                <a:lnTo>
                  <a:pt x="92869" y="66675"/>
                </a:lnTo>
                <a:cubicBezTo>
                  <a:pt x="88910" y="66675"/>
                  <a:pt x="85725" y="63490"/>
                  <a:pt x="85725" y="59531"/>
                </a:cubicBezTo>
                <a:lnTo>
                  <a:pt x="85725" y="16669"/>
                </a:lnTo>
                <a:cubicBezTo>
                  <a:pt x="85725" y="13781"/>
                  <a:pt x="87451" y="11162"/>
                  <a:pt x="90130" y="10061"/>
                </a:cubicBezTo>
                <a:cubicBezTo>
                  <a:pt x="92809" y="8959"/>
                  <a:pt x="95875" y="9585"/>
                  <a:pt x="97929" y="11609"/>
                </a:cubicBezTo>
                <a:lnTo>
                  <a:pt x="109835" y="23515"/>
                </a:lnTo>
                <a:lnTo>
                  <a:pt x="131683" y="1667"/>
                </a:lnTo>
                <a:cubicBezTo>
                  <a:pt x="132755" y="595"/>
                  <a:pt x="134213" y="0"/>
                  <a:pt x="135731" y="0"/>
                </a:cubicBezTo>
                <a:cubicBezTo>
                  <a:pt x="137249" y="0"/>
                  <a:pt x="138708" y="595"/>
                  <a:pt x="139809" y="1697"/>
                </a:cubicBezTo>
                <a:lnTo>
                  <a:pt x="150733" y="12621"/>
                </a:lnTo>
                <a:cubicBezTo>
                  <a:pt x="151805" y="13692"/>
                  <a:pt x="152400" y="15151"/>
                  <a:pt x="152400" y="16669"/>
                </a:cubicBezTo>
                <a:cubicBezTo>
                  <a:pt x="152400" y="18187"/>
                  <a:pt x="151805" y="19645"/>
                  <a:pt x="150703" y="20747"/>
                </a:cubicBezTo>
                <a:lnTo>
                  <a:pt x="128885" y="42565"/>
                </a:lnTo>
                <a:lnTo>
                  <a:pt x="140791" y="54471"/>
                </a:lnTo>
                <a:cubicBezTo>
                  <a:pt x="142845" y="56525"/>
                  <a:pt x="143441" y="59591"/>
                  <a:pt x="142339" y="62270"/>
                </a:cubicBezTo>
                <a:cubicBezTo>
                  <a:pt x="141238" y="64949"/>
                  <a:pt x="138619" y="66675"/>
                  <a:pt x="135731" y="66675"/>
                </a:cubicBezTo>
                <a:close/>
                <a:moveTo>
                  <a:pt x="135731" y="85725"/>
                </a:moveTo>
                <a:cubicBezTo>
                  <a:pt x="138619" y="85725"/>
                  <a:pt x="141238" y="87451"/>
                  <a:pt x="142339" y="90130"/>
                </a:cubicBezTo>
                <a:cubicBezTo>
                  <a:pt x="143441" y="92809"/>
                  <a:pt x="142845" y="95875"/>
                  <a:pt x="140791" y="97929"/>
                </a:cubicBezTo>
                <a:lnTo>
                  <a:pt x="128885" y="109835"/>
                </a:lnTo>
                <a:lnTo>
                  <a:pt x="150733" y="131683"/>
                </a:lnTo>
                <a:cubicBezTo>
                  <a:pt x="151805" y="132755"/>
                  <a:pt x="152430" y="134213"/>
                  <a:pt x="152430" y="135761"/>
                </a:cubicBezTo>
                <a:cubicBezTo>
                  <a:pt x="152430" y="137309"/>
                  <a:pt x="151834" y="138738"/>
                  <a:pt x="150733" y="139839"/>
                </a:cubicBezTo>
                <a:lnTo>
                  <a:pt x="139809" y="150763"/>
                </a:lnTo>
                <a:cubicBezTo>
                  <a:pt x="138708" y="151805"/>
                  <a:pt x="137249" y="152400"/>
                  <a:pt x="135731" y="152400"/>
                </a:cubicBezTo>
                <a:cubicBezTo>
                  <a:pt x="134213" y="152400"/>
                  <a:pt x="132755" y="151805"/>
                  <a:pt x="131653" y="150703"/>
                </a:cubicBezTo>
                <a:lnTo>
                  <a:pt x="109835" y="128885"/>
                </a:lnTo>
                <a:lnTo>
                  <a:pt x="97929" y="140791"/>
                </a:lnTo>
                <a:cubicBezTo>
                  <a:pt x="95875" y="142845"/>
                  <a:pt x="92809" y="143441"/>
                  <a:pt x="90130" y="142339"/>
                </a:cubicBezTo>
                <a:cubicBezTo>
                  <a:pt x="87451" y="141238"/>
                  <a:pt x="85725" y="138619"/>
                  <a:pt x="85725" y="135731"/>
                </a:cubicBezTo>
                <a:lnTo>
                  <a:pt x="85725" y="92869"/>
                </a:lnTo>
                <a:cubicBezTo>
                  <a:pt x="85725" y="88910"/>
                  <a:pt x="88910" y="85725"/>
                  <a:pt x="92869" y="85725"/>
                </a:cubicBezTo>
                <a:lnTo>
                  <a:pt x="135731" y="85725"/>
                </a:lnTo>
                <a:close/>
                <a:moveTo>
                  <a:pt x="59531" y="85725"/>
                </a:moveTo>
                <a:cubicBezTo>
                  <a:pt x="63490" y="85725"/>
                  <a:pt x="66675" y="88910"/>
                  <a:pt x="66675" y="92869"/>
                </a:cubicBezTo>
                <a:lnTo>
                  <a:pt x="66675" y="135731"/>
                </a:lnTo>
                <a:cubicBezTo>
                  <a:pt x="66675" y="138619"/>
                  <a:pt x="64949" y="141238"/>
                  <a:pt x="62270" y="142339"/>
                </a:cubicBezTo>
                <a:cubicBezTo>
                  <a:pt x="59591" y="143441"/>
                  <a:pt x="56525" y="142845"/>
                  <a:pt x="54471" y="140791"/>
                </a:cubicBezTo>
                <a:lnTo>
                  <a:pt x="42565" y="128885"/>
                </a:lnTo>
                <a:lnTo>
                  <a:pt x="20717" y="150733"/>
                </a:lnTo>
                <a:cubicBezTo>
                  <a:pt x="19645" y="151805"/>
                  <a:pt x="18187" y="152400"/>
                  <a:pt x="16669" y="152400"/>
                </a:cubicBezTo>
                <a:cubicBezTo>
                  <a:pt x="15151" y="152400"/>
                  <a:pt x="13692" y="151805"/>
                  <a:pt x="12591" y="150703"/>
                </a:cubicBezTo>
                <a:lnTo>
                  <a:pt x="1697" y="139809"/>
                </a:lnTo>
                <a:cubicBezTo>
                  <a:pt x="595" y="138708"/>
                  <a:pt x="0" y="137249"/>
                  <a:pt x="0" y="135731"/>
                </a:cubicBezTo>
                <a:cubicBezTo>
                  <a:pt x="0" y="134213"/>
                  <a:pt x="595" y="132755"/>
                  <a:pt x="1697" y="131653"/>
                </a:cubicBezTo>
                <a:lnTo>
                  <a:pt x="23515" y="109835"/>
                </a:lnTo>
                <a:lnTo>
                  <a:pt x="11609" y="97929"/>
                </a:lnTo>
                <a:cubicBezTo>
                  <a:pt x="9555" y="95875"/>
                  <a:pt x="8959" y="92809"/>
                  <a:pt x="10061" y="90130"/>
                </a:cubicBezTo>
                <a:cubicBezTo>
                  <a:pt x="11162" y="87451"/>
                  <a:pt x="13781" y="85725"/>
                  <a:pt x="16669" y="85725"/>
                </a:cubicBezTo>
                <a:lnTo>
                  <a:pt x="59531" y="85725"/>
                </a:lnTo>
                <a:close/>
                <a:moveTo>
                  <a:pt x="16669" y="66675"/>
                </a:moveTo>
                <a:cubicBezTo>
                  <a:pt x="13781" y="66675"/>
                  <a:pt x="11162" y="64949"/>
                  <a:pt x="10061" y="62270"/>
                </a:cubicBezTo>
                <a:cubicBezTo>
                  <a:pt x="8959" y="59591"/>
                  <a:pt x="9585" y="56525"/>
                  <a:pt x="11609" y="54471"/>
                </a:cubicBezTo>
                <a:lnTo>
                  <a:pt x="23515" y="42565"/>
                </a:lnTo>
                <a:lnTo>
                  <a:pt x="1697" y="20747"/>
                </a:lnTo>
                <a:cubicBezTo>
                  <a:pt x="595" y="19645"/>
                  <a:pt x="0" y="18187"/>
                  <a:pt x="0" y="16669"/>
                </a:cubicBezTo>
                <a:cubicBezTo>
                  <a:pt x="0" y="15151"/>
                  <a:pt x="595" y="13692"/>
                  <a:pt x="1697" y="12591"/>
                </a:cubicBezTo>
                <a:lnTo>
                  <a:pt x="12591" y="1697"/>
                </a:lnTo>
                <a:cubicBezTo>
                  <a:pt x="13692" y="595"/>
                  <a:pt x="15151" y="0"/>
                  <a:pt x="16669" y="0"/>
                </a:cubicBezTo>
                <a:cubicBezTo>
                  <a:pt x="18187" y="0"/>
                  <a:pt x="19645" y="595"/>
                  <a:pt x="20747" y="1697"/>
                </a:cubicBezTo>
                <a:lnTo>
                  <a:pt x="42565" y="23515"/>
                </a:lnTo>
                <a:lnTo>
                  <a:pt x="54471" y="11609"/>
                </a:lnTo>
                <a:cubicBezTo>
                  <a:pt x="56525" y="9555"/>
                  <a:pt x="59591" y="8959"/>
                  <a:pt x="62270" y="10061"/>
                </a:cubicBezTo>
                <a:cubicBezTo>
                  <a:pt x="64949" y="11162"/>
                  <a:pt x="66675" y="13781"/>
                  <a:pt x="66675" y="16669"/>
                </a:cubicBezTo>
                <a:lnTo>
                  <a:pt x="66675" y="59531"/>
                </a:lnTo>
                <a:cubicBezTo>
                  <a:pt x="66675" y="63490"/>
                  <a:pt x="63490" y="66675"/>
                  <a:pt x="59531" y="66675"/>
                </a:cubicBezTo>
                <a:lnTo>
                  <a:pt x="16669" y="66675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0" name="Text 28"/>
          <p:cNvSpPr/>
          <p:nvPr/>
        </p:nvSpPr>
        <p:spPr>
          <a:xfrm>
            <a:off x="4841200" y="3956568"/>
            <a:ext cx="2847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StandardScaler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1200" y="4223268"/>
            <a:ext cx="2847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Normalisation avec </a:t>
            </a:r>
            <a:r>
              <a:rPr lang="en-US" sz="1200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moyenne = 0</a:t>
            </a: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et </a:t>
            </a:r>
            <a:r>
              <a:rPr lang="en-US" sz="1200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écart-type = 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56390" y="4920496"/>
            <a:ext cx="3274695" cy="960120"/>
          </a:xfrm>
          <a:custGeom>
            <a:avLst/>
            <a:gdLst/>
            <a:ahLst/>
            <a:cxnLst/>
            <a:rect l="l" t="t" r="r" b="b"/>
            <a:pathLst>
              <a:path w="3274695" h="960120">
                <a:moveTo>
                  <a:pt x="76205" y="0"/>
                </a:moveTo>
                <a:lnTo>
                  <a:pt x="3198490" y="0"/>
                </a:lnTo>
                <a:cubicBezTo>
                  <a:pt x="3240577" y="0"/>
                  <a:pt x="3274695" y="34118"/>
                  <a:pt x="3274695" y="76205"/>
                </a:cubicBezTo>
                <a:lnTo>
                  <a:pt x="3274695" y="883915"/>
                </a:lnTo>
                <a:cubicBezTo>
                  <a:pt x="3274695" y="926002"/>
                  <a:pt x="3240577" y="960120"/>
                  <a:pt x="319849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3" name="Shape 31"/>
          <p:cNvSpPr/>
          <p:nvPr/>
        </p:nvSpPr>
        <p:spPr>
          <a:xfrm>
            <a:off x="4593550" y="50767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4" name="Text 32"/>
          <p:cNvSpPr/>
          <p:nvPr/>
        </p:nvSpPr>
        <p:spPr>
          <a:xfrm>
            <a:off x="4841200" y="5038609"/>
            <a:ext cx="2847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Prévention du biais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41200" y="5305309"/>
            <a:ext cx="2847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Éviter la dominance des variables à </a:t>
            </a:r>
            <a:r>
              <a:rPr lang="en-US" sz="12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grande échelle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31731" y="1413510"/>
            <a:ext cx="3674745" cy="5198745"/>
          </a:xfrm>
          <a:custGeom>
            <a:avLst/>
            <a:gdLst/>
            <a:ahLst/>
            <a:cxnLst/>
            <a:rect l="l" t="t" r="r" b="b"/>
            <a:pathLst>
              <a:path w="3674745" h="5198745">
                <a:moveTo>
                  <a:pt x="114285" y="0"/>
                </a:moveTo>
                <a:lnTo>
                  <a:pt x="3560460" y="0"/>
                </a:lnTo>
                <a:cubicBezTo>
                  <a:pt x="3623536" y="0"/>
                  <a:pt x="3674745" y="51209"/>
                  <a:pt x="3674745" y="114285"/>
                </a:cubicBezTo>
                <a:lnTo>
                  <a:pt x="3674745" y="5084460"/>
                </a:lnTo>
                <a:cubicBezTo>
                  <a:pt x="3674745" y="5147536"/>
                  <a:pt x="3623536" y="5198745"/>
                  <a:pt x="3560460" y="5198745"/>
                </a:cubicBezTo>
                <a:lnTo>
                  <a:pt x="114285" y="5198745"/>
                </a:lnTo>
                <a:cubicBezTo>
                  <a:pt x="51209" y="5198745"/>
                  <a:pt x="0" y="5147536"/>
                  <a:pt x="0" y="5084460"/>
                </a:cubicBezTo>
                <a:lnTo>
                  <a:pt x="0" y="114285"/>
                </a:lnTo>
                <a:cubicBezTo>
                  <a:pt x="0" y="51209"/>
                  <a:pt x="51209" y="0"/>
                  <a:pt x="11428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7" name="Shape 35"/>
          <p:cNvSpPr/>
          <p:nvPr/>
        </p:nvSpPr>
        <p:spPr>
          <a:xfrm>
            <a:off x="8326041" y="1607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8" name="Shape 36"/>
          <p:cNvSpPr/>
          <p:nvPr/>
        </p:nvSpPr>
        <p:spPr>
          <a:xfrm>
            <a:off x="8435578" y="174117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3979" y="23217"/>
                </a:moveTo>
                <a:cubicBezTo>
                  <a:pt x="37765" y="21134"/>
                  <a:pt x="34379" y="14362"/>
                  <a:pt x="36463" y="8148"/>
                </a:cubicBezTo>
                <a:cubicBezTo>
                  <a:pt x="38546" y="1935"/>
                  <a:pt x="45281" y="-1451"/>
                  <a:pt x="51532" y="595"/>
                </a:cubicBezTo>
                <a:lnTo>
                  <a:pt x="93576" y="14622"/>
                </a:lnTo>
                <a:cubicBezTo>
                  <a:pt x="98747" y="5879"/>
                  <a:pt x="108310" y="0"/>
                  <a:pt x="119211" y="0"/>
                </a:cubicBezTo>
                <a:cubicBezTo>
                  <a:pt x="135657" y="0"/>
                  <a:pt x="148977" y="13320"/>
                  <a:pt x="148977" y="29766"/>
                </a:cubicBezTo>
                <a:cubicBezTo>
                  <a:pt x="148977" y="30882"/>
                  <a:pt x="148903" y="31961"/>
                  <a:pt x="148791" y="33040"/>
                </a:cubicBezTo>
                <a:lnTo>
                  <a:pt x="194407" y="48258"/>
                </a:lnTo>
                <a:cubicBezTo>
                  <a:pt x="200658" y="50341"/>
                  <a:pt x="204006" y="57076"/>
                  <a:pt x="201923" y="63326"/>
                </a:cubicBezTo>
                <a:cubicBezTo>
                  <a:pt x="199839" y="69577"/>
                  <a:pt x="193104" y="72926"/>
                  <a:pt x="186854" y="70842"/>
                </a:cubicBezTo>
                <a:lnTo>
                  <a:pt x="136438" y="54025"/>
                </a:lnTo>
                <a:cubicBezTo>
                  <a:pt x="134764" y="55215"/>
                  <a:pt x="132978" y="56220"/>
                  <a:pt x="131080" y="57076"/>
                </a:cubicBezTo>
                <a:lnTo>
                  <a:pt x="131080" y="178631"/>
                </a:lnTo>
                <a:cubicBezTo>
                  <a:pt x="131080" y="185217"/>
                  <a:pt x="125760" y="190537"/>
                  <a:pt x="119174" y="190537"/>
                </a:cubicBezTo>
                <a:lnTo>
                  <a:pt x="47737" y="190537"/>
                </a:lnTo>
                <a:cubicBezTo>
                  <a:pt x="41151" y="190537"/>
                  <a:pt x="35830" y="185217"/>
                  <a:pt x="35830" y="178631"/>
                </a:cubicBezTo>
                <a:cubicBezTo>
                  <a:pt x="35830" y="172045"/>
                  <a:pt x="41151" y="166725"/>
                  <a:pt x="47737" y="166725"/>
                </a:cubicBezTo>
                <a:lnTo>
                  <a:pt x="107268" y="166725"/>
                </a:lnTo>
                <a:lnTo>
                  <a:pt x="107268" y="57076"/>
                </a:lnTo>
                <a:cubicBezTo>
                  <a:pt x="99454" y="53653"/>
                  <a:pt x="93427" y="47030"/>
                  <a:pt x="90822" y="38844"/>
                </a:cubicBezTo>
                <a:lnTo>
                  <a:pt x="43979" y="23217"/>
                </a:lnTo>
                <a:close/>
                <a:moveTo>
                  <a:pt x="74712" y="107156"/>
                </a:moveTo>
                <a:lnTo>
                  <a:pt x="47737" y="60945"/>
                </a:lnTo>
                <a:lnTo>
                  <a:pt x="20799" y="107156"/>
                </a:lnTo>
                <a:lnTo>
                  <a:pt x="74712" y="107156"/>
                </a:lnTo>
                <a:close/>
                <a:moveTo>
                  <a:pt x="47774" y="142875"/>
                </a:moveTo>
                <a:cubicBezTo>
                  <a:pt x="24371" y="142875"/>
                  <a:pt x="4911" y="130225"/>
                  <a:pt x="893" y="113519"/>
                </a:cubicBezTo>
                <a:cubicBezTo>
                  <a:pt x="-74" y="109426"/>
                  <a:pt x="1265" y="105221"/>
                  <a:pt x="3386" y="101575"/>
                </a:cubicBezTo>
                <a:lnTo>
                  <a:pt x="38807" y="40853"/>
                </a:lnTo>
                <a:cubicBezTo>
                  <a:pt x="40667" y="37654"/>
                  <a:pt x="44090" y="35719"/>
                  <a:pt x="47774" y="35719"/>
                </a:cubicBezTo>
                <a:cubicBezTo>
                  <a:pt x="51457" y="35719"/>
                  <a:pt x="54880" y="37691"/>
                  <a:pt x="56741" y="40853"/>
                </a:cubicBezTo>
                <a:lnTo>
                  <a:pt x="92162" y="101575"/>
                </a:lnTo>
                <a:cubicBezTo>
                  <a:pt x="94283" y="105221"/>
                  <a:pt x="95622" y="109426"/>
                  <a:pt x="94655" y="113519"/>
                </a:cubicBezTo>
                <a:cubicBezTo>
                  <a:pt x="90636" y="130187"/>
                  <a:pt x="71177" y="142875"/>
                  <a:pt x="47774" y="142875"/>
                </a:cubicBezTo>
                <a:close/>
                <a:moveTo>
                  <a:pt x="190202" y="108570"/>
                </a:moveTo>
                <a:lnTo>
                  <a:pt x="163264" y="154781"/>
                </a:lnTo>
                <a:lnTo>
                  <a:pt x="217177" y="154781"/>
                </a:lnTo>
                <a:lnTo>
                  <a:pt x="190240" y="108570"/>
                </a:lnTo>
                <a:close/>
                <a:moveTo>
                  <a:pt x="237083" y="161144"/>
                </a:moveTo>
                <a:cubicBezTo>
                  <a:pt x="233065" y="177850"/>
                  <a:pt x="213606" y="190500"/>
                  <a:pt x="190202" y="190500"/>
                </a:cubicBezTo>
                <a:cubicBezTo>
                  <a:pt x="166799" y="190500"/>
                  <a:pt x="147340" y="177850"/>
                  <a:pt x="143321" y="161144"/>
                </a:cubicBezTo>
                <a:cubicBezTo>
                  <a:pt x="142354" y="157051"/>
                  <a:pt x="143694" y="152846"/>
                  <a:pt x="145814" y="149200"/>
                </a:cubicBezTo>
                <a:lnTo>
                  <a:pt x="181235" y="88478"/>
                </a:lnTo>
                <a:cubicBezTo>
                  <a:pt x="183096" y="85279"/>
                  <a:pt x="186519" y="83344"/>
                  <a:pt x="190202" y="83344"/>
                </a:cubicBezTo>
                <a:cubicBezTo>
                  <a:pt x="193886" y="83344"/>
                  <a:pt x="197309" y="85316"/>
                  <a:pt x="199169" y="88478"/>
                </a:cubicBezTo>
                <a:lnTo>
                  <a:pt x="234590" y="149200"/>
                </a:lnTo>
                <a:cubicBezTo>
                  <a:pt x="236711" y="152846"/>
                  <a:pt x="238051" y="157051"/>
                  <a:pt x="237083" y="161144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9" name="Text 37"/>
          <p:cNvSpPr/>
          <p:nvPr/>
        </p:nvSpPr>
        <p:spPr>
          <a:xfrm>
            <a:off x="8897541" y="1703073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SMOTE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29851" y="2221233"/>
            <a:ext cx="3274695" cy="3227070"/>
          </a:xfrm>
          <a:custGeom>
            <a:avLst/>
            <a:gdLst/>
            <a:ahLst/>
            <a:cxnLst/>
            <a:rect l="l" t="t" r="r" b="b"/>
            <a:pathLst>
              <a:path w="3274695" h="3227070">
                <a:moveTo>
                  <a:pt x="76191" y="0"/>
                </a:moveTo>
                <a:lnTo>
                  <a:pt x="3198504" y="0"/>
                </a:lnTo>
                <a:cubicBezTo>
                  <a:pt x="3240583" y="0"/>
                  <a:pt x="3274695" y="34112"/>
                  <a:pt x="3274695" y="76191"/>
                </a:cubicBezTo>
                <a:lnTo>
                  <a:pt x="3274695" y="3150879"/>
                </a:lnTo>
                <a:cubicBezTo>
                  <a:pt x="3274695" y="3192958"/>
                  <a:pt x="3240583" y="3227070"/>
                  <a:pt x="3198504" y="3227070"/>
                </a:cubicBezTo>
                <a:lnTo>
                  <a:pt x="76191" y="3227070"/>
                </a:lnTo>
                <a:cubicBezTo>
                  <a:pt x="34112" y="3227070"/>
                  <a:pt x="0" y="3192958"/>
                  <a:pt x="0" y="3150879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1" name="Text 39"/>
          <p:cNvSpPr/>
          <p:nvPr/>
        </p:nvSpPr>
        <p:spPr>
          <a:xfrm>
            <a:off x="8486061" y="2377441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Sur-échantillonnage Synthétique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86061" y="2682241"/>
            <a:ext cx="30384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SMOTE</a:t>
            </a:r>
            <a:r>
              <a:rPr lang="en-US" sz="12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(Synthetic Minority Over-sampling Technique) génère des échantillons synthétiques pour équilibrer les classes.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86061" y="3539491"/>
            <a:ext cx="2962275" cy="1752600"/>
          </a:xfrm>
          <a:custGeom>
            <a:avLst/>
            <a:gdLst/>
            <a:ahLst/>
            <a:cxnLst/>
            <a:rect l="l" t="t" r="r" b="b"/>
            <a:pathLst>
              <a:path w="2962275" h="1752600">
                <a:moveTo>
                  <a:pt x="76203" y="0"/>
                </a:moveTo>
                <a:lnTo>
                  <a:pt x="2886072" y="0"/>
                </a:lnTo>
                <a:cubicBezTo>
                  <a:pt x="2928158" y="0"/>
                  <a:pt x="2962275" y="34117"/>
                  <a:pt x="2962275" y="76203"/>
                </a:cubicBezTo>
                <a:lnTo>
                  <a:pt x="2962275" y="1676397"/>
                </a:lnTo>
                <a:cubicBezTo>
                  <a:pt x="2962275" y="1718483"/>
                  <a:pt x="2928158" y="1752600"/>
                  <a:pt x="2886072" y="1752600"/>
                </a:cubicBezTo>
                <a:lnTo>
                  <a:pt x="76203" y="1752600"/>
                </a:lnTo>
                <a:cubicBezTo>
                  <a:pt x="34117" y="1752600"/>
                  <a:pt x="0" y="1718483"/>
                  <a:pt x="0" y="16763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4" name="Text 42"/>
          <p:cNvSpPr/>
          <p:nvPr/>
        </p:nvSpPr>
        <p:spPr>
          <a:xfrm>
            <a:off x="8600361" y="3653791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Processus 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52761" y="3958591"/>
            <a:ext cx="2657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Sélection d'un échantillon minoritaire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52761" y="4453891"/>
            <a:ext cx="2657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Identification des k voisins les plus proches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52761" y="4949191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Génération de points synthétiques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29851" y="5608319"/>
            <a:ext cx="1579245" cy="807720"/>
          </a:xfrm>
          <a:custGeom>
            <a:avLst/>
            <a:gdLst/>
            <a:ahLst/>
            <a:cxnLst/>
            <a:rect l="l" t="t" r="r" b="b"/>
            <a:pathLst>
              <a:path w="1579245" h="807720">
                <a:moveTo>
                  <a:pt x="76200" y="0"/>
                </a:moveTo>
                <a:lnTo>
                  <a:pt x="1503045" y="0"/>
                </a:lnTo>
                <a:cubicBezTo>
                  <a:pt x="1545129" y="0"/>
                  <a:pt x="1579245" y="34116"/>
                  <a:pt x="1579245" y="76200"/>
                </a:cubicBezTo>
                <a:lnTo>
                  <a:pt x="1579245" y="731520"/>
                </a:lnTo>
                <a:cubicBezTo>
                  <a:pt x="1579245" y="773604"/>
                  <a:pt x="1545129" y="807720"/>
                  <a:pt x="1503045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10160">
            <a:solidFill>
              <a:srgbClr val="EF444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9" name="Text 47"/>
          <p:cNvSpPr/>
          <p:nvPr/>
        </p:nvSpPr>
        <p:spPr>
          <a:xfrm>
            <a:off x="8409861" y="5726432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Avant SMOTE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90811" y="5993132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Déséquilibré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030420" y="5608319"/>
            <a:ext cx="1579245" cy="807720"/>
          </a:xfrm>
          <a:custGeom>
            <a:avLst/>
            <a:gdLst/>
            <a:ahLst/>
            <a:cxnLst/>
            <a:rect l="l" t="t" r="r" b="b"/>
            <a:pathLst>
              <a:path w="1579245" h="807720">
                <a:moveTo>
                  <a:pt x="76200" y="0"/>
                </a:moveTo>
                <a:lnTo>
                  <a:pt x="1503045" y="0"/>
                </a:lnTo>
                <a:cubicBezTo>
                  <a:pt x="1545129" y="0"/>
                  <a:pt x="1579245" y="34116"/>
                  <a:pt x="1579245" y="76200"/>
                </a:cubicBezTo>
                <a:lnTo>
                  <a:pt x="1579245" y="731520"/>
                </a:lnTo>
                <a:cubicBezTo>
                  <a:pt x="1579245" y="773604"/>
                  <a:pt x="1545129" y="807720"/>
                  <a:pt x="1503045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2" name="Text 50"/>
          <p:cNvSpPr/>
          <p:nvPr/>
        </p:nvSpPr>
        <p:spPr>
          <a:xfrm>
            <a:off x="10110431" y="5726432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Après SMOTE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091381" y="5993132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Équilibré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0406" y="722771"/>
            <a:ext cx="11659432" cy="45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9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Sélection des Caractéristiques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210" y="1411305"/>
            <a:ext cx="5590061" cy="5437898"/>
          </a:xfrm>
          <a:custGeom>
            <a:avLst/>
            <a:gdLst/>
            <a:ahLst/>
            <a:cxnLst/>
            <a:rect l="l" t="t" r="r" b="b"/>
            <a:pathLst>
              <a:path w="5590061" h="5437898">
                <a:moveTo>
                  <a:pt x="114141" y="0"/>
                </a:moveTo>
                <a:lnTo>
                  <a:pt x="5475919" y="0"/>
                </a:lnTo>
                <a:cubicBezTo>
                  <a:pt x="5538915" y="0"/>
                  <a:pt x="5590061" y="51145"/>
                  <a:pt x="5590061" y="114141"/>
                </a:cubicBezTo>
                <a:lnTo>
                  <a:pt x="5590061" y="5323757"/>
                </a:lnTo>
                <a:cubicBezTo>
                  <a:pt x="5590061" y="5386753"/>
                  <a:pt x="5538915" y="5437898"/>
                  <a:pt x="5475919" y="5437898"/>
                </a:cubicBezTo>
                <a:lnTo>
                  <a:pt x="114141" y="5437898"/>
                </a:lnTo>
                <a:cubicBezTo>
                  <a:pt x="51145" y="5437898"/>
                  <a:pt x="0" y="5386753"/>
                  <a:pt x="0" y="5323757"/>
                </a:cubicBezTo>
                <a:lnTo>
                  <a:pt x="0" y="114141"/>
                </a:lnTo>
                <a:cubicBezTo>
                  <a:pt x="0" y="51145"/>
                  <a:pt x="51145" y="0"/>
                  <a:pt x="11414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616257" y="1643355"/>
            <a:ext cx="532568" cy="532568"/>
          </a:xfrm>
          <a:custGeom>
            <a:avLst/>
            <a:gdLst/>
            <a:ahLst/>
            <a:cxnLst/>
            <a:rect l="l" t="t" r="r" b="b"/>
            <a:pathLst>
              <a:path w="532568" h="532568">
                <a:moveTo>
                  <a:pt x="76083" y="0"/>
                </a:moveTo>
                <a:lnTo>
                  <a:pt x="456485" y="0"/>
                </a:lnTo>
                <a:cubicBezTo>
                  <a:pt x="498505" y="0"/>
                  <a:pt x="532568" y="34063"/>
                  <a:pt x="532568" y="76083"/>
                </a:cubicBezTo>
                <a:lnTo>
                  <a:pt x="532568" y="456485"/>
                </a:lnTo>
                <a:cubicBezTo>
                  <a:pt x="532568" y="498505"/>
                  <a:pt x="498505" y="532568"/>
                  <a:pt x="456485" y="532568"/>
                </a:cubicBezTo>
                <a:lnTo>
                  <a:pt x="76083" y="532568"/>
                </a:lnTo>
                <a:cubicBezTo>
                  <a:pt x="34063" y="532568"/>
                  <a:pt x="0" y="498505"/>
                  <a:pt x="0" y="456485"/>
                </a:cubicBezTo>
                <a:lnTo>
                  <a:pt x="0" y="76083"/>
                </a:lnTo>
                <a:cubicBezTo>
                  <a:pt x="0" y="34091"/>
                  <a:pt x="34091" y="0"/>
                  <a:pt x="7608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768419" y="1795517"/>
            <a:ext cx="228243" cy="228243"/>
          </a:xfrm>
          <a:custGeom>
            <a:avLst/>
            <a:gdLst/>
            <a:ahLst/>
            <a:cxnLst/>
            <a:rect l="l" t="t" r="r" b="b"/>
            <a:pathLst>
              <a:path w="228243" h="228243">
                <a:moveTo>
                  <a:pt x="114122" y="228243"/>
                </a:moveTo>
                <a:cubicBezTo>
                  <a:pt x="177107" y="228243"/>
                  <a:pt x="228243" y="177107"/>
                  <a:pt x="228243" y="114122"/>
                </a:cubicBezTo>
                <a:cubicBezTo>
                  <a:pt x="228243" y="51136"/>
                  <a:pt x="177107" y="0"/>
                  <a:pt x="114122" y="0"/>
                </a:cubicBezTo>
                <a:cubicBezTo>
                  <a:pt x="51136" y="0"/>
                  <a:pt x="0" y="51136"/>
                  <a:pt x="0" y="114122"/>
                </a:cubicBezTo>
                <a:cubicBezTo>
                  <a:pt x="0" y="177107"/>
                  <a:pt x="51136" y="228243"/>
                  <a:pt x="114122" y="228243"/>
                </a:cubicBezTo>
                <a:close/>
                <a:moveTo>
                  <a:pt x="114122" y="78459"/>
                </a:moveTo>
                <a:cubicBezTo>
                  <a:pt x="106231" y="78459"/>
                  <a:pt x="99856" y="84833"/>
                  <a:pt x="99856" y="92724"/>
                </a:cubicBezTo>
                <a:cubicBezTo>
                  <a:pt x="99856" y="98653"/>
                  <a:pt x="95087" y="103423"/>
                  <a:pt x="89158" y="103423"/>
                </a:cubicBezTo>
                <a:cubicBezTo>
                  <a:pt x="83229" y="103423"/>
                  <a:pt x="78459" y="98653"/>
                  <a:pt x="78459" y="92724"/>
                </a:cubicBezTo>
                <a:cubicBezTo>
                  <a:pt x="78459" y="73020"/>
                  <a:pt x="94418" y="57061"/>
                  <a:pt x="114122" y="57061"/>
                </a:cubicBezTo>
                <a:cubicBezTo>
                  <a:pt x="133826" y="57061"/>
                  <a:pt x="149785" y="73020"/>
                  <a:pt x="149785" y="92724"/>
                </a:cubicBezTo>
                <a:cubicBezTo>
                  <a:pt x="149785" y="113765"/>
                  <a:pt x="133736" y="122681"/>
                  <a:pt x="124821" y="125935"/>
                </a:cubicBezTo>
                <a:lnTo>
                  <a:pt x="124821" y="127629"/>
                </a:lnTo>
                <a:cubicBezTo>
                  <a:pt x="124821" y="133558"/>
                  <a:pt x="120051" y="138328"/>
                  <a:pt x="114122" y="138328"/>
                </a:cubicBezTo>
                <a:cubicBezTo>
                  <a:pt x="108193" y="138328"/>
                  <a:pt x="103423" y="133558"/>
                  <a:pt x="103423" y="127629"/>
                </a:cubicBezTo>
                <a:lnTo>
                  <a:pt x="103423" y="124018"/>
                </a:lnTo>
                <a:cubicBezTo>
                  <a:pt x="103423" y="114880"/>
                  <a:pt x="110020" y="108326"/>
                  <a:pt x="116841" y="106098"/>
                </a:cubicBezTo>
                <a:cubicBezTo>
                  <a:pt x="119694" y="105161"/>
                  <a:pt x="122725" y="103646"/>
                  <a:pt x="124954" y="101506"/>
                </a:cubicBezTo>
                <a:cubicBezTo>
                  <a:pt x="126871" y="99634"/>
                  <a:pt x="128387" y="97048"/>
                  <a:pt x="128387" y="92768"/>
                </a:cubicBezTo>
                <a:cubicBezTo>
                  <a:pt x="128387" y="84878"/>
                  <a:pt x="122012" y="78503"/>
                  <a:pt x="114122" y="78503"/>
                </a:cubicBezTo>
                <a:close/>
                <a:moveTo>
                  <a:pt x="99856" y="164050"/>
                </a:moveTo>
                <a:cubicBezTo>
                  <a:pt x="99856" y="156177"/>
                  <a:pt x="106249" y="149785"/>
                  <a:pt x="114122" y="149785"/>
                </a:cubicBezTo>
                <a:cubicBezTo>
                  <a:pt x="121995" y="149785"/>
                  <a:pt x="128387" y="156177"/>
                  <a:pt x="128387" y="164050"/>
                </a:cubicBezTo>
                <a:cubicBezTo>
                  <a:pt x="128387" y="171923"/>
                  <a:pt x="121995" y="178315"/>
                  <a:pt x="114122" y="178315"/>
                </a:cubicBezTo>
                <a:cubicBezTo>
                  <a:pt x="106249" y="178315"/>
                  <a:pt x="99856" y="171923"/>
                  <a:pt x="99856" y="16405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1300987" y="1757477"/>
            <a:ext cx="1236318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7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Pourquoi 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0061" y="2733214"/>
            <a:ext cx="5124064" cy="1148825"/>
          </a:xfrm>
          <a:custGeom>
            <a:avLst/>
            <a:gdLst/>
            <a:ahLst/>
            <a:cxnLst/>
            <a:rect l="l" t="t" r="r" b="b"/>
            <a:pathLst>
              <a:path w="5124064" h="1148825">
                <a:moveTo>
                  <a:pt x="76087" y="0"/>
                </a:moveTo>
                <a:lnTo>
                  <a:pt x="5047977" y="0"/>
                </a:lnTo>
                <a:cubicBezTo>
                  <a:pt x="5089998" y="0"/>
                  <a:pt x="5124064" y="34065"/>
                  <a:pt x="5124064" y="76087"/>
                </a:cubicBezTo>
                <a:lnTo>
                  <a:pt x="5124064" y="1072738"/>
                </a:lnTo>
                <a:cubicBezTo>
                  <a:pt x="5124064" y="1114760"/>
                  <a:pt x="5089998" y="1148825"/>
                  <a:pt x="5047977" y="1148825"/>
                </a:cubicBezTo>
                <a:lnTo>
                  <a:pt x="76087" y="1148825"/>
                </a:lnTo>
                <a:cubicBezTo>
                  <a:pt x="34065" y="1148825"/>
                  <a:pt x="0" y="1114760"/>
                  <a:pt x="0" y="1072738"/>
                </a:cubicBezTo>
                <a:lnTo>
                  <a:pt x="0" y="76087"/>
                </a:lnTo>
                <a:cubicBezTo>
                  <a:pt x="0" y="34093"/>
                  <a:pt x="34093" y="0"/>
                  <a:pt x="7608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Shape 7"/>
          <p:cNvSpPr/>
          <p:nvPr/>
        </p:nvSpPr>
        <p:spPr>
          <a:xfrm>
            <a:off x="776027" y="2889183"/>
            <a:ext cx="380406" cy="380406"/>
          </a:xfrm>
          <a:custGeom>
            <a:avLst/>
            <a:gdLst/>
            <a:ahLst/>
            <a:cxnLst/>
            <a:rect l="l" t="t" r="r" b="b"/>
            <a:pathLst>
              <a:path w="380406" h="380406">
                <a:moveTo>
                  <a:pt x="76081" y="0"/>
                </a:moveTo>
                <a:lnTo>
                  <a:pt x="304324" y="0"/>
                </a:lnTo>
                <a:cubicBezTo>
                  <a:pt x="346343" y="0"/>
                  <a:pt x="380406" y="34063"/>
                  <a:pt x="380406" y="76081"/>
                </a:cubicBezTo>
                <a:lnTo>
                  <a:pt x="380406" y="304324"/>
                </a:lnTo>
                <a:cubicBezTo>
                  <a:pt x="380406" y="346343"/>
                  <a:pt x="346343" y="380406"/>
                  <a:pt x="304324" y="380406"/>
                </a:cubicBezTo>
                <a:lnTo>
                  <a:pt x="76081" y="380406"/>
                </a:lnTo>
                <a:cubicBezTo>
                  <a:pt x="34063" y="380406"/>
                  <a:pt x="0" y="346343"/>
                  <a:pt x="0" y="304324"/>
                </a:cubicBezTo>
                <a:lnTo>
                  <a:pt x="0" y="76081"/>
                </a:lnTo>
                <a:cubicBezTo>
                  <a:pt x="0" y="34091"/>
                  <a:pt x="34091" y="0"/>
                  <a:pt x="7608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0" name="Shape 8"/>
          <p:cNvSpPr/>
          <p:nvPr/>
        </p:nvSpPr>
        <p:spPr>
          <a:xfrm>
            <a:off x="893715" y="2993795"/>
            <a:ext cx="149785" cy="171183"/>
          </a:xfrm>
          <a:custGeom>
            <a:avLst/>
            <a:gdLst/>
            <a:ahLst/>
            <a:cxnLst/>
            <a:rect l="l" t="t" r="r" b="b"/>
            <a:pathLst>
              <a:path w="149785" h="171183">
                <a:moveTo>
                  <a:pt x="53495" y="21398"/>
                </a:moveTo>
                <a:cubicBezTo>
                  <a:pt x="53495" y="15480"/>
                  <a:pt x="48713" y="10699"/>
                  <a:pt x="42796" y="10699"/>
                </a:cubicBezTo>
                <a:cubicBezTo>
                  <a:pt x="36878" y="10699"/>
                  <a:pt x="32097" y="15480"/>
                  <a:pt x="32097" y="21398"/>
                </a:cubicBezTo>
                <a:lnTo>
                  <a:pt x="32097" y="42796"/>
                </a:lnTo>
                <a:lnTo>
                  <a:pt x="10699" y="42796"/>
                </a:lnTo>
                <a:cubicBezTo>
                  <a:pt x="4781" y="42796"/>
                  <a:pt x="0" y="47577"/>
                  <a:pt x="0" y="53495"/>
                </a:cubicBezTo>
                <a:cubicBezTo>
                  <a:pt x="0" y="59412"/>
                  <a:pt x="4781" y="64193"/>
                  <a:pt x="10699" y="64193"/>
                </a:cubicBezTo>
                <a:lnTo>
                  <a:pt x="42796" y="64193"/>
                </a:lnTo>
                <a:cubicBezTo>
                  <a:pt x="48713" y="64193"/>
                  <a:pt x="53495" y="59412"/>
                  <a:pt x="53495" y="53495"/>
                </a:cubicBezTo>
                <a:lnTo>
                  <a:pt x="53495" y="21398"/>
                </a:lnTo>
                <a:close/>
                <a:moveTo>
                  <a:pt x="10699" y="106989"/>
                </a:moveTo>
                <a:cubicBezTo>
                  <a:pt x="4781" y="106989"/>
                  <a:pt x="0" y="111770"/>
                  <a:pt x="0" y="117688"/>
                </a:cubicBezTo>
                <a:cubicBezTo>
                  <a:pt x="0" y="123606"/>
                  <a:pt x="4781" y="128387"/>
                  <a:pt x="10699" y="128387"/>
                </a:cubicBezTo>
                <a:lnTo>
                  <a:pt x="32097" y="128387"/>
                </a:lnTo>
                <a:lnTo>
                  <a:pt x="32097" y="149785"/>
                </a:lnTo>
                <a:cubicBezTo>
                  <a:pt x="32097" y="155703"/>
                  <a:pt x="36878" y="160484"/>
                  <a:pt x="42796" y="160484"/>
                </a:cubicBezTo>
                <a:cubicBezTo>
                  <a:pt x="48713" y="160484"/>
                  <a:pt x="53495" y="155703"/>
                  <a:pt x="53495" y="149785"/>
                </a:cubicBezTo>
                <a:lnTo>
                  <a:pt x="53495" y="117688"/>
                </a:lnTo>
                <a:cubicBezTo>
                  <a:pt x="53495" y="111770"/>
                  <a:pt x="48713" y="106989"/>
                  <a:pt x="42796" y="106989"/>
                </a:cubicBezTo>
                <a:lnTo>
                  <a:pt x="10699" y="106989"/>
                </a:lnTo>
                <a:close/>
                <a:moveTo>
                  <a:pt x="117688" y="21398"/>
                </a:moveTo>
                <a:cubicBezTo>
                  <a:pt x="117688" y="15480"/>
                  <a:pt x="112907" y="10699"/>
                  <a:pt x="106989" y="10699"/>
                </a:cubicBezTo>
                <a:cubicBezTo>
                  <a:pt x="101071" y="10699"/>
                  <a:pt x="96290" y="15480"/>
                  <a:pt x="96290" y="21398"/>
                </a:cubicBezTo>
                <a:lnTo>
                  <a:pt x="96290" y="53495"/>
                </a:lnTo>
                <a:cubicBezTo>
                  <a:pt x="96290" y="59412"/>
                  <a:pt x="101071" y="64193"/>
                  <a:pt x="106989" y="64193"/>
                </a:cubicBezTo>
                <a:lnTo>
                  <a:pt x="139086" y="64193"/>
                </a:lnTo>
                <a:cubicBezTo>
                  <a:pt x="145004" y="64193"/>
                  <a:pt x="149785" y="59412"/>
                  <a:pt x="149785" y="53495"/>
                </a:cubicBezTo>
                <a:cubicBezTo>
                  <a:pt x="149785" y="47577"/>
                  <a:pt x="145004" y="42796"/>
                  <a:pt x="139086" y="42796"/>
                </a:cubicBezTo>
                <a:lnTo>
                  <a:pt x="117688" y="42796"/>
                </a:lnTo>
                <a:lnTo>
                  <a:pt x="117688" y="21398"/>
                </a:lnTo>
                <a:close/>
                <a:moveTo>
                  <a:pt x="106989" y="106989"/>
                </a:moveTo>
                <a:cubicBezTo>
                  <a:pt x="101071" y="106989"/>
                  <a:pt x="96290" y="111770"/>
                  <a:pt x="96290" y="117688"/>
                </a:cubicBezTo>
                <a:lnTo>
                  <a:pt x="96290" y="149785"/>
                </a:lnTo>
                <a:cubicBezTo>
                  <a:pt x="96290" y="155703"/>
                  <a:pt x="101071" y="160484"/>
                  <a:pt x="106989" y="160484"/>
                </a:cubicBezTo>
                <a:cubicBezTo>
                  <a:pt x="112907" y="160484"/>
                  <a:pt x="117688" y="155703"/>
                  <a:pt x="117688" y="149785"/>
                </a:cubicBezTo>
                <a:lnTo>
                  <a:pt x="117688" y="128387"/>
                </a:lnTo>
                <a:lnTo>
                  <a:pt x="139086" y="128387"/>
                </a:lnTo>
                <a:cubicBezTo>
                  <a:pt x="145004" y="128387"/>
                  <a:pt x="149785" y="123606"/>
                  <a:pt x="149785" y="117688"/>
                </a:cubicBezTo>
                <a:cubicBezTo>
                  <a:pt x="149785" y="111770"/>
                  <a:pt x="145004" y="106989"/>
                  <a:pt x="139086" y="106989"/>
                </a:cubicBezTo>
                <a:lnTo>
                  <a:pt x="106989" y="106989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1270555" y="2889183"/>
            <a:ext cx="4403195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Réduction de la complexité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555" y="3231548"/>
            <a:ext cx="4393685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Passage de </a:t>
            </a:r>
            <a:r>
              <a:rPr lang="en-US" sz="1198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36 variables</a:t>
            </a: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à </a:t>
            </a:r>
            <a:r>
              <a:rPr lang="en-US" sz="1198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 variables</a:t>
            </a: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essentielles pour simplifier le modèle.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0061" y="4041811"/>
            <a:ext cx="5124064" cy="1148825"/>
          </a:xfrm>
          <a:custGeom>
            <a:avLst/>
            <a:gdLst/>
            <a:ahLst/>
            <a:cxnLst/>
            <a:rect l="l" t="t" r="r" b="b"/>
            <a:pathLst>
              <a:path w="5124064" h="1148825">
                <a:moveTo>
                  <a:pt x="76087" y="0"/>
                </a:moveTo>
                <a:lnTo>
                  <a:pt x="5047977" y="0"/>
                </a:lnTo>
                <a:cubicBezTo>
                  <a:pt x="5089998" y="0"/>
                  <a:pt x="5124064" y="34065"/>
                  <a:pt x="5124064" y="76087"/>
                </a:cubicBezTo>
                <a:lnTo>
                  <a:pt x="5124064" y="1072738"/>
                </a:lnTo>
                <a:cubicBezTo>
                  <a:pt x="5124064" y="1114760"/>
                  <a:pt x="5089998" y="1148825"/>
                  <a:pt x="5047977" y="1148825"/>
                </a:cubicBezTo>
                <a:lnTo>
                  <a:pt x="76087" y="1148825"/>
                </a:lnTo>
                <a:cubicBezTo>
                  <a:pt x="34065" y="1148825"/>
                  <a:pt x="0" y="1114760"/>
                  <a:pt x="0" y="1072738"/>
                </a:cubicBezTo>
                <a:lnTo>
                  <a:pt x="0" y="76087"/>
                </a:lnTo>
                <a:cubicBezTo>
                  <a:pt x="0" y="34093"/>
                  <a:pt x="34093" y="0"/>
                  <a:pt x="7608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Shape 12"/>
          <p:cNvSpPr/>
          <p:nvPr/>
        </p:nvSpPr>
        <p:spPr>
          <a:xfrm>
            <a:off x="776027" y="4197775"/>
            <a:ext cx="380406" cy="380406"/>
          </a:xfrm>
          <a:custGeom>
            <a:avLst/>
            <a:gdLst/>
            <a:ahLst/>
            <a:cxnLst/>
            <a:rect l="l" t="t" r="r" b="b"/>
            <a:pathLst>
              <a:path w="380406" h="380406">
                <a:moveTo>
                  <a:pt x="76081" y="0"/>
                </a:moveTo>
                <a:lnTo>
                  <a:pt x="304324" y="0"/>
                </a:lnTo>
                <a:cubicBezTo>
                  <a:pt x="346343" y="0"/>
                  <a:pt x="380406" y="34063"/>
                  <a:pt x="380406" y="76081"/>
                </a:cubicBezTo>
                <a:lnTo>
                  <a:pt x="380406" y="304324"/>
                </a:lnTo>
                <a:cubicBezTo>
                  <a:pt x="380406" y="346343"/>
                  <a:pt x="346343" y="380406"/>
                  <a:pt x="304324" y="380406"/>
                </a:cubicBezTo>
                <a:lnTo>
                  <a:pt x="76081" y="380406"/>
                </a:lnTo>
                <a:cubicBezTo>
                  <a:pt x="34063" y="380406"/>
                  <a:pt x="0" y="346343"/>
                  <a:pt x="0" y="304324"/>
                </a:cubicBezTo>
                <a:lnTo>
                  <a:pt x="0" y="76081"/>
                </a:lnTo>
                <a:cubicBezTo>
                  <a:pt x="0" y="34091"/>
                  <a:pt x="34091" y="0"/>
                  <a:pt x="76081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Shape 13"/>
          <p:cNvSpPr/>
          <p:nvPr/>
        </p:nvSpPr>
        <p:spPr>
          <a:xfrm>
            <a:off x="883017" y="4302387"/>
            <a:ext cx="171183" cy="171183"/>
          </a:xfrm>
          <a:custGeom>
            <a:avLst/>
            <a:gdLst/>
            <a:ahLst/>
            <a:cxnLst/>
            <a:rect l="l" t="t" r="r" b="b"/>
            <a:pathLst>
              <a:path w="171183" h="171183">
                <a:moveTo>
                  <a:pt x="85591" y="0"/>
                </a:moveTo>
                <a:cubicBezTo>
                  <a:pt x="90506" y="0"/>
                  <a:pt x="95020" y="2708"/>
                  <a:pt x="97360" y="7021"/>
                </a:cubicBezTo>
                <a:lnTo>
                  <a:pt x="169578" y="140758"/>
                </a:lnTo>
                <a:cubicBezTo>
                  <a:pt x="171818" y="144903"/>
                  <a:pt x="171717" y="149918"/>
                  <a:pt x="169310" y="153964"/>
                </a:cubicBezTo>
                <a:cubicBezTo>
                  <a:pt x="166903" y="158009"/>
                  <a:pt x="162523" y="160484"/>
                  <a:pt x="157809" y="160484"/>
                </a:cubicBezTo>
                <a:lnTo>
                  <a:pt x="13374" y="160484"/>
                </a:lnTo>
                <a:cubicBezTo>
                  <a:pt x="8659" y="160484"/>
                  <a:pt x="4313" y="158009"/>
                  <a:pt x="1872" y="153964"/>
                </a:cubicBezTo>
                <a:cubicBezTo>
                  <a:pt x="-568" y="149918"/>
                  <a:pt x="-635" y="144903"/>
                  <a:pt x="1605" y="140758"/>
                </a:cubicBezTo>
                <a:lnTo>
                  <a:pt x="73822" y="7021"/>
                </a:lnTo>
                <a:cubicBezTo>
                  <a:pt x="76163" y="2708"/>
                  <a:pt x="80676" y="0"/>
                  <a:pt x="85591" y="0"/>
                </a:cubicBezTo>
                <a:close/>
                <a:moveTo>
                  <a:pt x="85591" y="56169"/>
                </a:moveTo>
                <a:cubicBezTo>
                  <a:pt x="81145" y="56169"/>
                  <a:pt x="77567" y="59747"/>
                  <a:pt x="77567" y="64193"/>
                </a:cubicBezTo>
                <a:lnTo>
                  <a:pt x="77567" y="101640"/>
                </a:lnTo>
                <a:cubicBezTo>
                  <a:pt x="77567" y="106086"/>
                  <a:pt x="81145" y="109664"/>
                  <a:pt x="85591" y="109664"/>
                </a:cubicBezTo>
                <a:cubicBezTo>
                  <a:pt x="90038" y="109664"/>
                  <a:pt x="93615" y="106086"/>
                  <a:pt x="93615" y="101640"/>
                </a:cubicBezTo>
                <a:lnTo>
                  <a:pt x="93615" y="64193"/>
                </a:lnTo>
                <a:cubicBezTo>
                  <a:pt x="93615" y="59747"/>
                  <a:pt x="90038" y="56169"/>
                  <a:pt x="85591" y="56169"/>
                </a:cubicBezTo>
                <a:close/>
                <a:moveTo>
                  <a:pt x="94518" y="128387"/>
                </a:moveTo>
                <a:cubicBezTo>
                  <a:pt x="94721" y="125073"/>
                  <a:pt x="93069" y="121921"/>
                  <a:pt x="90228" y="120203"/>
                </a:cubicBezTo>
                <a:cubicBezTo>
                  <a:pt x="87388" y="118484"/>
                  <a:pt x="83828" y="118484"/>
                  <a:pt x="80988" y="120203"/>
                </a:cubicBezTo>
                <a:cubicBezTo>
                  <a:pt x="78147" y="121921"/>
                  <a:pt x="76495" y="125073"/>
                  <a:pt x="76698" y="128387"/>
                </a:cubicBezTo>
                <a:cubicBezTo>
                  <a:pt x="76495" y="131700"/>
                  <a:pt x="78147" y="134853"/>
                  <a:pt x="80988" y="136571"/>
                </a:cubicBezTo>
                <a:cubicBezTo>
                  <a:pt x="83828" y="138289"/>
                  <a:pt x="87388" y="138289"/>
                  <a:pt x="90228" y="136571"/>
                </a:cubicBezTo>
                <a:cubicBezTo>
                  <a:pt x="93069" y="134853"/>
                  <a:pt x="94721" y="131700"/>
                  <a:pt x="94518" y="128387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Text 14"/>
          <p:cNvSpPr/>
          <p:nvPr/>
        </p:nvSpPr>
        <p:spPr>
          <a:xfrm>
            <a:off x="1270555" y="4197775"/>
            <a:ext cx="4403195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Éviter le surapprentissage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0555" y="4540140"/>
            <a:ext cx="4393685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Réduction du risque d'</a:t>
            </a:r>
            <a:r>
              <a:rPr lang="en-US" sz="1198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overfitting</a:t>
            </a: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éliminant les variables redondantes ou bruitées.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0061" y="5350407"/>
            <a:ext cx="5124064" cy="901561"/>
          </a:xfrm>
          <a:custGeom>
            <a:avLst/>
            <a:gdLst/>
            <a:ahLst/>
            <a:cxnLst/>
            <a:rect l="l" t="t" r="r" b="b"/>
            <a:pathLst>
              <a:path w="5124064" h="901561">
                <a:moveTo>
                  <a:pt x="76083" y="0"/>
                </a:moveTo>
                <a:lnTo>
                  <a:pt x="5047981" y="0"/>
                </a:lnTo>
                <a:cubicBezTo>
                  <a:pt x="5090000" y="0"/>
                  <a:pt x="5124064" y="34063"/>
                  <a:pt x="5124064" y="76083"/>
                </a:cubicBezTo>
                <a:lnTo>
                  <a:pt x="5124064" y="825479"/>
                </a:lnTo>
                <a:cubicBezTo>
                  <a:pt x="5124064" y="867498"/>
                  <a:pt x="5090000" y="901561"/>
                  <a:pt x="5047981" y="901561"/>
                </a:cubicBezTo>
                <a:lnTo>
                  <a:pt x="76083" y="901561"/>
                </a:lnTo>
                <a:cubicBezTo>
                  <a:pt x="34063" y="901561"/>
                  <a:pt x="0" y="867498"/>
                  <a:pt x="0" y="825479"/>
                </a:cubicBezTo>
                <a:lnTo>
                  <a:pt x="0" y="76083"/>
                </a:lnTo>
                <a:cubicBezTo>
                  <a:pt x="0" y="34092"/>
                  <a:pt x="34092" y="0"/>
                  <a:pt x="76083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Shape 17"/>
          <p:cNvSpPr/>
          <p:nvPr/>
        </p:nvSpPr>
        <p:spPr>
          <a:xfrm>
            <a:off x="776027" y="5506371"/>
            <a:ext cx="380406" cy="380406"/>
          </a:xfrm>
          <a:custGeom>
            <a:avLst/>
            <a:gdLst/>
            <a:ahLst/>
            <a:cxnLst/>
            <a:rect l="l" t="t" r="r" b="b"/>
            <a:pathLst>
              <a:path w="380406" h="380406">
                <a:moveTo>
                  <a:pt x="76081" y="0"/>
                </a:moveTo>
                <a:lnTo>
                  <a:pt x="304324" y="0"/>
                </a:lnTo>
                <a:cubicBezTo>
                  <a:pt x="346343" y="0"/>
                  <a:pt x="380406" y="34063"/>
                  <a:pt x="380406" y="76081"/>
                </a:cubicBezTo>
                <a:lnTo>
                  <a:pt x="380406" y="304324"/>
                </a:lnTo>
                <a:cubicBezTo>
                  <a:pt x="380406" y="346343"/>
                  <a:pt x="346343" y="380406"/>
                  <a:pt x="304324" y="380406"/>
                </a:cubicBezTo>
                <a:lnTo>
                  <a:pt x="76081" y="380406"/>
                </a:lnTo>
                <a:cubicBezTo>
                  <a:pt x="34063" y="380406"/>
                  <a:pt x="0" y="346343"/>
                  <a:pt x="0" y="304324"/>
                </a:cubicBezTo>
                <a:lnTo>
                  <a:pt x="0" y="76081"/>
                </a:lnTo>
                <a:cubicBezTo>
                  <a:pt x="0" y="34091"/>
                  <a:pt x="34091" y="0"/>
                  <a:pt x="7608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Shape 18"/>
          <p:cNvSpPr/>
          <p:nvPr/>
        </p:nvSpPr>
        <p:spPr>
          <a:xfrm>
            <a:off x="883017" y="5610983"/>
            <a:ext cx="171183" cy="171183"/>
          </a:xfrm>
          <a:custGeom>
            <a:avLst/>
            <a:gdLst/>
            <a:ahLst/>
            <a:cxnLst/>
            <a:rect l="l" t="t" r="r" b="b"/>
            <a:pathLst>
              <a:path w="171183" h="171183">
                <a:moveTo>
                  <a:pt x="0" y="85591"/>
                </a:moveTo>
                <a:cubicBezTo>
                  <a:pt x="0" y="38352"/>
                  <a:pt x="38352" y="0"/>
                  <a:pt x="85591" y="0"/>
                </a:cubicBezTo>
                <a:cubicBezTo>
                  <a:pt x="132830" y="0"/>
                  <a:pt x="171183" y="38352"/>
                  <a:pt x="171183" y="85591"/>
                </a:cubicBezTo>
                <a:cubicBezTo>
                  <a:pt x="171183" y="132830"/>
                  <a:pt x="132830" y="171183"/>
                  <a:pt x="85591" y="171183"/>
                </a:cubicBezTo>
                <a:cubicBezTo>
                  <a:pt x="38352" y="171183"/>
                  <a:pt x="0" y="132830"/>
                  <a:pt x="0" y="85591"/>
                </a:cubicBezTo>
                <a:close/>
                <a:moveTo>
                  <a:pt x="96290" y="32097"/>
                </a:moveTo>
                <a:cubicBezTo>
                  <a:pt x="96290" y="26192"/>
                  <a:pt x="91496" y="21398"/>
                  <a:pt x="85591" y="21398"/>
                </a:cubicBezTo>
                <a:cubicBezTo>
                  <a:pt x="79686" y="21398"/>
                  <a:pt x="74892" y="26192"/>
                  <a:pt x="74892" y="32097"/>
                </a:cubicBezTo>
                <a:cubicBezTo>
                  <a:pt x="74892" y="38002"/>
                  <a:pt x="79686" y="42796"/>
                  <a:pt x="85591" y="42796"/>
                </a:cubicBezTo>
                <a:cubicBezTo>
                  <a:pt x="91496" y="42796"/>
                  <a:pt x="96290" y="38002"/>
                  <a:pt x="96290" y="32097"/>
                </a:cubicBezTo>
                <a:close/>
                <a:moveTo>
                  <a:pt x="85591" y="139086"/>
                </a:moveTo>
                <a:cubicBezTo>
                  <a:pt x="97393" y="139086"/>
                  <a:pt x="106989" y="129490"/>
                  <a:pt x="106989" y="117688"/>
                </a:cubicBezTo>
                <a:cubicBezTo>
                  <a:pt x="106989" y="112272"/>
                  <a:pt x="104983" y="107290"/>
                  <a:pt x="101640" y="103545"/>
                </a:cubicBezTo>
                <a:lnTo>
                  <a:pt x="124876" y="57105"/>
                </a:lnTo>
                <a:cubicBezTo>
                  <a:pt x="126849" y="53127"/>
                  <a:pt x="125244" y="48312"/>
                  <a:pt x="121299" y="46340"/>
                </a:cubicBezTo>
                <a:cubicBezTo>
                  <a:pt x="117354" y="44367"/>
                  <a:pt x="112506" y="45972"/>
                  <a:pt x="110533" y="49917"/>
                </a:cubicBezTo>
                <a:lnTo>
                  <a:pt x="87296" y="96357"/>
                </a:lnTo>
                <a:cubicBezTo>
                  <a:pt x="86728" y="96324"/>
                  <a:pt x="86160" y="96290"/>
                  <a:pt x="85591" y="96290"/>
                </a:cubicBezTo>
                <a:cubicBezTo>
                  <a:pt x="73789" y="96290"/>
                  <a:pt x="64193" y="105886"/>
                  <a:pt x="64193" y="117688"/>
                </a:cubicBezTo>
                <a:cubicBezTo>
                  <a:pt x="64193" y="129490"/>
                  <a:pt x="73789" y="139086"/>
                  <a:pt x="85591" y="139086"/>
                </a:cubicBezTo>
                <a:close/>
                <a:moveTo>
                  <a:pt x="58844" y="48145"/>
                </a:moveTo>
                <a:cubicBezTo>
                  <a:pt x="58844" y="42240"/>
                  <a:pt x="54050" y="37446"/>
                  <a:pt x="48145" y="37446"/>
                </a:cubicBezTo>
                <a:cubicBezTo>
                  <a:pt x="42240" y="37446"/>
                  <a:pt x="37446" y="42240"/>
                  <a:pt x="37446" y="48145"/>
                </a:cubicBezTo>
                <a:cubicBezTo>
                  <a:pt x="37446" y="54050"/>
                  <a:pt x="42240" y="58844"/>
                  <a:pt x="48145" y="58844"/>
                </a:cubicBezTo>
                <a:cubicBezTo>
                  <a:pt x="54050" y="58844"/>
                  <a:pt x="58844" y="54050"/>
                  <a:pt x="58844" y="48145"/>
                </a:cubicBezTo>
                <a:close/>
                <a:moveTo>
                  <a:pt x="32097" y="96290"/>
                </a:moveTo>
                <a:cubicBezTo>
                  <a:pt x="38002" y="96290"/>
                  <a:pt x="42796" y="91496"/>
                  <a:pt x="42796" y="85591"/>
                </a:cubicBezTo>
                <a:cubicBezTo>
                  <a:pt x="42796" y="79686"/>
                  <a:pt x="38002" y="74892"/>
                  <a:pt x="32097" y="74892"/>
                </a:cubicBezTo>
                <a:cubicBezTo>
                  <a:pt x="26192" y="74892"/>
                  <a:pt x="21398" y="79686"/>
                  <a:pt x="21398" y="85591"/>
                </a:cubicBezTo>
                <a:cubicBezTo>
                  <a:pt x="21398" y="91496"/>
                  <a:pt x="26192" y="96290"/>
                  <a:pt x="32097" y="96290"/>
                </a:cubicBezTo>
                <a:close/>
                <a:moveTo>
                  <a:pt x="149785" y="85591"/>
                </a:moveTo>
                <a:cubicBezTo>
                  <a:pt x="149785" y="79686"/>
                  <a:pt x="144991" y="74892"/>
                  <a:pt x="139086" y="74892"/>
                </a:cubicBezTo>
                <a:cubicBezTo>
                  <a:pt x="133181" y="74892"/>
                  <a:pt x="128387" y="79686"/>
                  <a:pt x="128387" y="85591"/>
                </a:cubicBezTo>
                <a:cubicBezTo>
                  <a:pt x="128387" y="91496"/>
                  <a:pt x="133181" y="96290"/>
                  <a:pt x="139086" y="96290"/>
                </a:cubicBezTo>
                <a:cubicBezTo>
                  <a:pt x="144991" y="96290"/>
                  <a:pt x="149785" y="91496"/>
                  <a:pt x="149785" y="85591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1270555" y="5506371"/>
            <a:ext cx="4127401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Amélioration des performances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0555" y="5848736"/>
            <a:ext cx="4117891" cy="24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Temps d'entraînement </a:t>
            </a:r>
            <a:r>
              <a:rPr lang="en-US" sz="1198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réduit</a:t>
            </a: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et interprétabilité </a:t>
            </a:r>
            <a:r>
              <a:rPr lang="en-US" sz="1198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améliorée</a:t>
            </a: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2856" y="1411305"/>
            <a:ext cx="5590061" cy="5437898"/>
          </a:xfrm>
          <a:custGeom>
            <a:avLst/>
            <a:gdLst/>
            <a:ahLst/>
            <a:cxnLst/>
            <a:rect l="l" t="t" r="r" b="b"/>
            <a:pathLst>
              <a:path w="5590061" h="5437898">
                <a:moveTo>
                  <a:pt x="114141" y="0"/>
                </a:moveTo>
                <a:lnTo>
                  <a:pt x="5475919" y="0"/>
                </a:lnTo>
                <a:cubicBezTo>
                  <a:pt x="5538915" y="0"/>
                  <a:pt x="5590061" y="51145"/>
                  <a:pt x="5590061" y="114141"/>
                </a:cubicBezTo>
                <a:lnTo>
                  <a:pt x="5590061" y="5323757"/>
                </a:lnTo>
                <a:cubicBezTo>
                  <a:pt x="5590061" y="5386753"/>
                  <a:pt x="5538915" y="5437898"/>
                  <a:pt x="5475919" y="5437898"/>
                </a:cubicBezTo>
                <a:lnTo>
                  <a:pt x="114141" y="5437898"/>
                </a:lnTo>
                <a:cubicBezTo>
                  <a:pt x="51145" y="5437898"/>
                  <a:pt x="0" y="5386753"/>
                  <a:pt x="0" y="5323757"/>
                </a:cubicBezTo>
                <a:lnTo>
                  <a:pt x="0" y="114141"/>
                </a:lnTo>
                <a:cubicBezTo>
                  <a:pt x="0" y="51145"/>
                  <a:pt x="51145" y="0"/>
                  <a:pt x="11414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4" name="Shape 22"/>
          <p:cNvSpPr/>
          <p:nvPr/>
        </p:nvSpPr>
        <p:spPr>
          <a:xfrm>
            <a:off x="6406863" y="1605314"/>
            <a:ext cx="532568" cy="532568"/>
          </a:xfrm>
          <a:custGeom>
            <a:avLst/>
            <a:gdLst/>
            <a:ahLst/>
            <a:cxnLst/>
            <a:rect l="l" t="t" r="r" b="b"/>
            <a:pathLst>
              <a:path w="532568" h="532568">
                <a:moveTo>
                  <a:pt x="76083" y="0"/>
                </a:moveTo>
                <a:lnTo>
                  <a:pt x="456485" y="0"/>
                </a:lnTo>
                <a:cubicBezTo>
                  <a:pt x="498505" y="0"/>
                  <a:pt x="532568" y="34063"/>
                  <a:pt x="532568" y="76083"/>
                </a:cubicBezTo>
                <a:lnTo>
                  <a:pt x="532568" y="456485"/>
                </a:lnTo>
                <a:cubicBezTo>
                  <a:pt x="532568" y="498505"/>
                  <a:pt x="498505" y="532568"/>
                  <a:pt x="456485" y="532568"/>
                </a:cubicBezTo>
                <a:lnTo>
                  <a:pt x="76083" y="532568"/>
                </a:lnTo>
                <a:cubicBezTo>
                  <a:pt x="34063" y="532568"/>
                  <a:pt x="0" y="498505"/>
                  <a:pt x="0" y="456485"/>
                </a:cubicBezTo>
                <a:lnTo>
                  <a:pt x="0" y="76083"/>
                </a:lnTo>
                <a:cubicBezTo>
                  <a:pt x="0" y="34091"/>
                  <a:pt x="34091" y="0"/>
                  <a:pt x="7608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Shape 23"/>
          <p:cNvSpPr/>
          <p:nvPr/>
        </p:nvSpPr>
        <p:spPr>
          <a:xfrm>
            <a:off x="6530495" y="1757477"/>
            <a:ext cx="285304" cy="228243"/>
          </a:xfrm>
          <a:custGeom>
            <a:avLst/>
            <a:gdLst/>
            <a:ahLst/>
            <a:cxnLst/>
            <a:rect l="l" t="t" r="r" b="b"/>
            <a:pathLst>
              <a:path w="285304" h="228243">
                <a:moveTo>
                  <a:pt x="185403" y="93838"/>
                </a:moveTo>
                <a:cubicBezTo>
                  <a:pt x="190842" y="92367"/>
                  <a:pt x="196548" y="94953"/>
                  <a:pt x="199000" y="99990"/>
                </a:cubicBezTo>
                <a:lnTo>
                  <a:pt x="207291" y="116752"/>
                </a:lnTo>
                <a:cubicBezTo>
                  <a:pt x="211883" y="117376"/>
                  <a:pt x="216385" y="118624"/>
                  <a:pt x="220620" y="120363"/>
                </a:cubicBezTo>
                <a:lnTo>
                  <a:pt x="236223" y="109976"/>
                </a:lnTo>
                <a:cubicBezTo>
                  <a:pt x="240904" y="106855"/>
                  <a:pt x="247100" y="107479"/>
                  <a:pt x="251068" y="111447"/>
                </a:cubicBezTo>
                <a:lnTo>
                  <a:pt x="259627" y="120006"/>
                </a:lnTo>
                <a:cubicBezTo>
                  <a:pt x="263594" y="123974"/>
                  <a:pt x="264218" y="130215"/>
                  <a:pt x="261098" y="134851"/>
                </a:cubicBezTo>
                <a:lnTo>
                  <a:pt x="250711" y="150409"/>
                </a:lnTo>
                <a:cubicBezTo>
                  <a:pt x="251558" y="152504"/>
                  <a:pt x="252316" y="154688"/>
                  <a:pt x="252940" y="156962"/>
                </a:cubicBezTo>
                <a:cubicBezTo>
                  <a:pt x="253564" y="159235"/>
                  <a:pt x="253965" y="161464"/>
                  <a:pt x="254277" y="163738"/>
                </a:cubicBezTo>
                <a:lnTo>
                  <a:pt x="271084" y="172030"/>
                </a:lnTo>
                <a:cubicBezTo>
                  <a:pt x="276121" y="174526"/>
                  <a:pt x="278707" y="180232"/>
                  <a:pt x="277235" y="185626"/>
                </a:cubicBezTo>
                <a:lnTo>
                  <a:pt x="274115" y="197306"/>
                </a:lnTo>
                <a:cubicBezTo>
                  <a:pt x="272644" y="202700"/>
                  <a:pt x="267606" y="206355"/>
                  <a:pt x="261990" y="205999"/>
                </a:cubicBezTo>
                <a:lnTo>
                  <a:pt x="243266" y="204795"/>
                </a:lnTo>
                <a:cubicBezTo>
                  <a:pt x="240458" y="208406"/>
                  <a:pt x="237204" y="211749"/>
                  <a:pt x="233504" y="214602"/>
                </a:cubicBezTo>
                <a:lnTo>
                  <a:pt x="234707" y="233281"/>
                </a:lnTo>
                <a:cubicBezTo>
                  <a:pt x="235064" y="238898"/>
                  <a:pt x="231408" y="243980"/>
                  <a:pt x="226014" y="245406"/>
                </a:cubicBezTo>
                <a:lnTo>
                  <a:pt x="214335" y="248527"/>
                </a:lnTo>
                <a:cubicBezTo>
                  <a:pt x="208896" y="249998"/>
                  <a:pt x="203235" y="247412"/>
                  <a:pt x="200738" y="242375"/>
                </a:cubicBezTo>
                <a:lnTo>
                  <a:pt x="192447" y="225613"/>
                </a:lnTo>
                <a:cubicBezTo>
                  <a:pt x="187855" y="224989"/>
                  <a:pt x="183353" y="223741"/>
                  <a:pt x="179118" y="222002"/>
                </a:cubicBezTo>
                <a:lnTo>
                  <a:pt x="163515" y="232389"/>
                </a:lnTo>
                <a:cubicBezTo>
                  <a:pt x="158834" y="235510"/>
                  <a:pt x="152638" y="234886"/>
                  <a:pt x="148670" y="230918"/>
                </a:cubicBezTo>
                <a:lnTo>
                  <a:pt x="140111" y="222359"/>
                </a:lnTo>
                <a:cubicBezTo>
                  <a:pt x="136144" y="218391"/>
                  <a:pt x="135520" y="212195"/>
                  <a:pt x="138640" y="207514"/>
                </a:cubicBezTo>
                <a:lnTo>
                  <a:pt x="149027" y="191912"/>
                </a:lnTo>
                <a:cubicBezTo>
                  <a:pt x="148180" y="189816"/>
                  <a:pt x="147422" y="187632"/>
                  <a:pt x="146798" y="185359"/>
                </a:cubicBezTo>
                <a:cubicBezTo>
                  <a:pt x="146174" y="183085"/>
                  <a:pt x="145773" y="180812"/>
                  <a:pt x="145461" y="178583"/>
                </a:cubicBezTo>
                <a:lnTo>
                  <a:pt x="128654" y="170291"/>
                </a:lnTo>
                <a:cubicBezTo>
                  <a:pt x="123617" y="167795"/>
                  <a:pt x="121076" y="162088"/>
                  <a:pt x="122502" y="156694"/>
                </a:cubicBezTo>
                <a:lnTo>
                  <a:pt x="125623" y="145015"/>
                </a:lnTo>
                <a:cubicBezTo>
                  <a:pt x="127094" y="139621"/>
                  <a:pt x="132132" y="135965"/>
                  <a:pt x="137748" y="136322"/>
                </a:cubicBezTo>
                <a:lnTo>
                  <a:pt x="156427" y="137526"/>
                </a:lnTo>
                <a:cubicBezTo>
                  <a:pt x="159235" y="133915"/>
                  <a:pt x="162490" y="130571"/>
                  <a:pt x="166190" y="127718"/>
                </a:cubicBezTo>
                <a:lnTo>
                  <a:pt x="164986" y="109084"/>
                </a:lnTo>
                <a:cubicBezTo>
                  <a:pt x="164629" y="103467"/>
                  <a:pt x="168285" y="98385"/>
                  <a:pt x="173679" y="96959"/>
                </a:cubicBezTo>
                <a:lnTo>
                  <a:pt x="185359" y="93838"/>
                </a:lnTo>
                <a:close/>
                <a:moveTo>
                  <a:pt x="199891" y="151568"/>
                </a:moveTo>
                <a:cubicBezTo>
                  <a:pt x="189066" y="151580"/>
                  <a:pt x="180287" y="160379"/>
                  <a:pt x="180299" y="171205"/>
                </a:cubicBezTo>
                <a:cubicBezTo>
                  <a:pt x="180311" y="182030"/>
                  <a:pt x="189110" y="190809"/>
                  <a:pt x="199936" y="190797"/>
                </a:cubicBezTo>
                <a:cubicBezTo>
                  <a:pt x="210761" y="190785"/>
                  <a:pt x="219541" y="181986"/>
                  <a:pt x="219528" y="171160"/>
                </a:cubicBezTo>
                <a:cubicBezTo>
                  <a:pt x="219516" y="160335"/>
                  <a:pt x="210717" y="151556"/>
                  <a:pt x="199891" y="151568"/>
                </a:cubicBezTo>
                <a:close/>
                <a:moveTo>
                  <a:pt x="100258" y="-20283"/>
                </a:moveTo>
                <a:lnTo>
                  <a:pt x="111937" y="-17163"/>
                </a:lnTo>
                <a:cubicBezTo>
                  <a:pt x="117331" y="-15692"/>
                  <a:pt x="120987" y="-10610"/>
                  <a:pt x="120630" y="-5037"/>
                </a:cubicBezTo>
                <a:lnTo>
                  <a:pt x="119427" y="13597"/>
                </a:lnTo>
                <a:cubicBezTo>
                  <a:pt x="123127" y="16450"/>
                  <a:pt x="126381" y="19748"/>
                  <a:pt x="129189" y="23404"/>
                </a:cubicBezTo>
                <a:lnTo>
                  <a:pt x="147912" y="22200"/>
                </a:lnTo>
                <a:cubicBezTo>
                  <a:pt x="153485" y="21844"/>
                  <a:pt x="158567" y="25499"/>
                  <a:pt x="160038" y="30893"/>
                </a:cubicBezTo>
                <a:lnTo>
                  <a:pt x="163158" y="42573"/>
                </a:lnTo>
                <a:cubicBezTo>
                  <a:pt x="164585" y="47967"/>
                  <a:pt x="162044" y="53673"/>
                  <a:pt x="157006" y="56169"/>
                </a:cubicBezTo>
                <a:lnTo>
                  <a:pt x="140200" y="64461"/>
                </a:lnTo>
                <a:cubicBezTo>
                  <a:pt x="139888" y="66734"/>
                  <a:pt x="139442" y="69008"/>
                  <a:pt x="138863" y="71237"/>
                </a:cubicBezTo>
                <a:cubicBezTo>
                  <a:pt x="138283" y="73466"/>
                  <a:pt x="137481" y="75695"/>
                  <a:pt x="136634" y="77790"/>
                </a:cubicBezTo>
                <a:lnTo>
                  <a:pt x="147021" y="93393"/>
                </a:lnTo>
                <a:cubicBezTo>
                  <a:pt x="150141" y="98073"/>
                  <a:pt x="149517" y="104270"/>
                  <a:pt x="145550" y="108237"/>
                </a:cubicBezTo>
                <a:lnTo>
                  <a:pt x="136991" y="116796"/>
                </a:lnTo>
                <a:cubicBezTo>
                  <a:pt x="133023" y="120764"/>
                  <a:pt x="126827" y="121388"/>
                  <a:pt x="122146" y="118268"/>
                </a:cubicBezTo>
                <a:lnTo>
                  <a:pt x="106543" y="107881"/>
                </a:lnTo>
                <a:cubicBezTo>
                  <a:pt x="102308" y="109619"/>
                  <a:pt x="97806" y="110867"/>
                  <a:pt x="93214" y="111492"/>
                </a:cubicBezTo>
                <a:lnTo>
                  <a:pt x="84923" y="128253"/>
                </a:lnTo>
                <a:cubicBezTo>
                  <a:pt x="82426" y="133291"/>
                  <a:pt x="76720" y="135832"/>
                  <a:pt x="71326" y="134405"/>
                </a:cubicBezTo>
                <a:lnTo>
                  <a:pt x="59646" y="131285"/>
                </a:lnTo>
                <a:cubicBezTo>
                  <a:pt x="54208" y="129813"/>
                  <a:pt x="50597" y="124731"/>
                  <a:pt x="50954" y="119159"/>
                </a:cubicBezTo>
                <a:lnTo>
                  <a:pt x="52157" y="100481"/>
                </a:lnTo>
                <a:cubicBezTo>
                  <a:pt x="48457" y="97628"/>
                  <a:pt x="45203" y="94329"/>
                  <a:pt x="42394" y="90673"/>
                </a:cubicBezTo>
                <a:lnTo>
                  <a:pt x="23671" y="91877"/>
                </a:lnTo>
                <a:cubicBezTo>
                  <a:pt x="18099" y="92234"/>
                  <a:pt x="13017" y="88578"/>
                  <a:pt x="11546" y="83184"/>
                </a:cubicBezTo>
                <a:lnTo>
                  <a:pt x="8425" y="71504"/>
                </a:lnTo>
                <a:cubicBezTo>
                  <a:pt x="6999" y="66110"/>
                  <a:pt x="9540" y="60404"/>
                  <a:pt x="14577" y="57908"/>
                </a:cubicBezTo>
                <a:lnTo>
                  <a:pt x="31383" y="49616"/>
                </a:lnTo>
                <a:cubicBezTo>
                  <a:pt x="31696" y="47343"/>
                  <a:pt x="32141" y="45114"/>
                  <a:pt x="32721" y="42840"/>
                </a:cubicBezTo>
                <a:cubicBezTo>
                  <a:pt x="33345" y="40567"/>
                  <a:pt x="34058" y="38382"/>
                  <a:pt x="34950" y="36287"/>
                </a:cubicBezTo>
                <a:lnTo>
                  <a:pt x="24563" y="20729"/>
                </a:lnTo>
                <a:cubicBezTo>
                  <a:pt x="21442" y="16048"/>
                  <a:pt x="22066" y="9852"/>
                  <a:pt x="26034" y="5884"/>
                </a:cubicBezTo>
                <a:lnTo>
                  <a:pt x="34593" y="-2675"/>
                </a:lnTo>
                <a:cubicBezTo>
                  <a:pt x="38561" y="-6642"/>
                  <a:pt x="44757" y="-7266"/>
                  <a:pt x="49438" y="-4146"/>
                </a:cubicBezTo>
                <a:lnTo>
                  <a:pt x="65040" y="6241"/>
                </a:lnTo>
                <a:cubicBezTo>
                  <a:pt x="69275" y="4502"/>
                  <a:pt x="73778" y="3254"/>
                  <a:pt x="78370" y="2630"/>
                </a:cubicBezTo>
                <a:lnTo>
                  <a:pt x="86661" y="-14131"/>
                </a:lnTo>
                <a:cubicBezTo>
                  <a:pt x="89158" y="-19169"/>
                  <a:pt x="94819" y="-21710"/>
                  <a:pt x="100258" y="-20283"/>
                </a:cubicBezTo>
                <a:close/>
                <a:moveTo>
                  <a:pt x="85770" y="37446"/>
                </a:moveTo>
                <a:cubicBezTo>
                  <a:pt x="74944" y="37446"/>
                  <a:pt x="66155" y="46235"/>
                  <a:pt x="66155" y="57061"/>
                </a:cubicBezTo>
                <a:cubicBezTo>
                  <a:pt x="66155" y="67886"/>
                  <a:pt x="74944" y="76676"/>
                  <a:pt x="85770" y="76676"/>
                </a:cubicBezTo>
                <a:cubicBezTo>
                  <a:pt x="96595" y="76676"/>
                  <a:pt x="105384" y="67886"/>
                  <a:pt x="105384" y="57061"/>
                </a:cubicBezTo>
                <a:cubicBezTo>
                  <a:pt x="105384" y="46235"/>
                  <a:pt x="96595" y="37446"/>
                  <a:pt x="85770" y="37446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6" name="Text 24"/>
          <p:cNvSpPr/>
          <p:nvPr/>
        </p:nvSpPr>
        <p:spPr>
          <a:xfrm>
            <a:off x="7091593" y="1719436"/>
            <a:ext cx="2092231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7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Méthodes Utilisées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10667" y="2293849"/>
            <a:ext cx="5200145" cy="2099839"/>
          </a:xfrm>
          <a:custGeom>
            <a:avLst/>
            <a:gdLst/>
            <a:ahLst/>
            <a:cxnLst/>
            <a:rect l="l" t="t" r="r" b="b"/>
            <a:pathLst>
              <a:path w="5200145" h="2099839">
                <a:moveTo>
                  <a:pt x="76077" y="0"/>
                </a:moveTo>
                <a:lnTo>
                  <a:pt x="5124068" y="0"/>
                </a:lnTo>
                <a:cubicBezTo>
                  <a:pt x="5166084" y="0"/>
                  <a:pt x="5200145" y="34061"/>
                  <a:pt x="5200145" y="76077"/>
                </a:cubicBezTo>
                <a:lnTo>
                  <a:pt x="5200145" y="2023762"/>
                </a:lnTo>
                <a:cubicBezTo>
                  <a:pt x="5200145" y="2065778"/>
                  <a:pt x="5166084" y="2099839"/>
                  <a:pt x="5124068" y="2099839"/>
                </a:cubicBezTo>
                <a:lnTo>
                  <a:pt x="76077" y="2099839"/>
                </a:lnTo>
                <a:cubicBezTo>
                  <a:pt x="34061" y="2099839"/>
                  <a:pt x="0" y="2065778"/>
                  <a:pt x="0" y="2023762"/>
                </a:cubicBezTo>
                <a:lnTo>
                  <a:pt x="0" y="76077"/>
                </a:lnTo>
                <a:cubicBezTo>
                  <a:pt x="0" y="34089"/>
                  <a:pt x="34089" y="0"/>
                  <a:pt x="7607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8" name="Shape 26"/>
          <p:cNvSpPr/>
          <p:nvPr/>
        </p:nvSpPr>
        <p:spPr>
          <a:xfrm>
            <a:off x="6566633" y="2449813"/>
            <a:ext cx="380406" cy="380406"/>
          </a:xfrm>
          <a:custGeom>
            <a:avLst/>
            <a:gdLst/>
            <a:ahLst/>
            <a:cxnLst/>
            <a:rect l="l" t="t" r="r" b="b"/>
            <a:pathLst>
              <a:path w="380406" h="380406">
                <a:moveTo>
                  <a:pt x="76081" y="0"/>
                </a:moveTo>
                <a:lnTo>
                  <a:pt x="304324" y="0"/>
                </a:lnTo>
                <a:cubicBezTo>
                  <a:pt x="346343" y="0"/>
                  <a:pt x="380406" y="34063"/>
                  <a:pt x="380406" y="76081"/>
                </a:cubicBezTo>
                <a:lnTo>
                  <a:pt x="380406" y="304324"/>
                </a:lnTo>
                <a:cubicBezTo>
                  <a:pt x="380406" y="346343"/>
                  <a:pt x="346343" y="380406"/>
                  <a:pt x="304324" y="380406"/>
                </a:cubicBezTo>
                <a:lnTo>
                  <a:pt x="76081" y="380406"/>
                </a:lnTo>
                <a:cubicBezTo>
                  <a:pt x="34063" y="380406"/>
                  <a:pt x="0" y="346343"/>
                  <a:pt x="0" y="304324"/>
                </a:cubicBezTo>
                <a:lnTo>
                  <a:pt x="0" y="76081"/>
                </a:lnTo>
                <a:cubicBezTo>
                  <a:pt x="0" y="34091"/>
                  <a:pt x="34091" y="0"/>
                  <a:pt x="7608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9" name="Shape 27"/>
          <p:cNvSpPr/>
          <p:nvPr/>
        </p:nvSpPr>
        <p:spPr>
          <a:xfrm>
            <a:off x="6684321" y="2554425"/>
            <a:ext cx="149785" cy="171183"/>
          </a:xfrm>
          <a:custGeom>
            <a:avLst/>
            <a:gdLst/>
            <a:ahLst/>
            <a:cxnLst/>
            <a:rect l="l" t="t" r="r" b="b"/>
            <a:pathLst>
              <a:path w="149785" h="171183">
                <a:moveTo>
                  <a:pt x="74892" y="-10699"/>
                </a:moveTo>
                <a:cubicBezTo>
                  <a:pt x="77233" y="-10699"/>
                  <a:pt x="79473" y="-9662"/>
                  <a:pt x="81011" y="-7857"/>
                </a:cubicBezTo>
                <a:lnTo>
                  <a:pt x="126481" y="45638"/>
                </a:lnTo>
                <a:cubicBezTo>
                  <a:pt x="128521" y="48011"/>
                  <a:pt x="128955" y="51355"/>
                  <a:pt x="127651" y="54197"/>
                </a:cubicBezTo>
                <a:cubicBezTo>
                  <a:pt x="126347" y="57039"/>
                  <a:pt x="123506" y="58844"/>
                  <a:pt x="120363" y="58844"/>
                </a:cubicBezTo>
                <a:lnTo>
                  <a:pt x="112038" y="58844"/>
                </a:lnTo>
                <a:lnTo>
                  <a:pt x="137180" y="88433"/>
                </a:lnTo>
                <a:cubicBezTo>
                  <a:pt x="139220" y="90807"/>
                  <a:pt x="139654" y="94150"/>
                  <a:pt x="138350" y="96992"/>
                </a:cubicBezTo>
                <a:cubicBezTo>
                  <a:pt x="137046" y="99834"/>
                  <a:pt x="134204" y="101640"/>
                  <a:pt x="131062" y="101640"/>
                </a:cubicBezTo>
                <a:lnTo>
                  <a:pt x="118189" y="101640"/>
                </a:lnTo>
                <a:lnTo>
                  <a:pt x="147879" y="136578"/>
                </a:lnTo>
                <a:cubicBezTo>
                  <a:pt x="149918" y="138952"/>
                  <a:pt x="150353" y="142295"/>
                  <a:pt x="149049" y="145137"/>
                </a:cubicBezTo>
                <a:cubicBezTo>
                  <a:pt x="147745" y="147979"/>
                  <a:pt x="144903" y="149785"/>
                  <a:pt x="141761" y="149785"/>
                </a:cubicBezTo>
                <a:lnTo>
                  <a:pt x="85591" y="149785"/>
                </a:lnTo>
                <a:lnTo>
                  <a:pt x="85591" y="171183"/>
                </a:lnTo>
                <a:cubicBezTo>
                  <a:pt x="85591" y="177100"/>
                  <a:pt x="80810" y="181881"/>
                  <a:pt x="74892" y="181881"/>
                </a:cubicBezTo>
                <a:cubicBezTo>
                  <a:pt x="68975" y="181881"/>
                  <a:pt x="64193" y="177100"/>
                  <a:pt x="64193" y="171183"/>
                </a:cubicBezTo>
                <a:lnTo>
                  <a:pt x="64193" y="149785"/>
                </a:lnTo>
                <a:lnTo>
                  <a:pt x="8024" y="149785"/>
                </a:lnTo>
                <a:cubicBezTo>
                  <a:pt x="4881" y="149785"/>
                  <a:pt x="2039" y="147979"/>
                  <a:pt x="736" y="145137"/>
                </a:cubicBezTo>
                <a:cubicBezTo>
                  <a:pt x="-568" y="142295"/>
                  <a:pt x="-134" y="138952"/>
                  <a:pt x="1906" y="136578"/>
                </a:cubicBezTo>
                <a:lnTo>
                  <a:pt x="31595" y="101640"/>
                </a:lnTo>
                <a:lnTo>
                  <a:pt x="18723" y="101640"/>
                </a:lnTo>
                <a:cubicBezTo>
                  <a:pt x="15580" y="101640"/>
                  <a:pt x="12738" y="99834"/>
                  <a:pt x="11434" y="96992"/>
                </a:cubicBezTo>
                <a:cubicBezTo>
                  <a:pt x="10131" y="94150"/>
                  <a:pt x="10565" y="90807"/>
                  <a:pt x="12605" y="88433"/>
                </a:cubicBezTo>
                <a:lnTo>
                  <a:pt x="37747" y="58844"/>
                </a:lnTo>
                <a:lnTo>
                  <a:pt x="29422" y="58844"/>
                </a:lnTo>
                <a:cubicBezTo>
                  <a:pt x="26279" y="58844"/>
                  <a:pt x="23437" y="57039"/>
                  <a:pt x="22133" y="54197"/>
                </a:cubicBezTo>
                <a:cubicBezTo>
                  <a:pt x="20829" y="51355"/>
                  <a:pt x="21264" y="48011"/>
                  <a:pt x="23304" y="45638"/>
                </a:cubicBezTo>
                <a:lnTo>
                  <a:pt x="68774" y="-7857"/>
                </a:lnTo>
                <a:cubicBezTo>
                  <a:pt x="70312" y="-9662"/>
                  <a:pt x="72552" y="-10699"/>
                  <a:pt x="74892" y="-10699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0" name="Text 28"/>
          <p:cNvSpPr/>
          <p:nvPr/>
        </p:nvSpPr>
        <p:spPr>
          <a:xfrm>
            <a:off x="7061160" y="2506874"/>
            <a:ext cx="2196842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Importance Forêt Aléatoire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66633" y="2944340"/>
            <a:ext cx="4964293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Classement des variables selon leur </a:t>
            </a:r>
            <a:r>
              <a:rPr lang="en-US" sz="1198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pouvoir discriminant</a:t>
            </a: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dans la classification.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66633" y="3552989"/>
            <a:ext cx="4888212" cy="684730"/>
          </a:xfrm>
          <a:custGeom>
            <a:avLst/>
            <a:gdLst/>
            <a:ahLst/>
            <a:cxnLst/>
            <a:rect l="l" t="t" r="r" b="b"/>
            <a:pathLst>
              <a:path w="4888212" h="684730">
                <a:moveTo>
                  <a:pt x="76080" y="0"/>
                </a:moveTo>
                <a:lnTo>
                  <a:pt x="4812132" y="0"/>
                </a:lnTo>
                <a:cubicBezTo>
                  <a:pt x="4854150" y="0"/>
                  <a:pt x="4888212" y="34062"/>
                  <a:pt x="4888212" y="76080"/>
                </a:cubicBezTo>
                <a:lnTo>
                  <a:pt x="4888212" y="608650"/>
                </a:lnTo>
                <a:cubicBezTo>
                  <a:pt x="4888212" y="650668"/>
                  <a:pt x="4854150" y="684730"/>
                  <a:pt x="4812132" y="684730"/>
                </a:cubicBezTo>
                <a:lnTo>
                  <a:pt x="76080" y="684730"/>
                </a:lnTo>
                <a:cubicBezTo>
                  <a:pt x="34090" y="684730"/>
                  <a:pt x="0" y="650640"/>
                  <a:pt x="0" y="608650"/>
                </a:cubicBezTo>
                <a:lnTo>
                  <a:pt x="0" y="76080"/>
                </a:lnTo>
                <a:cubicBezTo>
                  <a:pt x="0" y="34062"/>
                  <a:pt x="34062" y="0"/>
                  <a:pt x="7608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3" name="Shape 31"/>
          <p:cNvSpPr/>
          <p:nvPr/>
        </p:nvSpPr>
        <p:spPr>
          <a:xfrm>
            <a:off x="6709285" y="3705152"/>
            <a:ext cx="133142" cy="152162"/>
          </a:xfrm>
          <a:custGeom>
            <a:avLst/>
            <a:gdLst/>
            <a:ahLst/>
            <a:cxnLst/>
            <a:rect l="l" t="t" r="r" b="b"/>
            <a:pathLst>
              <a:path w="133142" h="152162">
                <a:moveTo>
                  <a:pt x="129219" y="20833"/>
                </a:moveTo>
                <a:cubicBezTo>
                  <a:pt x="133469" y="23924"/>
                  <a:pt x="134420" y="29868"/>
                  <a:pt x="131329" y="34118"/>
                </a:cubicBezTo>
                <a:lnTo>
                  <a:pt x="55248" y="138729"/>
                </a:lnTo>
                <a:cubicBezTo>
                  <a:pt x="53613" y="140988"/>
                  <a:pt x="51087" y="142385"/>
                  <a:pt x="48294" y="142622"/>
                </a:cubicBezTo>
                <a:cubicBezTo>
                  <a:pt x="45500" y="142860"/>
                  <a:pt x="42796" y="141820"/>
                  <a:pt x="40834" y="139859"/>
                </a:cubicBezTo>
                <a:lnTo>
                  <a:pt x="2794" y="101818"/>
                </a:lnTo>
                <a:cubicBezTo>
                  <a:pt x="-921" y="98103"/>
                  <a:pt x="-921" y="92070"/>
                  <a:pt x="2794" y="88355"/>
                </a:cubicBezTo>
                <a:cubicBezTo>
                  <a:pt x="6509" y="84640"/>
                  <a:pt x="12541" y="84640"/>
                  <a:pt x="16256" y="88355"/>
                </a:cubicBezTo>
                <a:lnTo>
                  <a:pt x="46421" y="118520"/>
                </a:lnTo>
                <a:lnTo>
                  <a:pt x="115964" y="22913"/>
                </a:lnTo>
                <a:cubicBezTo>
                  <a:pt x="119055" y="18664"/>
                  <a:pt x="124999" y="17713"/>
                  <a:pt x="129249" y="2080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4" name="Text 32"/>
          <p:cNvSpPr/>
          <p:nvPr/>
        </p:nvSpPr>
        <p:spPr>
          <a:xfrm>
            <a:off x="6927929" y="3667111"/>
            <a:ext cx="4488875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Mesure de la réduction d'impureté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09285" y="3933395"/>
            <a:ext cx="133142" cy="152162"/>
          </a:xfrm>
          <a:custGeom>
            <a:avLst/>
            <a:gdLst/>
            <a:ahLst/>
            <a:cxnLst/>
            <a:rect l="l" t="t" r="r" b="b"/>
            <a:pathLst>
              <a:path w="133142" h="152162">
                <a:moveTo>
                  <a:pt x="129219" y="20833"/>
                </a:moveTo>
                <a:cubicBezTo>
                  <a:pt x="133469" y="23924"/>
                  <a:pt x="134420" y="29868"/>
                  <a:pt x="131329" y="34118"/>
                </a:cubicBezTo>
                <a:lnTo>
                  <a:pt x="55248" y="138729"/>
                </a:lnTo>
                <a:cubicBezTo>
                  <a:pt x="53613" y="140988"/>
                  <a:pt x="51087" y="142385"/>
                  <a:pt x="48294" y="142622"/>
                </a:cubicBezTo>
                <a:cubicBezTo>
                  <a:pt x="45500" y="142860"/>
                  <a:pt x="42796" y="141820"/>
                  <a:pt x="40834" y="139859"/>
                </a:cubicBezTo>
                <a:lnTo>
                  <a:pt x="2794" y="101818"/>
                </a:lnTo>
                <a:cubicBezTo>
                  <a:pt x="-921" y="98103"/>
                  <a:pt x="-921" y="92070"/>
                  <a:pt x="2794" y="88355"/>
                </a:cubicBezTo>
                <a:cubicBezTo>
                  <a:pt x="6509" y="84640"/>
                  <a:pt x="12541" y="84640"/>
                  <a:pt x="16256" y="88355"/>
                </a:cubicBezTo>
                <a:lnTo>
                  <a:pt x="46421" y="118520"/>
                </a:lnTo>
                <a:lnTo>
                  <a:pt x="115964" y="22913"/>
                </a:lnTo>
                <a:cubicBezTo>
                  <a:pt x="119055" y="18664"/>
                  <a:pt x="124999" y="17713"/>
                  <a:pt x="129249" y="2080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6" name="Text 34"/>
          <p:cNvSpPr/>
          <p:nvPr/>
        </p:nvSpPr>
        <p:spPr>
          <a:xfrm>
            <a:off x="6927929" y="3895354"/>
            <a:ext cx="4488875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Robustesse aux outliers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0667" y="4553454"/>
            <a:ext cx="5200145" cy="2099839"/>
          </a:xfrm>
          <a:custGeom>
            <a:avLst/>
            <a:gdLst/>
            <a:ahLst/>
            <a:cxnLst/>
            <a:rect l="l" t="t" r="r" b="b"/>
            <a:pathLst>
              <a:path w="5200145" h="2099839">
                <a:moveTo>
                  <a:pt x="76077" y="0"/>
                </a:moveTo>
                <a:lnTo>
                  <a:pt x="5124068" y="0"/>
                </a:lnTo>
                <a:cubicBezTo>
                  <a:pt x="5166084" y="0"/>
                  <a:pt x="5200145" y="34061"/>
                  <a:pt x="5200145" y="76077"/>
                </a:cubicBezTo>
                <a:lnTo>
                  <a:pt x="5200145" y="2023762"/>
                </a:lnTo>
                <a:cubicBezTo>
                  <a:pt x="5200145" y="2065778"/>
                  <a:pt x="5166084" y="2099839"/>
                  <a:pt x="5124068" y="2099839"/>
                </a:cubicBezTo>
                <a:lnTo>
                  <a:pt x="76077" y="2099839"/>
                </a:lnTo>
                <a:cubicBezTo>
                  <a:pt x="34061" y="2099839"/>
                  <a:pt x="0" y="2065778"/>
                  <a:pt x="0" y="2023762"/>
                </a:cubicBezTo>
                <a:lnTo>
                  <a:pt x="0" y="76077"/>
                </a:lnTo>
                <a:cubicBezTo>
                  <a:pt x="0" y="34089"/>
                  <a:pt x="34089" y="0"/>
                  <a:pt x="7607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8" name="Shape 36"/>
          <p:cNvSpPr/>
          <p:nvPr/>
        </p:nvSpPr>
        <p:spPr>
          <a:xfrm>
            <a:off x="6566633" y="4709423"/>
            <a:ext cx="380406" cy="380406"/>
          </a:xfrm>
          <a:custGeom>
            <a:avLst/>
            <a:gdLst/>
            <a:ahLst/>
            <a:cxnLst/>
            <a:rect l="l" t="t" r="r" b="b"/>
            <a:pathLst>
              <a:path w="380406" h="380406">
                <a:moveTo>
                  <a:pt x="76081" y="0"/>
                </a:moveTo>
                <a:lnTo>
                  <a:pt x="304324" y="0"/>
                </a:lnTo>
                <a:cubicBezTo>
                  <a:pt x="346343" y="0"/>
                  <a:pt x="380406" y="34063"/>
                  <a:pt x="380406" y="76081"/>
                </a:cubicBezTo>
                <a:lnTo>
                  <a:pt x="380406" y="304324"/>
                </a:lnTo>
                <a:cubicBezTo>
                  <a:pt x="380406" y="346343"/>
                  <a:pt x="346343" y="380406"/>
                  <a:pt x="304324" y="380406"/>
                </a:cubicBezTo>
                <a:lnTo>
                  <a:pt x="76081" y="380406"/>
                </a:lnTo>
                <a:cubicBezTo>
                  <a:pt x="34063" y="380406"/>
                  <a:pt x="0" y="346343"/>
                  <a:pt x="0" y="304324"/>
                </a:cubicBezTo>
                <a:lnTo>
                  <a:pt x="0" y="76081"/>
                </a:lnTo>
                <a:cubicBezTo>
                  <a:pt x="0" y="34091"/>
                  <a:pt x="34091" y="0"/>
                  <a:pt x="7608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9" name="Shape 37"/>
          <p:cNvSpPr/>
          <p:nvPr/>
        </p:nvSpPr>
        <p:spPr>
          <a:xfrm>
            <a:off x="6673622" y="4814035"/>
            <a:ext cx="171183" cy="171183"/>
          </a:xfrm>
          <a:custGeom>
            <a:avLst/>
            <a:gdLst/>
            <a:ahLst/>
            <a:cxnLst/>
            <a:rect l="l" t="t" r="r" b="b"/>
            <a:pathLst>
              <a:path w="171183" h="171183">
                <a:moveTo>
                  <a:pt x="50920" y="20060"/>
                </a:moveTo>
                <a:cubicBezTo>
                  <a:pt x="66367" y="-6687"/>
                  <a:pt x="104983" y="-6687"/>
                  <a:pt x="120430" y="20060"/>
                </a:cubicBezTo>
                <a:lnTo>
                  <a:pt x="132900" y="41659"/>
                </a:lnTo>
                <a:lnTo>
                  <a:pt x="142162" y="36309"/>
                </a:lnTo>
                <a:cubicBezTo>
                  <a:pt x="144970" y="34671"/>
                  <a:pt x="148481" y="34905"/>
                  <a:pt x="151055" y="36878"/>
                </a:cubicBezTo>
                <a:cubicBezTo>
                  <a:pt x="153630" y="38850"/>
                  <a:pt x="154766" y="42194"/>
                  <a:pt x="153931" y="45337"/>
                </a:cubicBezTo>
                <a:lnTo>
                  <a:pt x="146074" y="74558"/>
                </a:lnTo>
                <a:cubicBezTo>
                  <a:pt x="144937" y="78838"/>
                  <a:pt x="140523" y="81379"/>
                  <a:pt x="136244" y="80242"/>
                </a:cubicBezTo>
                <a:lnTo>
                  <a:pt x="107023" y="72418"/>
                </a:lnTo>
                <a:cubicBezTo>
                  <a:pt x="103880" y="71582"/>
                  <a:pt x="101573" y="68941"/>
                  <a:pt x="101138" y="65731"/>
                </a:cubicBezTo>
                <a:cubicBezTo>
                  <a:pt x="100703" y="62522"/>
                  <a:pt x="102275" y="59346"/>
                  <a:pt x="105083" y="57741"/>
                </a:cubicBezTo>
                <a:lnTo>
                  <a:pt x="114345" y="52391"/>
                </a:lnTo>
                <a:lnTo>
                  <a:pt x="101874" y="30793"/>
                </a:lnTo>
                <a:cubicBezTo>
                  <a:pt x="94652" y="18322"/>
                  <a:pt x="76664" y="18322"/>
                  <a:pt x="69443" y="30793"/>
                </a:cubicBezTo>
                <a:lnTo>
                  <a:pt x="67671" y="33835"/>
                </a:lnTo>
                <a:cubicBezTo>
                  <a:pt x="64728" y="38951"/>
                  <a:pt x="58175" y="40689"/>
                  <a:pt x="53060" y="37747"/>
                </a:cubicBezTo>
                <a:cubicBezTo>
                  <a:pt x="47944" y="34805"/>
                  <a:pt x="46206" y="28252"/>
                  <a:pt x="49148" y="23103"/>
                </a:cubicBezTo>
                <a:lnTo>
                  <a:pt x="50920" y="20060"/>
                </a:lnTo>
                <a:close/>
                <a:moveTo>
                  <a:pt x="150353" y="93315"/>
                </a:moveTo>
                <a:cubicBezTo>
                  <a:pt x="155469" y="90372"/>
                  <a:pt x="162022" y="92111"/>
                  <a:pt x="164964" y="97226"/>
                </a:cubicBezTo>
                <a:lnTo>
                  <a:pt x="166736" y="100269"/>
                </a:lnTo>
                <a:cubicBezTo>
                  <a:pt x="182182" y="127016"/>
                  <a:pt x="162891" y="160450"/>
                  <a:pt x="131998" y="160450"/>
                </a:cubicBezTo>
                <a:lnTo>
                  <a:pt x="107056" y="160450"/>
                </a:lnTo>
                <a:lnTo>
                  <a:pt x="107056" y="171149"/>
                </a:lnTo>
                <a:cubicBezTo>
                  <a:pt x="107056" y="174392"/>
                  <a:pt x="105117" y="177334"/>
                  <a:pt x="102108" y="178571"/>
                </a:cubicBezTo>
                <a:cubicBezTo>
                  <a:pt x="99099" y="179809"/>
                  <a:pt x="95655" y="179140"/>
                  <a:pt x="93348" y="176833"/>
                </a:cubicBezTo>
                <a:lnTo>
                  <a:pt x="71950" y="155435"/>
                </a:lnTo>
                <a:cubicBezTo>
                  <a:pt x="68807" y="152292"/>
                  <a:pt x="68807" y="147210"/>
                  <a:pt x="71950" y="144101"/>
                </a:cubicBezTo>
                <a:lnTo>
                  <a:pt x="93348" y="122703"/>
                </a:lnTo>
                <a:cubicBezTo>
                  <a:pt x="95655" y="120396"/>
                  <a:pt x="99099" y="119727"/>
                  <a:pt x="102108" y="120965"/>
                </a:cubicBezTo>
                <a:cubicBezTo>
                  <a:pt x="105117" y="122202"/>
                  <a:pt x="107056" y="125144"/>
                  <a:pt x="107056" y="128387"/>
                </a:cubicBezTo>
                <a:lnTo>
                  <a:pt x="107056" y="139086"/>
                </a:lnTo>
                <a:lnTo>
                  <a:pt x="131998" y="139086"/>
                </a:lnTo>
                <a:cubicBezTo>
                  <a:pt x="146408" y="139086"/>
                  <a:pt x="155435" y="123472"/>
                  <a:pt x="148213" y="111001"/>
                </a:cubicBezTo>
                <a:lnTo>
                  <a:pt x="146441" y="107959"/>
                </a:lnTo>
                <a:cubicBezTo>
                  <a:pt x="143499" y="102843"/>
                  <a:pt x="145238" y="96290"/>
                  <a:pt x="150353" y="93348"/>
                </a:cubicBezTo>
                <a:close/>
                <a:moveTo>
                  <a:pt x="17051" y="78704"/>
                </a:moveTo>
                <a:lnTo>
                  <a:pt x="7790" y="73354"/>
                </a:lnTo>
                <a:cubicBezTo>
                  <a:pt x="4982" y="71716"/>
                  <a:pt x="3410" y="68573"/>
                  <a:pt x="3845" y="65364"/>
                </a:cubicBezTo>
                <a:cubicBezTo>
                  <a:pt x="4280" y="62154"/>
                  <a:pt x="6587" y="59513"/>
                  <a:pt x="9729" y="58677"/>
                </a:cubicBezTo>
                <a:lnTo>
                  <a:pt x="38951" y="50820"/>
                </a:lnTo>
                <a:cubicBezTo>
                  <a:pt x="43230" y="49683"/>
                  <a:pt x="47644" y="52224"/>
                  <a:pt x="48780" y="56504"/>
                </a:cubicBezTo>
                <a:lnTo>
                  <a:pt x="56604" y="85725"/>
                </a:lnTo>
                <a:cubicBezTo>
                  <a:pt x="57440" y="88868"/>
                  <a:pt x="56303" y="92178"/>
                  <a:pt x="53729" y="94184"/>
                </a:cubicBezTo>
                <a:cubicBezTo>
                  <a:pt x="51154" y="96190"/>
                  <a:pt x="47644" y="96390"/>
                  <a:pt x="44835" y="94752"/>
                </a:cubicBezTo>
                <a:lnTo>
                  <a:pt x="35574" y="89403"/>
                </a:lnTo>
                <a:lnTo>
                  <a:pt x="23103" y="111001"/>
                </a:lnTo>
                <a:cubicBezTo>
                  <a:pt x="15881" y="123472"/>
                  <a:pt x="24908" y="139086"/>
                  <a:pt x="39318" y="139086"/>
                </a:cubicBezTo>
                <a:lnTo>
                  <a:pt x="42863" y="139086"/>
                </a:lnTo>
                <a:cubicBezTo>
                  <a:pt x="48780" y="139086"/>
                  <a:pt x="53561" y="143867"/>
                  <a:pt x="53561" y="149785"/>
                </a:cubicBezTo>
                <a:cubicBezTo>
                  <a:pt x="53561" y="155703"/>
                  <a:pt x="48780" y="160484"/>
                  <a:pt x="42863" y="160484"/>
                </a:cubicBezTo>
                <a:lnTo>
                  <a:pt x="39318" y="160484"/>
                </a:lnTo>
                <a:cubicBezTo>
                  <a:pt x="8459" y="160484"/>
                  <a:pt x="-10833" y="127050"/>
                  <a:pt x="4614" y="100302"/>
                </a:cubicBezTo>
                <a:lnTo>
                  <a:pt x="17051" y="78704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0" name="Text 38"/>
          <p:cNvSpPr/>
          <p:nvPr/>
        </p:nvSpPr>
        <p:spPr>
          <a:xfrm>
            <a:off x="7061160" y="4766484"/>
            <a:ext cx="389916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RFE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66633" y="5203951"/>
            <a:ext cx="4964293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Recursive Feature Elimination</a:t>
            </a: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élimination récursive des variables les moins utiles.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66633" y="5812600"/>
            <a:ext cx="4888212" cy="684730"/>
          </a:xfrm>
          <a:custGeom>
            <a:avLst/>
            <a:gdLst/>
            <a:ahLst/>
            <a:cxnLst/>
            <a:rect l="l" t="t" r="r" b="b"/>
            <a:pathLst>
              <a:path w="4888212" h="684730">
                <a:moveTo>
                  <a:pt x="76080" y="0"/>
                </a:moveTo>
                <a:lnTo>
                  <a:pt x="4812132" y="0"/>
                </a:lnTo>
                <a:cubicBezTo>
                  <a:pt x="4854150" y="0"/>
                  <a:pt x="4888212" y="34062"/>
                  <a:pt x="4888212" y="76080"/>
                </a:cubicBezTo>
                <a:lnTo>
                  <a:pt x="4888212" y="608650"/>
                </a:lnTo>
                <a:cubicBezTo>
                  <a:pt x="4888212" y="650668"/>
                  <a:pt x="4854150" y="684730"/>
                  <a:pt x="4812132" y="684730"/>
                </a:cubicBezTo>
                <a:lnTo>
                  <a:pt x="76080" y="684730"/>
                </a:lnTo>
                <a:cubicBezTo>
                  <a:pt x="34090" y="684730"/>
                  <a:pt x="0" y="650640"/>
                  <a:pt x="0" y="608650"/>
                </a:cubicBezTo>
                <a:lnTo>
                  <a:pt x="0" y="76080"/>
                </a:lnTo>
                <a:cubicBezTo>
                  <a:pt x="0" y="34062"/>
                  <a:pt x="34062" y="0"/>
                  <a:pt x="7608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3" name="Shape 41"/>
          <p:cNvSpPr/>
          <p:nvPr/>
        </p:nvSpPr>
        <p:spPr>
          <a:xfrm>
            <a:off x="6709285" y="5964762"/>
            <a:ext cx="133142" cy="152162"/>
          </a:xfrm>
          <a:custGeom>
            <a:avLst/>
            <a:gdLst/>
            <a:ahLst/>
            <a:cxnLst/>
            <a:rect l="l" t="t" r="r" b="b"/>
            <a:pathLst>
              <a:path w="133142" h="152162">
                <a:moveTo>
                  <a:pt x="129219" y="20833"/>
                </a:moveTo>
                <a:cubicBezTo>
                  <a:pt x="133469" y="23924"/>
                  <a:pt x="134420" y="29868"/>
                  <a:pt x="131329" y="34118"/>
                </a:cubicBezTo>
                <a:lnTo>
                  <a:pt x="55248" y="138729"/>
                </a:lnTo>
                <a:cubicBezTo>
                  <a:pt x="53613" y="140988"/>
                  <a:pt x="51087" y="142385"/>
                  <a:pt x="48294" y="142622"/>
                </a:cubicBezTo>
                <a:cubicBezTo>
                  <a:pt x="45500" y="142860"/>
                  <a:pt x="42796" y="141820"/>
                  <a:pt x="40834" y="139859"/>
                </a:cubicBezTo>
                <a:lnTo>
                  <a:pt x="2794" y="101818"/>
                </a:lnTo>
                <a:cubicBezTo>
                  <a:pt x="-921" y="98103"/>
                  <a:pt x="-921" y="92070"/>
                  <a:pt x="2794" y="88355"/>
                </a:cubicBezTo>
                <a:cubicBezTo>
                  <a:pt x="6509" y="84640"/>
                  <a:pt x="12541" y="84640"/>
                  <a:pt x="16256" y="88355"/>
                </a:cubicBezTo>
                <a:lnTo>
                  <a:pt x="46421" y="118520"/>
                </a:lnTo>
                <a:lnTo>
                  <a:pt x="115964" y="22913"/>
                </a:lnTo>
                <a:cubicBezTo>
                  <a:pt x="119055" y="18664"/>
                  <a:pt x="124999" y="17713"/>
                  <a:pt x="129249" y="20803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4" name="Text 42"/>
          <p:cNvSpPr/>
          <p:nvPr/>
        </p:nvSpPr>
        <p:spPr>
          <a:xfrm>
            <a:off x="6927929" y="5926721"/>
            <a:ext cx="4488875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Approche itérative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709285" y="6193005"/>
            <a:ext cx="133142" cy="152162"/>
          </a:xfrm>
          <a:custGeom>
            <a:avLst/>
            <a:gdLst/>
            <a:ahLst/>
            <a:cxnLst/>
            <a:rect l="l" t="t" r="r" b="b"/>
            <a:pathLst>
              <a:path w="133142" h="152162">
                <a:moveTo>
                  <a:pt x="129219" y="20833"/>
                </a:moveTo>
                <a:cubicBezTo>
                  <a:pt x="133469" y="23924"/>
                  <a:pt x="134420" y="29868"/>
                  <a:pt x="131329" y="34118"/>
                </a:cubicBezTo>
                <a:lnTo>
                  <a:pt x="55248" y="138729"/>
                </a:lnTo>
                <a:cubicBezTo>
                  <a:pt x="53613" y="140988"/>
                  <a:pt x="51087" y="142385"/>
                  <a:pt x="48294" y="142622"/>
                </a:cubicBezTo>
                <a:cubicBezTo>
                  <a:pt x="45500" y="142860"/>
                  <a:pt x="42796" y="141820"/>
                  <a:pt x="40834" y="139859"/>
                </a:cubicBezTo>
                <a:lnTo>
                  <a:pt x="2794" y="101818"/>
                </a:lnTo>
                <a:cubicBezTo>
                  <a:pt x="-921" y="98103"/>
                  <a:pt x="-921" y="92070"/>
                  <a:pt x="2794" y="88355"/>
                </a:cubicBezTo>
                <a:cubicBezTo>
                  <a:pt x="6509" y="84640"/>
                  <a:pt x="12541" y="84640"/>
                  <a:pt x="16256" y="88355"/>
                </a:cubicBezTo>
                <a:lnTo>
                  <a:pt x="46421" y="118520"/>
                </a:lnTo>
                <a:lnTo>
                  <a:pt x="115964" y="22913"/>
                </a:lnTo>
                <a:cubicBezTo>
                  <a:pt x="119055" y="18664"/>
                  <a:pt x="124999" y="17713"/>
                  <a:pt x="129249" y="20803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6" name="Text 44"/>
          <p:cNvSpPr/>
          <p:nvPr/>
        </p:nvSpPr>
        <p:spPr>
          <a:xfrm>
            <a:off x="6927929" y="6154965"/>
            <a:ext cx="4488875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Sélection optimale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75716" y="713861"/>
            <a:ext cx="11665997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 15 Variables Déterminantes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474" y="1393908"/>
            <a:ext cx="5615083" cy="3990109"/>
          </a:xfrm>
          <a:custGeom>
            <a:avLst/>
            <a:gdLst/>
            <a:ahLst/>
            <a:cxnLst/>
            <a:rect l="l" t="t" r="r" b="b"/>
            <a:pathLst>
              <a:path w="5615083" h="3990109">
                <a:moveTo>
                  <a:pt x="112721" y="0"/>
                </a:moveTo>
                <a:lnTo>
                  <a:pt x="5502362" y="0"/>
                </a:lnTo>
                <a:cubicBezTo>
                  <a:pt x="5564616" y="0"/>
                  <a:pt x="5615083" y="50467"/>
                  <a:pt x="5615083" y="112721"/>
                </a:cubicBezTo>
                <a:lnTo>
                  <a:pt x="5615083" y="3877389"/>
                </a:lnTo>
                <a:cubicBezTo>
                  <a:pt x="5615083" y="3939642"/>
                  <a:pt x="5564616" y="3990109"/>
                  <a:pt x="5502362" y="3990109"/>
                </a:cubicBezTo>
                <a:lnTo>
                  <a:pt x="112721" y="3990109"/>
                </a:lnTo>
                <a:cubicBezTo>
                  <a:pt x="50467" y="3990109"/>
                  <a:pt x="0" y="3939642"/>
                  <a:pt x="0" y="3877389"/>
                </a:cubicBezTo>
                <a:lnTo>
                  <a:pt x="0" y="112721"/>
                </a:lnTo>
                <a:cubicBezTo>
                  <a:pt x="0" y="50508"/>
                  <a:pt x="50508" y="0"/>
                  <a:pt x="11272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571089" y="1585526"/>
            <a:ext cx="450860" cy="450860"/>
          </a:xfrm>
          <a:custGeom>
            <a:avLst/>
            <a:gdLst/>
            <a:ahLst/>
            <a:cxnLst/>
            <a:rect l="l" t="t" r="r" b="b"/>
            <a:pathLst>
              <a:path w="450860" h="450860">
                <a:moveTo>
                  <a:pt x="75145" y="0"/>
                </a:moveTo>
                <a:lnTo>
                  <a:pt x="375715" y="0"/>
                </a:lnTo>
                <a:cubicBezTo>
                  <a:pt x="417189" y="0"/>
                  <a:pt x="450860" y="33671"/>
                  <a:pt x="450860" y="75145"/>
                </a:cubicBezTo>
                <a:lnTo>
                  <a:pt x="450860" y="375715"/>
                </a:lnTo>
                <a:cubicBezTo>
                  <a:pt x="450860" y="417216"/>
                  <a:pt x="417216" y="450860"/>
                  <a:pt x="375715" y="450860"/>
                </a:cubicBezTo>
                <a:lnTo>
                  <a:pt x="75145" y="450860"/>
                </a:lnTo>
                <a:cubicBezTo>
                  <a:pt x="33671" y="450860"/>
                  <a:pt x="0" y="417189"/>
                  <a:pt x="0" y="375715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702590" y="1717027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52945" y="0"/>
                </a:moveTo>
                <a:lnTo>
                  <a:pt x="135133" y="0"/>
                </a:lnTo>
                <a:cubicBezTo>
                  <a:pt x="144856" y="0"/>
                  <a:pt x="152782" y="7999"/>
                  <a:pt x="152415" y="17685"/>
                </a:cubicBezTo>
                <a:cubicBezTo>
                  <a:pt x="152341" y="19630"/>
                  <a:pt x="152268" y="21574"/>
                  <a:pt x="152158" y="23482"/>
                </a:cubicBezTo>
                <a:lnTo>
                  <a:pt x="170357" y="23482"/>
                </a:lnTo>
                <a:cubicBezTo>
                  <a:pt x="179933" y="23482"/>
                  <a:pt x="188372" y="31408"/>
                  <a:pt x="187638" y="41754"/>
                </a:cubicBezTo>
                <a:cubicBezTo>
                  <a:pt x="184886" y="79803"/>
                  <a:pt x="165440" y="100717"/>
                  <a:pt x="144343" y="111651"/>
                </a:cubicBezTo>
                <a:cubicBezTo>
                  <a:pt x="138545" y="114660"/>
                  <a:pt x="132638" y="116898"/>
                  <a:pt x="127024" y="118549"/>
                </a:cubicBezTo>
                <a:cubicBezTo>
                  <a:pt x="119613" y="129042"/>
                  <a:pt x="111908" y="134583"/>
                  <a:pt x="105780" y="137555"/>
                </a:cubicBezTo>
                <a:lnTo>
                  <a:pt x="105780" y="164376"/>
                </a:lnTo>
                <a:lnTo>
                  <a:pt x="129263" y="164376"/>
                </a:lnTo>
                <a:cubicBezTo>
                  <a:pt x="135757" y="164376"/>
                  <a:pt x="141004" y="169623"/>
                  <a:pt x="141004" y="176117"/>
                </a:cubicBezTo>
                <a:cubicBezTo>
                  <a:pt x="141004" y="182611"/>
                  <a:pt x="135757" y="187858"/>
                  <a:pt x="129263" y="187858"/>
                </a:cubicBezTo>
                <a:lnTo>
                  <a:pt x="58816" y="187858"/>
                </a:lnTo>
                <a:cubicBezTo>
                  <a:pt x="52321" y="187858"/>
                  <a:pt x="47075" y="182611"/>
                  <a:pt x="47075" y="176117"/>
                </a:cubicBezTo>
                <a:cubicBezTo>
                  <a:pt x="47075" y="169623"/>
                  <a:pt x="52321" y="164376"/>
                  <a:pt x="58816" y="164376"/>
                </a:cubicBezTo>
                <a:lnTo>
                  <a:pt x="82298" y="164376"/>
                </a:lnTo>
                <a:lnTo>
                  <a:pt x="82298" y="137555"/>
                </a:lnTo>
                <a:cubicBezTo>
                  <a:pt x="76427" y="134730"/>
                  <a:pt x="69126" y="129483"/>
                  <a:pt x="62008" y="119833"/>
                </a:cubicBezTo>
                <a:cubicBezTo>
                  <a:pt x="55257" y="118072"/>
                  <a:pt x="47919" y="115393"/>
                  <a:pt x="40764" y="111357"/>
                </a:cubicBezTo>
                <a:cubicBezTo>
                  <a:pt x="20914" y="100240"/>
                  <a:pt x="3009" y="79289"/>
                  <a:pt x="440" y="41681"/>
                </a:cubicBezTo>
                <a:cubicBezTo>
                  <a:pt x="-257" y="31371"/>
                  <a:pt x="8145" y="23446"/>
                  <a:pt x="17722" y="23446"/>
                </a:cubicBezTo>
                <a:lnTo>
                  <a:pt x="35921" y="23446"/>
                </a:lnTo>
                <a:cubicBezTo>
                  <a:pt x="35810" y="21538"/>
                  <a:pt x="35737" y="19630"/>
                  <a:pt x="35664" y="17648"/>
                </a:cubicBezTo>
                <a:cubicBezTo>
                  <a:pt x="35297" y="7925"/>
                  <a:pt x="43222" y="-37"/>
                  <a:pt x="52945" y="-37"/>
                </a:cubicBezTo>
                <a:close/>
                <a:moveTo>
                  <a:pt x="37241" y="41094"/>
                </a:moveTo>
                <a:lnTo>
                  <a:pt x="18015" y="41094"/>
                </a:lnTo>
                <a:cubicBezTo>
                  <a:pt x="20290" y="72171"/>
                  <a:pt x="34563" y="87728"/>
                  <a:pt x="49276" y="95984"/>
                </a:cubicBezTo>
                <a:cubicBezTo>
                  <a:pt x="43993" y="82298"/>
                  <a:pt x="39626" y="64430"/>
                  <a:pt x="37241" y="41094"/>
                </a:cubicBezTo>
                <a:close/>
                <a:moveTo>
                  <a:pt x="139426" y="94223"/>
                </a:moveTo>
                <a:cubicBezTo>
                  <a:pt x="154286" y="85490"/>
                  <a:pt x="167715" y="69970"/>
                  <a:pt x="169990" y="41094"/>
                </a:cubicBezTo>
                <a:lnTo>
                  <a:pt x="150800" y="41094"/>
                </a:lnTo>
                <a:cubicBezTo>
                  <a:pt x="148525" y="63439"/>
                  <a:pt x="144416" y="80794"/>
                  <a:pt x="139426" y="94223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1134664" y="1660670"/>
            <a:ext cx="1756475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Top Prédicteurs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92630" y="1393908"/>
            <a:ext cx="5615083" cy="3990109"/>
          </a:xfrm>
          <a:custGeom>
            <a:avLst/>
            <a:gdLst/>
            <a:ahLst/>
            <a:cxnLst/>
            <a:rect l="l" t="t" r="r" b="b"/>
            <a:pathLst>
              <a:path w="5615083" h="3990109">
                <a:moveTo>
                  <a:pt x="112721" y="0"/>
                </a:moveTo>
                <a:lnTo>
                  <a:pt x="5502362" y="0"/>
                </a:lnTo>
                <a:cubicBezTo>
                  <a:pt x="5564616" y="0"/>
                  <a:pt x="5615083" y="50467"/>
                  <a:pt x="5615083" y="112721"/>
                </a:cubicBezTo>
                <a:lnTo>
                  <a:pt x="5615083" y="3877389"/>
                </a:lnTo>
                <a:cubicBezTo>
                  <a:pt x="5615083" y="3939642"/>
                  <a:pt x="5564616" y="3990109"/>
                  <a:pt x="5502362" y="3990109"/>
                </a:cubicBezTo>
                <a:lnTo>
                  <a:pt x="112721" y="3990109"/>
                </a:lnTo>
                <a:cubicBezTo>
                  <a:pt x="50467" y="3990109"/>
                  <a:pt x="0" y="3939642"/>
                  <a:pt x="0" y="3877389"/>
                </a:cubicBezTo>
                <a:lnTo>
                  <a:pt x="0" y="112721"/>
                </a:lnTo>
                <a:cubicBezTo>
                  <a:pt x="0" y="50508"/>
                  <a:pt x="50508" y="0"/>
                  <a:pt x="11272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Shape 7"/>
          <p:cNvSpPr/>
          <p:nvPr/>
        </p:nvSpPr>
        <p:spPr>
          <a:xfrm>
            <a:off x="6384245" y="1585526"/>
            <a:ext cx="450860" cy="450860"/>
          </a:xfrm>
          <a:custGeom>
            <a:avLst/>
            <a:gdLst/>
            <a:ahLst/>
            <a:cxnLst/>
            <a:rect l="l" t="t" r="r" b="b"/>
            <a:pathLst>
              <a:path w="450860" h="450860">
                <a:moveTo>
                  <a:pt x="75145" y="0"/>
                </a:moveTo>
                <a:lnTo>
                  <a:pt x="375715" y="0"/>
                </a:lnTo>
                <a:cubicBezTo>
                  <a:pt x="417189" y="0"/>
                  <a:pt x="450860" y="33671"/>
                  <a:pt x="450860" y="75145"/>
                </a:cubicBezTo>
                <a:lnTo>
                  <a:pt x="450860" y="375715"/>
                </a:lnTo>
                <a:cubicBezTo>
                  <a:pt x="450860" y="417216"/>
                  <a:pt x="417216" y="450860"/>
                  <a:pt x="375715" y="450860"/>
                </a:cubicBezTo>
                <a:lnTo>
                  <a:pt x="75145" y="450860"/>
                </a:lnTo>
                <a:cubicBezTo>
                  <a:pt x="33671" y="450860"/>
                  <a:pt x="0" y="417189"/>
                  <a:pt x="0" y="375715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Shape 8"/>
          <p:cNvSpPr/>
          <p:nvPr/>
        </p:nvSpPr>
        <p:spPr>
          <a:xfrm>
            <a:off x="6504005" y="1717027"/>
            <a:ext cx="211341" cy="187858"/>
          </a:xfrm>
          <a:custGeom>
            <a:avLst/>
            <a:gdLst/>
            <a:ahLst/>
            <a:cxnLst/>
            <a:rect l="l" t="t" r="r" b="b"/>
            <a:pathLst>
              <a:path w="211341" h="187858">
                <a:moveTo>
                  <a:pt x="113559" y="-6935"/>
                </a:moveTo>
                <a:cubicBezTo>
                  <a:pt x="112055" y="-9870"/>
                  <a:pt x="109009" y="-11741"/>
                  <a:pt x="105707" y="-11741"/>
                </a:cubicBezTo>
                <a:cubicBezTo>
                  <a:pt x="102405" y="-11741"/>
                  <a:pt x="99359" y="-9870"/>
                  <a:pt x="97855" y="-6935"/>
                </a:cubicBezTo>
                <a:lnTo>
                  <a:pt x="70850" y="45974"/>
                </a:lnTo>
                <a:lnTo>
                  <a:pt x="12181" y="55293"/>
                </a:lnTo>
                <a:cubicBezTo>
                  <a:pt x="8916" y="55807"/>
                  <a:pt x="6201" y="58119"/>
                  <a:pt x="5173" y="61274"/>
                </a:cubicBezTo>
                <a:cubicBezTo>
                  <a:pt x="4146" y="64430"/>
                  <a:pt x="4990" y="67878"/>
                  <a:pt x="7302" y="70227"/>
                </a:cubicBezTo>
                <a:lnTo>
                  <a:pt x="49276" y="112238"/>
                </a:lnTo>
                <a:lnTo>
                  <a:pt x="40030" y="170907"/>
                </a:lnTo>
                <a:cubicBezTo>
                  <a:pt x="39516" y="174172"/>
                  <a:pt x="40874" y="177475"/>
                  <a:pt x="43552" y="179419"/>
                </a:cubicBezTo>
                <a:cubicBezTo>
                  <a:pt x="46231" y="181364"/>
                  <a:pt x="49753" y="181657"/>
                  <a:pt x="52725" y="180153"/>
                </a:cubicBezTo>
                <a:lnTo>
                  <a:pt x="105707" y="153222"/>
                </a:lnTo>
                <a:lnTo>
                  <a:pt x="158652" y="180153"/>
                </a:lnTo>
                <a:cubicBezTo>
                  <a:pt x="161587" y="181657"/>
                  <a:pt x="165146" y="181364"/>
                  <a:pt x="167825" y="179419"/>
                </a:cubicBezTo>
                <a:cubicBezTo>
                  <a:pt x="170503" y="177475"/>
                  <a:pt x="171861" y="174209"/>
                  <a:pt x="171347" y="170907"/>
                </a:cubicBezTo>
                <a:lnTo>
                  <a:pt x="162064" y="112238"/>
                </a:lnTo>
                <a:lnTo>
                  <a:pt x="204039" y="70227"/>
                </a:lnTo>
                <a:cubicBezTo>
                  <a:pt x="206387" y="67878"/>
                  <a:pt x="207194" y="64430"/>
                  <a:pt x="206167" y="61274"/>
                </a:cubicBezTo>
                <a:cubicBezTo>
                  <a:pt x="205140" y="58119"/>
                  <a:pt x="202461" y="55807"/>
                  <a:pt x="199159" y="55293"/>
                </a:cubicBezTo>
                <a:lnTo>
                  <a:pt x="140527" y="45974"/>
                </a:lnTo>
                <a:lnTo>
                  <a:pt x="113559" y="-6935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2" name="Text 9"/>
          <p:cNvSpPr/>
          <p:nvPr/>
        </p:nvSpPr>
        <p:spPr>
          <a:xfrm>
            <a:off x="6947820" y="1660670"/>
            <a:ext cx="2705159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Variables Clés Identifiées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88002" y="2190430"/>
            <a:ext cx="5229973" cy="533517"/>
          </a:xfrm>
          <a:custGeom>
            <a:avLst/>
            <a:gdLst/>
            <a:ahLst/>
            <a:cxnLst/>
            <a:rect l="l" t="t" r="r" b="b"/>
            <a:pathLst>
              <a:path w="5229973" h="533517">
                <a:moveTo>
                  <a:pt x="75146" y="0"/>
                </a:moveTo>
                <a:lnTo>
                  <a:pt x="5154828" y="0"/>
                </a:lnTo>
                <a:cubicBezTo>
                  <a:pt x="5196330" y="0"/>
                  <a:pt x="5229973" y="33644"/>
                  <a:pt x="5229973" y="75146"/>
                </a:cubicBezTo>
                <a:lnTo>
                  <a:pt x="5229973" y="458371"/>
                </a:lnTo>
                <a:cubicBezTo>
                  <a:pt x="5229973" y="499873"/>
                  <a:pt x="5196330" y="533517"/>
                  <a:pt x="5154828" y="533517"/>
                </a:cubicBezTo>
                <a:lnTo>
                  <a:pt x="75146" y="533517"/>
                </a:lnTo>
                <a:cubicBezTo>
                  <a:pt x="33644" y="533517"/>
                  <a:pt x="0" y="499873"/>
                  <a:pt x="0" y="458371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Shape 11"/>
          <p:cNvSpPr/>
          <p:nvPr/>
        </p:nvSpPr>
        <p:spPr>
          <a:xfrm>
            <a:off x="6504474" y="2306900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75143" y="0"/>
                </a:moveTo>
                <a:lnTo>
                  <a:pt x="225430" y="0"/>
                </a:lnTo>
                <a:cubicBezTo>
                  <a:pt x="266930" y="0"/>
                  <a:pt x="300573" y="33643"/>
                  <a:pt x="300573" y="75143"/>
                </a:cubicBezTo>
                <a:lnTo>
                  <a:pt x="300573" y="225430"/>
                </a:lnTo>
                <a:cubicBezTo>
                  <a:pt x="300573" y="266930"/>
                  <a:pt x="266930" y="300573"/>
                  <a:pt x="225430" y="300573"/>
                </a:cubicBezTo>
                <a:lnTo>
                  <a:pt x="75143" y="300573"/>
                </a:lnTo>
                <a:cubicBezTo>
                  <a:pt x="33643" y="300573"/>
                  <a:pt x="0" y="266930"/>
                  <a:pt x="0" y="22543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Text 12"/>
          <p:cNvSpPr/>
          <p:nvPr/>
        </p:nvSpPr>
        <p:spPr>
          <a:xfrm>
            <a:off x="6625173" y="2344472"/>
            <a:ext cx="13150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17762" y="2344472"/>
            <a:ext cx="242337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Unités validées</a:t>
            </a:r>
            <a:r>
              <a:rPr lang="en-US" sz="1183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au 2ème semestre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88002" y="2806601"/>
            <a:ext cx="5229973" cy="533517"/>
          </a:xfrm>
          <a:custGeom>
            <a:avLst/>
            <a:gdLst/>
            <a:ahLst/>
            <a:cxnLst/>
            <a:rect l="l" t="t" r="r" b="b"/>
            <a:pathLst>
              <a:path w="5229973" h="533517">
                <a:moveTo>
                  <a:pt x="75146" y="0"/>
                </a:moveTo>
                <a:lnTo>
                  <a:pt x="5154828" y="0"/>
                </a:lnTo>
                <a:cubicBezTo>
                  <a:pt x="5196330" y="0"/>
                  <a:pt x="5229973" y="33644"/>
                  <a:pt x="5229973" y="75146"/>
                </a:cubicBezTo>
                <a:lnTo>
                  <a:pt x="5229973" y="458371"/>
                </a:lnTo>
                <a:cubicBezTo>
                  <a:pt x="5229973" y="499873"/>
                  <a:pt x="5196330" y="533517"/>
                  <a:pt x="5154828" y="533517"/>
                </a:cubicBezTo>
                <a:lnTo>
                  <a:pt x="75146" y="533517"/>
                </a:lnTo>
                <a:cubicBezTo>
                  <a:pt x="33644" y="533517"/>
                  <a:pt x="0" y="499873"/>
                  <a:pt x="0" y="458371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8" name="Shape 15"/>
          <p:cNvSpPr/>
          <p:nvPr/>
        </p:nvSpPr>
        <p:spPr>
          <a:xfrm>
            <a:off x="6504474" y="2923076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75143" y="0"/>
                </a:moveTo>
                <a:lnTo>
                  <a:pt x="225430" y="0"/>
                </a:lnTo>
                <a:cubicBezTo>
                  <a:pt x="266930" y="0"/>
                  <a:pt x="300573" y="33643"/>
                  <a:pt x="300573" y="75143"/>
                </a:cubicBezTo>
                <a:lnTo>
                  <a:pt x="300573" y="225430"/>
                </a:lnTo>
                <a:cubicBezTo>
                  <a:pt x="300573" y="266930"/>
                  <a:pt x="266930" y="300573"/>
                  <a:pt x="225430" y="300573"/>
                </a:cubicBezTo>
                <a:lnTo>
                  <a:pt x="75143" y="300573"/>
                </a:lnTo>
                <a:cubicBezTo>
                  <a:pt x="33643" y="300573"/>
                  <a:pt x="0" y="266930"/>
                  <a:pt x="0" y="22543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Text 16"/>
          <p:cNvSpPr/>
          <p:nvPr/>
        </p:nvSpPr>
        <p:spPr>
          <a:xfrm>
            <a:off x="6612493" y="2960648"/>
            <a:ext cx="15968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17762" y="2960648"/>
            <a:ext cx="1803439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Notes</a:t>
            </a:r>
            <a:r>
              <a:rPr lang="en-US" sz="1183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du 2ème semestre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388002" y="3422777"/>
            <a:ext cx="5229973" cy="533517"/>
          </a:xfrm>
          <a:custGeom>
            <a:avLst/>
            <a:gdLst/>
            <a:ahLst/>
            <a:cxnLst/>
            <a:rect l="l" t="t" r="r" b="b"/>
            <a:pathLst>
              <a:path w="5229973" h="533517">
                <a:moveTo>
                  <a:pt x="75146" y="0"/>
                </a:moveTo>
                <a:lnTo>
                  <a:pt x="5154828" y="0"/>
                </a:lnTo>
                <a:cubicBezTo>
                  <a:pt x="5196330" y="0"/>
                  <a:pt x="5229973" y="33644"/>
                  <a:pt x="5229973" y="75146"/>
                </a:cubicBezTo>
                <a:lnTo>
                  <a:pt x="5229973" y="458371"/>
                </a:lnTo>
                <a:cubicBezTo>
                  <a:pt x="5229973" y="499873"/>
                  <a:pt x="5196330" y="533517"/>
                  <a:pt x="5154828" y="533517"/>
                </a:cubicBezTo>
                <a:lnTo>
                  <a:pt x="75146" y="533517"/>
                </a:lnTo>
                <a:cubicBezTo>
                  <a:pt x="33644" y="533517"/>
                  <a:pt x="0" y="499873"/>
                  <a:pt x="0" y="458371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2" name="Shape 19"/>
          <p:cNvSpPr/>
          <p:nvPr/>
        </p:nvSpPr>
        <p:spPr>
          <a:xfrm>
            <a:off x="6504474" y="3539252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75143" y="0"/>
                </a:moveTo>
                <a:lnTo>
                  <a:pt x="225430" y="0"/>
                </a:lnTo>
                <a:cubicBezTo>
                  <a:pt x="266930" y="0"/>
                  <a:pt x="300573" y="33643"/>
                  <a:pt x="300573" y="75143"/>
                </a:cubicBezTo>
                <a:lnTo>
                  <a:pt x="300573" y="225430"/>
                </a:lnTo>
                <a:cubicBezTo>
                  <a:pt x="300573" y="266930"/>
                  <a:pt x="266930" y="300573"/>
                  <a:pt x="225430" y="300573"/>
                </a:cubicBezTo>
                <a:lnTo>
                  <a:pt x="75143" y="300573"/>
                </a:lnTo>
                <a:cubicBezTo>
                  <a:pt x="33643" y="300573"/>
                  <a:pt x="0" y="266930"/>
                  <a:pt x="0" y="22543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0"/>
          <p:cNvSpPr/>
          <p:nvPr/>
        </p:nvSpPr>
        <p:spPr>
          <a:xfrm>
            <a:off x="6610497" y="3576824"/>
            <a:ext cx="15968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17762" y="3576824"/>
            <a:ext cx="1183507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Bourse</a:t>
            </a:r>
            <a:r>
              <a:rPr lang="en-US" sz="1183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d'études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388002" y="4038953"/>
            <a:ext cx="5229973" cy="533517"/>
          </a:xfrm>
          <a:custGeom>
            <a:avLst/>
            <a:gdLst/>
            <a:ahLst/>
            <a:cxnLst/>
            <a:rect l="l" t="t" r="r" b="b"/>
            <a:pathLst>
              <a:path w="5229973" h="533517">
                <a:moveTo>
                  <a:pt x="75146" y="0"/>
                </a:moveTo>
                <a:lnTo>
                  <a:pt x="5154828" y="0"/>
                </a:lnTo>
                <a:cubicBezTo>
                  <a:pt x="5196330" y="0"/>
                  <a:pt x="5229973" y="33644"/>
                  <a:pt x="5229973" y="75146"/>
                </a:cubicBezTo>
                <a:lnTo>
                  <a:pt x="5229973" y="458371"/>
                </a:lnTo>
                <a:cubicBezTo>
                  <a:pt x="5229973" y="499873"/>
                  <a:pt x="5196330" y="533517"/>
                  <a:pt x="5154828" y="533517"/>
                </a:cubicBezTo>
                <a:lnTo>
                  <a:pt x="75146" y="533517"/>
                </a:lnTo>
                <a:cubicBezTo>
                  <a:pt x="33644" y="533517"/>
                  <a:pt x="0" y="499873"/>
                  <a:pt x="0" y="458371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6" name="Shape 23"/>
          <p:cNvSpPr/>
          <p:nvPr/>
        </p:nvSpPr>
        <p:spPr>
          <a:xfrm>
            <a:off x="6504474" y="4155423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75143" y="0"/>
                </a:moveTo>
                <a:lnTo>
                  <a:pt x="225430" y="0"/>
                </a:lnTo>
                <a:cubicBezTo>
                  <a:pt x="266930" y="0"/>
                  <a:pt x="300573" y="33643"/>
                  <a:pt x="300573" y="75143"/>
                </a:cubicBezTo>
                <a:lnTo>
                  <a:pt x="300573" y="225430"/>
                </a:lnTo>
                <a:cubicBezTo>
                  <a:pt x="300573" y="266930"/>
                  <a:pt x="266930" y="300573"/>
                  <a:pt x="225430" y="300573"/>
                </a:cubicBezTo>
                <a:lnTo>
                  <a:pt x="75143" y="300573"/>
                </a:lnTo>
                <a:cubicBezTo>
                  <a:pt x="33643" y="300573"/>
                  <a:pt x="0" y="266930"/>
                  <a:pt x="0" y="22543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7" name="Text 24"/>
          <p:cNvSpPr/>
          <p:nvPr/>
        </p:nvSpPr>
        <p:spPr>
          <a:xfrm>
            <a:off x="6610615" y="4192995"/>
            <a:ext cx="15968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917762" y="4192995"/>
            <a:ext cx="168133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Frais de scolarité</a:t>
            </a:r>
            <a:r>
              <a:rPr lang="en-US" sz="1183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à jour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88002" y="4655129"/>
            <a:ext cx="5229973" cy="533517"/>
          </a:xfrm>
          <a:custGeom>
            <a:avLst/>
            <a:gdLst/>
            <a:ahLst/>
            <a:cxnLst/>
            <a:rect l="l" t="t" r="r" b="b"/>
            <a:pathLst>
              <a:path w="5229973" h="533517">
                <a:moveTo>
                  <a:pt x="75146" y="0"/>
                </a:moveTo>
                <a:lnTo>
                  <a:pt x="5154828" y="0"/>
                </a:lnTo>
                <a:cubicBezTo>
                  <a:pt x="5196330" y="0"/>
                  <a:pt x="5229973" y="33644"/>
                  <a:pt x="5229973" y="75146"/>
                </a:cubicBezTo>
                <a:lnTo>
                  <a:pt x="5229973" y="458371"/>
                </a:lnTo>
                <a:cubicBezTo>
                  <a:pt x="5229973" y="499873"/>
                  <a:pt x="5196330" y="533517"/>
                  <a:pt x="5154828" y="533517"/>
                </a:cubicBezTo>
                <a:lnTo>
                  <a:pt x="75146" y="533517"/>
                </a:lnTo>
                <a:cubicBezTo>
                  <a:pt x="33644" y="533517"/>
                  <a:pt x="0" y="499873"/>
                  <a:pt x="0" y="458371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0" name="Shape 27"/>
          <p:cNvSpPr/>
          <p:nvPr/>
        </p:nvSpPr>
        <p:spPr>
          <a:xfrm>
            <a:off x="6504474" y="4771599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75143" y="0"/>
                </a:moveTo>
                <a:lnTo>
                  <a:pt x="225430" y="0"/>
                </a:lnTo>
                <a:cubicBezTo>
                  <a:pt x="266930" y="0"/>
                  <a:pt x="300573" y="33643"/>
                  <a:pt x="300573" y="75143"/>
                </a:cubicBezTo>
                <a:lnTo>
                  <a:pt x="300573" y="225430"/>
                </a:lnTo>
                <a:cubicBezTo>
                  <a:pt x="300573" y="266930"/>
                  <a:pt x="266930" y="300573"/>
                  <a:pt x="225430" y="300573"/>
                </a:cubicBezTo>
                <a:lnTo>
                  <a:pt x="75143" y="300573"/>
                </a:lnTo>
                <a:cubicBezTo>
                  <a:pt x="33643" y="300573"/>
                  <a:pt x="0" y="266930"/>
                  <a:pt x="0" y="22543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1" name="Text 28"/>
          <p:cNvSpPr/>
          <p:nvPr/>
        </p:nvSpPr>
        <p:spPr>
          <a:xfrm>
            <a:off x="6504474" y="4696456"/>
            <a:ext cx="375716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5-15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917762" y="4809171"/>
            <a:ext cx="371020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Autres variables académiques et socio-économiques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79474" y="5579391"/>
            <a:ext cx="11429296" cy="1275557"/>
          </a:xfrm>
          <a:custGeom>
            <a:avLst/>
            <a:gdLst/>
            <a:ahLst/>
            <a:cxnLst/>
            <a:rect l="l" t="t" r="r" b="b"/>
            <a:pathLst>
              <a:path w="11429296" h="1275557">
                <a:moveTo>
                  <a:pt x="112721" y="0"/>
                </a:moveTo>
                <a:lnTo>
                  <a:pt x="11316575" y="0"/>
                </a:lnTo>
                <a:cubicBezTo>
                  <a:pt x="11378829" y="0"/>
                  <a:pt x="11429296" y="50467"/>
                  <a:pt x="11429296" y="112721"/>
                </a:cubicBezTo>
                <a:lnTo>
                  <a:pt x="11429296" y="1162836"/>
                </a:lnTo>
                <a:cubicBezTo>
                  <a:pt x="11429296" y="1225091"/>
                  <a:pt x="11378829" y="1275557"/>
                  <a:pt x="11316575" y="1275557"/>
                </a:cubicBezTo>
                <a:lnTo>
                  <a:pt x="112721" y="1275557"/>
                </a:lnTo>
                <a:cubicBezTo>
                  <a:pt x="50467" y="1275557"/>
                  <a:pt x="0" y="1225091"/>
                  <a:pt x="0" y="1162836"/>
                </a:cubicBezTo>
                <a:lnTo>
                  <a:pt x="0" y="112721"/>
                </a:lnTo>
                <a:cubicBezTo>
                  <a:pt x="0" y="50509"/>
                  <a:pt x="50509" y="0"/>
                  <a:pt x="11272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4" name="Shape 31"/>
          <p:cNvSpPr/>
          <p:nvPr/>
        </p:nvSpPr>
        <p:spPr>
          <a:xfrm>
            <a:off x="571089" y="5771004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75145" y="0"/>
                </a:moveTo>
                <a:lnTo>
                  <a:pt x="450858" y="0"/>
                </a:lnTo>
                <a:cubicBezTo>
                  <a:pt x="492332" y="0"/>
                  <a:pt x="526003" y="33671"/>
                  <a:pt x="526003" y="75145"/>
                </a:cubicBezTo>
                <a:lnTo>
                  <a:pt x="526003" y="450858"/>
                </a:lnTo>
                <a:cubicBezTo>
                  <a:pt x="526003" y="492360"/>
                  <a:pt x="492360" y="526003"/>
                  <a:pt x="450858" y="526003"/>
                </a:cubicBezTo>
                <a:lnTo>
                  <a:pt x="75145" y="526003"/>
                </a:lnTo>
                <a:cubicBezTo>
                  <a:pt x="33671" y="526003"/>
                  <a:pt x="0" y="492332"/>
                  <a:pt x="0" y="450858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5" name="Shape 32"/>
          <p:cNvSpPr/>
          <p:nvPr/>
        </p:nvSpPr>
        <p:spPr>
          <a:xfrm>
            <a:off x="749554" y="5921291"/>
            <a:ext cx="169072" cy="225430"/>
          </a:xfrm>
          <a:custGeom>
            <a:avLst/>
            <a:gdLst/>
            <a:ahLst/>
            <a:cxnLst/>
            <a:rect l="l" t="t" r="r" b="b"/>
            <a:pathLst>
              <a:path w="169072" h="225430">
                <a:moveTo>
                  <a:pt x="128962" y="169072"/>
                </a:moveTo>
                <a:cubicBezTo>
                  <a:pt x="132176" y="159254"/>
                  <a:pt x="138604" y="150360"/>
                  <a:pt x="145869" y="142699"/>
                </a:cubicBezTo>
                <a:cubicBezTo>
                  <a:pt x="160267" y="127553"/>
                  <a:pt x="169072" y="107079"/>
                  <a:pt x="169072" y="84536"/>
                </a:cubicBezTo>
                <a:cubicBezTo>
                  <a:pt x="169072" y="37865"/>
                  <a:pt x="131207" y="0"/>
                  <a:pt x="84536" y="0"/>
                </a:cubicBezTo>
                <a:cubicBezTo>
                  <a:pt x="37865" y="0"/>
                  <a:pt x="0" y="37865"/>
                  <a:pt x="0" y="84536"/>
                </a:cubicBezTo>
                <a:cubicBezTo>
                  <a:pt x="0" y="107079"/>
                  <a:pt x="8806" y="127553"/>
                  <a:pt x="23203" y="142699"/>
                </a:cubicBezTo>
                <a:cubicBezTo>
                  <a:pt x="30468" y="150360"/>
                  <a:pt x="36941" y="159254"/>
                  <a:pt x="40111" y="169072"/>
                </a:cubicBezTo>
                <a:lnTo>
                  <a:pt x="128918" y="169072"/>
                </a:lnTo>
                <a:close/>
                <a:moveTo>
                  <a:pt x="126804" y="190206"/>
                </a:moveTo>
                <a:lnTo>
                  <a:pt x="42268" y="190206"/>
                </a:lnTo>
                <a:lnTo>
                  <a:pt x="42268" y="197251"/>
                </a:lnTo>
                <a:cubicBezTo>
                  <a:pt x="42268" y="216712"/>
                  <a:pt x="58031" y="232475"/>
                  <a:pt x="77492" y="232475"/>
                </a:cubicBezTo>
                <a:lnTo>
                  <a:pt x="91581" y="232475"/>
                </a:lnTo>
                <a:cubicBezTo>
                  <a:pt x="111042" y="232475"/>
                  <a:pt x="126804" y="216712"/>
                  <a:pt x="126804" y="197251"/>
                </a:cubicBezTo>
                <a:lnTo>
                  <a:pt x="126804" y="190206"/>
                </a:lnTo>
                <a:close/>
                <a:moveTo>
                  <a:pt x="81014" y="49313"/>
                </a:moveTo>
                <a:cubicBezTo>
                  <a:pt x="63490" y="49313"/>
                  <a:pt x="49313" y="63490"/>
                  <a:pt x="49313" y="81014"/>
                </a:cubicBezTo>
                <a:cubicBezTo>
                  <a:pt x="49313" y="86870"/>
                  <a:pt x="44602" y="91581"/>
                  <a:pt x="38746" y="91581"/>
                </a:cubicBezTo>
                <a:cubicBezTo>
                  <a:pt x="32890" y="91581"/>
                  <a:pt x="28179" y="86870"/>
                  <a:pt x="28179" y="81014"/>
                </a:cubicBezTo>
                <a:cubicBezTo>
                  <a:pt x="28179" y="51822"/>
                  <a:pt x="51822" y="28179"/>
                  <a:pt x="81014" y="28179"/>
                </a:cubicBezTo>
                <a:cubicBezTo>
                  <a:pt x="86870" y="28179"/>
                  <a:pt x="91581" y="32890"/>
                  <a:pt x="91581" y="38746"/>
                </a:cubicBezTo>
                <a:cubicBezTo>
                  <a:pt x="91581" y="44602"/>
                  <a:pt x="86870" y="49313"/>
                  <a:pt x="81014" y="49313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6" name="Text 33"/>
          <p:cNvSpPr/>
          <p:nvPr/>
        </p:nvSpPr>
        <p:spPr>
          <a:xfrm>
            <a:off x="1247379" y="5771004"/>
            <a:ext cx="10463704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247379" y="6109149"/>
            <a:ext cx="10454311" cy="55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Les </a:t>
            </a:r>
            <a:r>
              <a:rPr lang="en-US" sz="1331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performances académiques immédiates</a:t>
            </a:r>
            <a:r>
              <a:rPr lang="en-US" sz="133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(semestre 2) sont les meilleurs indicateurs de la trajectoire future de l'étudiant. Les facteurs </a:t>
            </a:r>
            <a:r>
              <a:rPr lang="en-US" sz="1331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économiques</a:t>
            </a:r>
            <a:r>
              <a:rPr lang="en-US" sz="133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(bourse, frais) jouent également un rôle déterminant dans la réussite ou l'abandon.</a:t>
            </a:r>
            <a:endParaRPr lang="en-US" sz="16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6A20DF5-3B5A-2213-22A5-119B2E513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87" y="2100259"/>
            <a:ext cx="4578349" cy="311092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4687" y="616905"/>
            <a:ext cx="11737438" cy="38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6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Stratégie de Modélisation (Boosting)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7934" y="1204589"/>
            <a:ext cx="5688518" cy="4763160"/>
          </a:xfrm>
          <a:custGeom>
            <a:avLst/>
            <a:gdLst/>
            <a:ahLst/>
            <a:cxnLst/>
            <a:rect l="l" t="t" r="r" b="b"/>
            <a:pathLst>
              <a:path w="5688518" h="4763160">
                <a:moveTo>
                  <a:pt x="97407" y="0"/>
                </a:moveTo>
                <a:lnTo>
                  <a:pt x="5591111" y="0"/>
                </a:lnTo>
                <a:cubicBezTo>
                  <a:pt x="5644907" y="0"/>
                  <a:pt x="5688518" y="43610"/>
                  <a:pt x="5688518" y="97407"/>
                </a:cubicBezTo>
                <a:lnTo>
                  <a:pt x="5688518" y="4665753"/>
                </a:lnTo>
                <a:cubicBezTo>
                  <a:pt x="5688518" y="4719549"/>
                  <a:pt x="5644907" y="4763160"/>
                  <a:pt x="5591111" y="4763160"/>
                </a:cubicBezTo>
                <a:lnTo>
                  <a:pt x="97407" y="4763160"/>
                </a:lnTo>
                <a:cubicBezTo>
                  <a:pt x="43610" y="4763160"/>
                  <a:pt x="0" y="4719549"/>
                  <a:pt x="0" y="4665753"/>
                </a:cubicBezTo>
                <a:lnTo>
                  <a:pt x="0" y="97407"/>
                </a:lnTo>
                <a:cubicBezTo>
                  <a:pt x="0" y="43646"/>
                  <a:pt x="43646" y="0"/>
                  <a:pt x="9740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493524" y="1370182"/>
            <a:ext cx="389625" cy="389625"/>
          </a:xfrm>
          <a:custGeom>
            <a:avLst/>
            <a:gdLst/>
            <a:ahLst/>
            <a:cxnLst/>
            <a:rect l="l" t="t" r="r" b="b"/>
            <a:pathLst>
              <a:path w="389625" h="389625">
                <a:moveTo>
                  <a:pt x="64939" y="0"/>
                </a:moveTo>
                <a:lnTo>
                  <a:pt x="324686" y="0"/>
                </a:lnTo>
                <a:cubicBezTo>
                  <a:pt x="360550" y="0"/>
                  <a:pt x="389625" y="29074"/>
                  <a:pt x="389625" y="64939"/>
                </a:cubicBezTo>
                <a:lnTo>
                  <a:pt x="389625" y="324686"/>
                </a:lnTo>
                <a:cubicBezTo>
                  <a:pt x="389625" y="360550"/>
                  <a:pt x="360550" y="389625"/>
                  <a:pt x="324686" y="389625"/>
                </a:cubicBezTo>
                <a:lnTo>
                  <a:pt x="64939" y="389625"/>
                </a:lnTo>
                <a:cubicBezTo>
                  <a:pt x="29074" y="389625"/>
                  <a:pt x="0" y="360550"/>
                  <a:pt x="0" y="324686"/>
                </a:cubicBezTo>
                <a:lnTo>
                  <a:pt x="0" y="64939"/>
                </a:lnTo>
                <a:cubicBezTo>
                  <a:pt x="0" y="29074"/>
                  <a:pt x="29074" y="0"/>
                  <a:pt x="6493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607165" y="1483822"/>
            <a:ext cx="162344" cy="162344"/>
          </a:xfrm>
          <a:custGeom>
            <a:avLst/>
            <a:gdLst/>
            <a:ahLst/>
            <a:cxnLst/>
            <a:rect l="l" t="t" r="r" b="b"/>
            <a:pathLst>
              <a:path w="162344" h="162344">
                <a:moveTo>
                  <a:pt x="40586" y="101465"/>
                </a:moveTo>
                <a:lnTo>
                  <a:pt x="7768" y="101465"/>
                </a:lnTo>
                <a:cubicBezTo>
                  <a:pt x="-127" y="101465"/>
                  <a:pt x="-4978" y="92872"/>
                  <a:pt x="-920" y="86086"/>
                </a:cubicBezTo>
                <a:lnTo>
                  <a:pt x="15854" y="58120"/>
                </a:lnTo>
                <a:cubicBezTo>
                  <a:pt x="18612" y="53523"/>
                  <a:pt x="23559" y="50732"/>
                  <a:pt x="28917" y="50732"/>
                </a:cubicBezTo>
                <a:lnTo>
                  <a:pt x="59040" y="50732"/>
                </a:lnTo>
                <a:cubicBezTo>
                  <a:pt x="83169" y="9861"/>
                  <a:pt x="119158" y="7800"/>
                  <a:pt x="143224" y="11320"/>
                </a:cubicBezTo>
                <a:cubicBezTo>
                  <a:pt x="147282" y="11922"/>
                  <a:pt x="150453" y="15093"/>
                  <a:pt x="151024" y="19120"/>
                </a:cubicBezTo>
                <a:cubicBezTo>
                  <a:pt x="154543" y="43186"/>
                  <a:pt x="152482" y="79174"/>
                  <a:pt x="111611" y="103304"/>
                </a:cubicBezTo>
                <a:lnTo>
                  <a:pt x="111611" y="133426"/>
                </a:lnTo>
                <a:cubicBezTo>
                  <a:pt x="111611" y="138785"/>
                  <a:pt x="108821" y="143731"/>
                  <a:pt x="104223" y="146490"/>
                </a:cubicBezTo>
                <a:lnTo>
                  <a:pt x="76257" y="163263"/>
                </a:lnTo>
                <a:cubicBezTo>
                  <a:pt x="69503" y="167322"/>
                  <a:pt x="60879" y="162439"/>
                  <a:pt x="60879" y="154575"/>
                </a:cubicBezTo>
                <a:lnTo>
                  <a:pt x="60879" y="121758"/>
                </a:lnTo>
                <a:cubicBezTo>
                  <a:pt x="60879" y="110565"/>
                  <a:pt x="51779" y="101465"/>
                  <a:pt x="40586" y="101465"/>
                </a:cubicBezTo>
                <a:lnTo>
                  <a:pt x="40554" y="101465"/>
                </a:lnTo>
                <a:close/>
                <a:moveTo>
                  <a:pt x="126831" y="50732"/>
                </a:moveTo>
                <a:cubicBezTo>
                  <a:pt x="126831" y="42332"/>
                  <a:pt x="120011" y="35513"/>
                  <a:pt x="111611" y="35513"/>
                </a:cubicBezTo>
                <a:cubicBezTo>
                  <a:pt x="103211" y="35513"/>
                  <a:pt x="96391" y="42332"/>
                  <a:pt x="96391" y="50732"/>
                </a:cubicBezTo>
                <a:cubicBezTo>
                  <a:pt x="96391" y="59132"/>
                  <a:pt x="103211" y="65952"/>
                  <a:pt x="111611" y="65952"/>
                </a:cubicBezTo>
                <a:cubicBezTo>
                  <a:pt x="120011" y="65952"/>
                  <a:pt x="126831" y="59132"/>
                  <a:pt x="126831" y="50732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980555" y="1435119"/>
            <a:ext cx="1810130" cy="25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4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Approche Boosting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6771" y="1892928"/>
            <a:ext cx="5347596" cy="2344241"/>
          </a:xfrm>
          <a:custGeom>
            <a:avLst/>
            <a:gdLst/>
            <a:ahLst/>
            <a:cxnLst/>
            <a:rect l="l" t="t" r="r" b="b"/>
            <a:pathLst>
              <a:path w="5347596" h="2344241">
                <a:moveTo>
                  <a:pt x="64935" y="0"/>
                </a:moveTo>
                <a:lnTo>
                  <a:pt x="5282661" y="0"/>
                </a:lnTo>
                <a:cubicBezTo>
                  <a:pt x="5318524" y="0"/>
                  <a:pt x="5347596" y="29073"/>
                  <a:pt x="5347596" y="64935"/>
                </a:cubicBezTo>
                <a:lnTo>
                  <a:pt x="5347596" y="2279305"/>
                </a:lnTo>
                <a:cubicBezTo>
                  <a:pt x="5347596" y="2315168"/>
                  <a:pt x="5318524" y="2344241"/>
                  <a:pt x="5282661" y="2344241"/>
                </a:cubicBezTo>
                <a:lnTo>
                  <a:pt x="64935" y="2344241"/>
                </a:lnTo>
                <a:cubicBezTo>
                  <a:pt x="29073" y="2344241"/>
                  <a:pt x="0" y="2315168"/>
                  <a:pt x="0" y="2279305"/>
                </a:cubicBezTo>
                <a:lnTo>
                  <a:pt x="0" y="64935"/>
                </a:lnTo>
                <a:cubicBezTo>
                  <a:pt x="0" y="29097"/>
                  <a:pt x="29097" y="0"/>
                  <a:pt x="6493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629893" y="2026048"/>
            <a:ext cx="5146290" cy="42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3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 </a:t>
            </a:r>
            <a:r>
              <a:rPr lang="en-US" sz="1023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Boosting</a:t>
            </a:r>
            <a:r>
              <a:rPr lang="en-US" sz="1023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est une technique d'apprentissage séquentiel où chaque modèle corrige les erreurs du précédent.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9893" y="2545548"/>
            <a:ext cx="5081353" cy="1558498"/>
          </a:xfrm>
          <a:custGeom>
            <a:avLst/>
            <a:gdLst/>
            <a:ahLst/>
            <a:cxnLst/>
            <a:rect l="l" t="t" r="r" b="b"/>
            <a:pathLst>
              <a:path w="5081353" h="1558498">
                <a:moveTo>
                  <a:pt x="64943" y="0"/>
                </a:moveTo>
                <a:lnTo>
                  <a:pt x="5016410" y="0"/>
                </a:lnTo>
                <a:cubicBezTo>
                  <a:pt x="5052277" y="0"/>
                  <a:pt x="5081353" y="29076"/>
                  <a:pt x="5081353" y="64943"/>
                </a:cubicBezTo>
                <a:lnTo>
                  <a:pt x="5081353" y="1493555"/>
                </a:lnTo>
                <a:cubicBezTo>
                  <a:pt x="5081353" y="1529422"/>
                  <a:pt x="5052277" y="1558498"/>
                  <a:pt x="5016410" y="1558498"/>
                </a:cubicBezTo>
                <a:lnTo>
                  <a:pt x="64943" y="1558498"/>
                </a:lnTo>
                <a:cubicBezTo>
                  <a:pt x="29076" y="1558498"/>
                  <a:pt x="0" y="1529422"/>
                  <a:pt x="0" y="1493555"/>
                </a:cubicBezTo>
                <a:lnTo>
                  <a:pt x="0" y="64943"/>
                </a:lnTo>
                <a:cubicBezTo>
                  <a:pt x="0" y="29100"/>
                  <a:pt x="29100" y="0"/>
                  <a:pt x="64943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727299" y="2642954"/>
            <a:ext cx="4951478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Principe 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7174" y="2902703"/>
            <a:ext cx="4821603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Entraînement d'un modèle faible initial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7174" y="3129984"/>
            <a:ext cx="4821603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Identification des erreurs de prédiction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174" y="3357265"/>
            <a:ext cx="4821603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Pondération des échantillons mal classés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7174" y="3584546"/>
            <a:ext cx="4821603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Entraînement d'un nouveau modèle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174" y="3811827"/>
            <a:ext cx="4821603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Combinaison des modèles par vote pondéré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6771" y="4373534"/>
            <a:ext cx="1711101" cy="850680"/>
          </a:xfrm>
          <a:custGeom>
            <a:avLst/>
            <a:gdLst/>
            <a:ahLst/>
            <a:cxnLst/>
            <a:rect l="l" t="t" r="r" b="b"/>
            <a:pathLst>
              <a:path w="1711101" h="850680">
                <a:moveTo>
                  <a:pt x="64941" y="0"/>
                </a:moveTo>
                <a:lnTo>
                  <a:pt x="1646160" y="0"/>
                </a:lnTo>
                <a:cubicBezTo>
                  <a:pt x="1682026" y="0"/>
                  <a:pt x="1711101" y="29075"/>
                  <a:pt x="1711101" y="64941"/>
                </a:cubicBezTo>
                <a:lnTo>
                  <a:pt x="1711101" y="785739"/>
                </a:lnTo>
                <a:cubicBezTo>
                  <a:pt x="1711101" y="821605"/>
                  <a:pt x="1682026" y="850680"/>
                  <a:pt x="1646160" y="850680"/>
                </a:cubicBezTo>
                <a:lnTo>
                  <a:pt x="64941" y="850680"/>
                </a:lnTo>
                <a:cubicBezTo>
                  <a:pt x="29099" y="850680"/>
                  <a:pt x="0" y="821581"/>
                  <a:pt x="0" y="785739"/>
                </a:cubicBezTo>
                <a:lnTo>
                  <a:pt x="0" y="64941"/>
                </a:lnTo>
                <a:cubicBezTo>
                  <a:pt x="0" y="29075"/>
                  <a:pt x="29075" y="0"/>
                  <a:pt x="64941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8" name="Shape 16"/>
          <p:cNvSpPr/>
          <p:nvPr/>
        </p:nvSpPr>
        <p:spPr>
          <a:xfrm>
            <a:off x="1280180" y="4474190"/>
            <a:ext cx="146109" cy="194812"/>
          </a:xfrm>
          <a:custGeom>
            <a:avLst/>
            <a:gdLst/>
            <a:ahLst/>
            <a:cxnLst/>
            <a:rect l="l" t="t" r="r" b="b"/>
            <a:pathLst>
              <a:path w="146109" h="194812">
                <a:moveTo>
                  <a:pt x="81654" y="6621"/>
                </a:moveTo>
                <a:cubicBezTo>
                  <a:pt x="76898" y="1864"/>
                  <a:pt x="69174" y="1864"/>
                  <a:pt x="64417" y="6621"/>
                </a:cubicBezTo>
                <a:lnTo>
                  <a:pt x="3539" y="67499"/>
                </a:lnTo>
                <a:cubicBezTo>
                  <a:pt x="-1218" y="72256"/>
                  <a:pt x="-1218" y="79980"/>
                  <a:pt x="3539" y="84736"/>
                </a:cubicBezTo>
                <a:cubicBezTo>
                  <a:pt x="8295" y="89492"/>
                  <a:pt x="16019" y="89492"/>
                  <a:pt x="20775" y="84736"/>
                </a:cubicBezTo>
                <a:lnTo>
                  <a:pt x="60879" y="44632"/>
                </a:lnTo>
                <a:lnTo>
                  <a:pt x="60879" y="185680"/>
                </a:lnTo>
                <a:cubicBezTo>
                  <a:pt x="60879" y="192415"/>
                  <a:pt x="66320" y="197856"/>
                  <a:pt x="73055" y="197856"/>
                </a:cubicBezTo>
                <a:cubicBezTo>
                  <a:pt x="79789" y="197856"/>
                  <a:pt x="85230" y="192415"/>
                  <a:pt x="85230" y="185680"/>
                </a:cubicBezTo>
                <a:lnTo>
                  <a:pt x="85230" y="44632"/>
                </a:lnTo>
                <a:lnTo>
                  <a:pt x="125334" y="84736"/>
                </a:lnTo>
                <a:cubicBezTo>
                  <a:pt x="130090" y="89492"/>
                  <a:pt x="137814" y="89492"/>
                  <a:pt x="142571" y="84736"/>
                </a:cubicBezTo>
                <a:cubicBezTo>
                  <a:pt x="147327" y="79980"/>
                  <a:pt x="147327" y="72256"/>
                  <a:pt x="142571" y="67499"/>
                </a:cubicBezTo>
                <a:lnTo>
                  <a:pt x="81692" y="6621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564956" y="4733939"/>
            <a:ext cx="1574732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Précision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4956" y="4928752"/>
            <a:ext cx="1574732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Élevée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313598" y="4373534"/>
            <a:ext cx="1711101" cy="850680"/>
          </a:xfrm>
          <a:custGeom>
            <a:avLst/>
            <a:gdLst/>
            <a:ahLst/>
            <a:cxnLst/>
            <a:rect l="l" t="t" r="r" b="b"/>
            <a:pathLst>
              <a:path w="1711101" h="850680">
                <a:moveTo>
                  <a:pt x="64941" y="0"/>
                </a:moveTo>
                <a:lnTo>
                  <a:pt x="1646160" y="0"/>
                </a:lnTo>
                <a:cubicBezTo>
                  <a:pt x="1682026" y="0"/>
                  <a:pt x="1711101" y="29075"/>
                  <a:pt x="1711101" y="64941"/>
                </a:cubicBezTo>
                <a:lnTo>
                  <a:pt x="1711101" y="785739"/>
                </a:lnTo>
                <a:cubicBezTo>
                  <a:pt x="1711101" y="821605"/>
                  <a:pt x="1682026" y="850680"/>
                  <a:pt x="1646160" y="850680"/>
                </a:cubicBezTo>
                <a:lnTo>
                  <a:pt x="64941" y="850680"/>
                </a:lnTo>
                <a:cubicBezTo>
                  <a:pt x="29099" y="850680"/>
                  <a:pt x="0" y="821581"/>
                  <a:pt x="0" y="785739"/>
                </a:cubicBezTo>
                <a:lnTo>
                  <a:pt x="0" y="64941"/>
                </a:lnTo>
                <a:cubicBezTo>
                  <a:pt x="0" y="29075"/>
                  <a:pt x="29075" y="0"/>
                  <a:pt x="6494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2" name="Shape 20"/>
          <p:cNvSpPr/>
          <p:nvPr/>
        </p:nvSpPr>
        <p:spPr>
          <a:xfrm>
            <a:off x="3072656" y="4474190"/>
            <a:ext cx="194812" cy="194812"/>
          </a:xfrm>
          <a:custGeom>
            <a:avLst/>
            <a:gdLst/>
            <a:ahLst/>
            <a:cxnLst/>
            <a:rect l="l" t="t" r="r" b="b"/>
            <a:pathLst>
              <a:path w="194812" h="194812">
                <a:moveTo>
                  <a:pt x="97406" y="0"/>
                </a:moveTo>
                <a:cubicBezTo>
                  <a:pt x="99156" y="0"/>
                  <a:pt x="100907" y="380"/>
                  <a:pt x="102505" y="1103"/>
                </a:cubicBezTo>
                <a:lnTo>
                  <a:pt x="174190" y="31505"/>
                </a:lnTo>
                <a:cubicBezTo>
                  <a:pt x="182560" y="35043"/>
                  <a:pt x="188800" y="43300"/>
                  <a:pt x="188762" y="53269"/>
                </a:cubicBezTo>
                <a:cubicBezTo>
                  <a:pt x="188572" y="91014"/>
                  <a:pt x="173048" y="160073"/>
                  <a:pt x="107489" y="191464"/>
                </a:cubicBezTo>
                <a:cubicBezTo>
                  <a:pt x="101135" y="194508"/>
                  <a:pt x="93753" y="194508"/>
                  <a:pt x="87399" y="191464"/>
                </a:cubicBezTo>
                <a:cubicBezTo>
                  <a:pt x="21802" y="160073"/>
                  <a:pt x="6316" y="91014"/>
                  <a:pt x="6126" y="53269"/>
                </a:cubicBezTo>
                <a:cubicBezTo>
                  <a:pt x="6088" y="43300"/>
                  <a:pt x="12328" y="35043"/>
                  <a:pt x="20699" y="31505"/>
                </a:cubicBezTo>
                <a:lnTo>
                  <a:pt x="92346" y="1103"/>
                </a:lnTo>
                <a:cubicBezTo>
                  <a:pt x="93944" y="380"/>
                  <a:pt x="95656" y="0"/>
                  <a:pt x="97406" y="0"/>
                </a:cubicBezTo>
                <a:close/>
                <a:moveTo>
                  <a:pt x="97406" y="25417"/>
                </a:moveTo>
                <a:lnTo>
                  <a:pt x="97406" y="169281"/>
                </a:lnTo>
                <a:cubicBezTo>
                  <a:pt x="149914" y="143864"/>
                  <a:pt x="164030" y="87551"/>
                  <a:pt x="164373" y="53840"/>
                </a:cubicBezTo>
                <a:lnTo>
                  <a:pt x="97406" y="25455"/>
                </a:lnTo>
                <a:lnTo>
                  <a:pt x="97406" y="25455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1"/>
          <p:cNvSpPr/>
          <p:nvPr/>
        </p:nvSpPr>
        <p:spPr>
          <a:xfrm>
            <a:off x="2381783" y="4733939"/>
            <a:ext cx="1574732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Robustesse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81783" y="4928752"/>
            <a:ext cx="1574732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Aux outliers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130527" y="4373534"/>
            <a:ext cx="1711101" cy="850680"/>
          </a:xfrm>
          <a:custGeom>
            <a:avLst/>
            <a:gdLst/>
            <a:ahLst/>
            <a:cxnLst/>
            <a:rect l="l" t="t" r="r" b="b"/>
            <a:pathLst>
              <a:path w="1711101" h="850680">
                <a:moveTo>
                  <a:pt x="64941" y="0"/>
                </a:moveTo>
                <a:lnTo>
                  <a:pt x="1646160" y="0"/>
                </a:lnTo>
                <a:cubicBezTo>
                  <a:pt x="1682026" y="0"/>
                  <a:pt x="1711101" y="29075"/>
                  <a:pt x="1711101" y="64941"/>
                </a:cubicBezTo>
                <a:lnTo>
                  <a:pt x="1711101" y="785739"/>
                </a:lnTo>
                <a:cubicBezTo>
                  <a:pt x="1711101" y="821605"/>
                  <a:pt x="1682026" y="850680"/>
                  <a:pt x="1646160" y="850680"/>
                </a:cubicBezTo>
                <a:lnTo>
                  <a:pt x="64941" y="850680"/>
                </a:lnTo>
                <a:cubicBezTo>
                  <a:pt x="29099" y="850680"/>
                  <a:pt x="0" y="821581"/>
                  <a:pt x="0" y="785739"/>
                </a:cubicBezTo>
                <a:lnTo>
                  <a:pt x="0" y="64941"/>
                </a:lnTo>
                <a:cubicBezTo>
                  <a:pt x="0" y="29075"/>
                  <a:pt x="29075" y="0"/>
                  <a:pt x="64941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6" name="Shape 24"/>
          <p:cNvSpPr/>
          <p:nvPr/>
        </p:nvSpPr>
        <p:spPr>
          <a:xfrm>
            <a:off x="4889585" y="4474190"/>
            <a:ext cx="194812" cy="194812"/>
          </a:xfrm>
          <a:custGeom>
            <a:avLst/>
            <a:gdLst/>
            <a:ahLst/>
            <a:cxnLst/>
            <a:rect l="l" t="t" r="r" b="b"/>
            <a:pathLst>
              <a:path w="194812" h="194812">
                <a:moveTo>
                  <a:pt x="0" y="30439"/>
                </a:moveTo>
                <a:cubicBezTo>
                  <a:pt x="0" y="20356"/>
                  <a:pt x="8181" y="12176"/>
                  <a:pt x="18264" y="12176"/>
                </a:cubicBezTo>
                <a:lnTo>
                  <a:pt x="54791" y="12176"/>
                </a:lnTo>
                <a:cubicBezTo>
                  <a:pt x="64874" y="12176"/>
                  <a:pt x="73055" y="20356"/>
                  <a:pt x="73055" y="30439"/>
                </a:cubicBezTo>
                <a:lnTo>
                  <a:pt x="73055" y="36527"/>
                </a:lnTo>
                <a:lnTo>
                  <a:pt x="121758" y="36527"/>
                </a:lnTo>
                <a:lnTo>
                  <a:pt x="121758" y="30439"/>
                </a:lnTo>
                <a:cubicBezTo>
                  <a:pt x="121758" y="20356"/>
                  <a:pt x="129938" y="12176"/>
                  <a:pt x="140021" y="12176"/>
                </a:cubicBezTo>
                <a:lnTo>
                  <a:pt x="176549" y="12176"/>
                </a:lnTo>
                <a:cubicBezTo>
                  <a:pt x="186632" y="12176"/>
                  <a:pt x="194812" y="20356"/>
                  <a:pt x="194812" y="30439"/>
                </a:cubicBezTo>
                <a:lnTo>
                  <a:pt x="194812" y="66967"/>
                </a:lnTo>
                <a:cubicBezTo>
                  <a:pt x="194812" y="77050"/>
                  <a:pt x="186632" y="85230"/>
                  <a:pt x="176549" y="85230"/>
                </a:cubicBezTo>
                <a:lnTo>
                  <a:pt x="140021" y="85230"/>
                </a:lnTo>
                <a:cubicBezTo>
                  <a:pt x="129938" y="85230"/>
                  <a:pt x="121758" y="77050"/>
                  <a:pt x="121758" y="66967"/>
                </a:cubicBezTo>
                <a:lnTo>
                  <a:pt x="121758" y="60879"/>
                </a:lnTo>
                <a:lnTo>
                  <a:pt x="73055" y="60879"/>
                </a:lnTo>
                <a:lnTo>
                  <a:pt x="73055" y="66967"/>
                </a:lnTo>
                <a:cubicBezTo>
                  <a:pt x="73055" y="69744"/>
                  <a:pt x="72408" y="72408"/>
                  <a:pt x="71304" y="74767"/>
                </a:cubicBezTo>
                <a:lnTo>
                  <a:pt x="97406" y="109582"/>
                </a:lnTo>
                <a:lnTo>
                  <a:pt x="127846" y="109582"/>
                </a:lnTo>
                <a:cubicBezTo>
                  <a:pt x="137929" y="109582"/>
                  <a:pt x="146109" y="117762"/>
                  <a:pt x="146109" y="127846"/>
                </a:cubicBezTo>
                <a:lnTo>
                  <a:pt x="146109" y="164373"/>
                </a:lnTo>
                <a:cubicBezTo>
                  <a:pt x="146109" y="174456"/>
                  <a:pt x="137929" y="182636"/>
                  <a:pt x="127846" y="182636"/>
                </a:cubicBezTo>
                <a:lnTo>
                  <a:pt x="91318" y="182636"/>
                </a:lnTo>
                <a:cubicBezTo>
                  <a:pt x="81235" y="182636"/>
                  <a:pt x="73055" y="174456"/>
                  <a:pt x="73055" y="164373"/>
                </a:cubicBezTo>
                <a:lnTo>
                  <a:pt x="73055" y="127846"/>
                </a:lnTo>
                <a:cubicBezTo>
                  <a:pt x="73055" y="125068"/>
                  <a:pt x="73701" y="122404"/>
                  <a:pt x="74805" y="120045"/>
                </a:cubicBezTo>
                <a:lnTo>
                  <a:pt x="48703" y="85230"/>
                </a:lnTo>
                <a:lnTo>
                  <a:pt x="18264" y="85230"/>
                </a:lnTo>
                <a:cubicBezTo>
                  <a:pt x="8181" y="85230"/>
                  <a:pt x="0" y="77050"/>
                  <a:pt x="0" y="66967"/>
                </a:cubicBezTo>
                <a:lnTo>
                  <a:pt x="0" y="30439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7" name="Text 25"/>
          <p:cNvSpPr/>
          <p:nvPr/>
        </p:nvSpPr>
        <p:spPr>
          <a:xfrm>
            <a:off x="4198711" y="4733939"/>
            <a:ext cx="1574732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Non-linéaire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98711" y="4928752"/>
            <a:ext cx="1574732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Complexe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81231" y="1204589"/>
            <a:ext cx="5688518" cy="4763160"/>
          </a:xfrm>
          <a:custGeom>
            <a:avLst/>
            <a:gdLst/>
            <a:ahLst/>
            <a:cxnLst/>
            <a:rect l="l" t="t" r="r" b="b"/>
            <a:pathLst>
              <a:path w="5688518" h="4763160">
                <a:moveTo>
                  <a:pt x="97407" y="0"/>
                </a:moveTo>
                <a:lnTo>
                  <a:pt x="5591111" y="0"/>
                </a:lnTo>
                <a:cubicBezTo>
                  <a:pt x="5644907" y="0"/>
                  <a:pt x="5688518" y="43610"/>
                  <a:pt x="5688518" y="97407"/>
                </a:cubicBezTo>
                <a:lnTo>
                  <a:pt x="5688518" y="4665753"/>
                </a:lnTo>
                <a:cubicBezTo>
                  <a:pt x="5688518" y="4719549"/>
                  <a:pt x="5644907" y="4763160"/>
                  <a:pt x="5591111" y="4763160"/>
                </a:cubicBezTo>
                <a:lnTo>
                  <a:pt x="97407" y="4763160"/>
                </a:lnTo>
                <a:cubicBezTo>
                  <a:pt x="43610" y="4763160"/>
                  <a:pt x="0" y="4719549"/>
                  <a:pt x="0" y="4665753"/>
                </a:cubicBezTo>
                <a:lnTo>
                  <a:pt x="0" y="97407"/>
                </a:lnTo>
                <a:cubicBezTo>
                  <a:pt x="0" y="43646"/>
                  <a:pt x="43646" y="0"/>
                  <a:pt x="9740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0" name="Shape 28"/>
          <p:cNvSpPr/>
          <p:nvPr/>
        </p:nvSpPr>
        <p:spPr>
          <a:xfrm>
            <a:off x="6346821" y="1370182"/>
            <a:ext cx="389625" cy="389625"/>
          </a:xfrm>
          <a:custGeom>
            <a:avLst/>
            <a:gdLst/>
            <a:ahLst/>
            <a:cxnLst/>
            <a:rect l="l" t="t" r="r" b="b"/>
            <a:pathLst>
              <a:path w="389625" h="389625">
                <a:moveTo>
                  <a:pt x="64939" y="0"/>
                </a:moveTo>
                <a:lnTo>
                  <a:pt x="324686" y="0"/>
                </a:lnTo>
                <a:cubicBezTo>
                  <a:pt x="360550" y="0"/>
                  <a:pt x="389625" y="29074"/>
                  <a:pt x="389625" y="64939"/>
                </a:cubicBezTo>
                <a:lnTo>
                  <a:pt x="389625" y="324686"/>
                </a:lnTo>
                <a:cubicBezTo>
                  <a:pt x="389625" y="360550"/>
                  <a:pt x="360550" y="389625"/>
                  <a:pt x="324686" y="389625"/>
                </a:cubicBezTo>
                <a:lnTo>
                  <a:pt x="64939" y="389625"/>
                </a:lnTo>
                <a:cubicBezTo>
                  <a:pt x="29074" y="389625"/>
                  <a:pt x="0" y="360550"/>
                  <a:pt x="0" y="324686"/>
                </a:cubicBezTo>
                <a:lnTo>
                  <a:pt x="0" y="64939"/>
                </a:lnTo>
                <a:cubicBezTo>
                  <a:pt x="0" y="29074"/>
                  <a:pt x="29074" y="0"/>
                  <a:pt x="6493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1" name="Shape 29"/>
          <p:cNvSpPr/>
          <p:nvPr/>
        </p:nvSpPr>
        <p:spPr>
          <a:xfrm>
            <a:off x="6440169" y="1483822"/>
            <a:ext cx="202929" cy="162344"/>
          </a:xfrm>
          <a:custGeom>
            <a:avLst/>
            <a:gdLst/>
            <a:ahLst/>
            <a:cxnLst/>
            <a:rect l="l" t="t" r="r" b="b"/>
            <a:pathLst>
              <a:path w="202929" h="162344">
                <a:moveTo>
                  <a:pt x="131872" y="66745"/>
                </a:moveTo>
                <a:cubicBezTo>
                  <a:pt x="135741" y="65698"/>
                  <a:pt x="139799" y="67537"/>
                  <a:pt x="141543" y="71120"/>
                </a:cubicBezTo>
                <a:lnTo>
                  <a:pt x="147441" y="83043"/>
                </a:lnTo>
                <a:cubicBezTo>
                  <a:pt x="150707" y="83486"/>
                  <a:pt x="153909" y="84374"/>
                  <a:pt x="156922" y="85611"/>
                </a:cubicBezTo>
                <a:lnTo>
                  <a:pt x="168019" y="78223"/>
                </a:lnTo>
                <a:cubicBezTo>
                  <a:pt x="171349" y="76003"/>
                  <a:pt x="175756" y="76447"/>
                  <a:pt x="178578" y="79269"/>
                </a:cubicBezTo>
                <a:lnTo>
                  <a:pt x="184666" y="85357"/>
                </a:lnTo>
                <a:cubicBezTo>
                  <a:pt x="187488" y="88179"/>
                  <a:pt x="187932" y="92618"/>
                  <a:pt x="185712" y="95916"/>
                </a:cubicBezTo>
                <a:lnTo>
                  <a:pt x="178324" y="106982"/>
                </a:lnTo>
                <a:cubicBezTo>
                  <a:pt x="178927" y="108472"/>
                  <a:pt x="179466" y="110026"/>
                  <a:pt x="179910" y="111643"/>
                </a:cubicBezTo>
                <a:cubicBezTo>
                  <a:pt x="180354" y="113260"/>
                  <a:pt x="180639" y="114845"/>
                  <a:pt x="180861" y="116462"/>
                </a:cubicBezTo>
                <a:lnTo>
                  <a:pt x="192815" y="122360"/>
                </a:lnTo>
                <a:cubicBezTo>
                  <a:pt x="196398" y="124136"/>
                  <a:pt x="198237" y="128194"/>
                  <a:pt x="197190" y="132031"/>
                </a:cubicBezTo>
                <a:lnTo>
                  <a:pt x="194971" y="140338"/>
                </a:lnTo>
                <a:cubicBezTo>
                  <a:pt x="193924" y="144175"/>
                  <a:pt x="190341" y="146775"/>
                  <a:pt x="186346" y="146521"/>
                </a:cubicBezTo>
                <a:lnTo>
                  <a:pt x="173029" y="145665"/>
                </a:lnTo>
                <a:cubicBezTo>
                  <a:pt x="171031" y="148234"/>
                  <a:pt x="168717" y="150612"/>
                  <a:pt x="166085" y="152641"/>
                </a:cubicBezTo>
                <a:lnTo>
                  <a:pt x="166941" y="165927"/>
                </a:lnTo>
                <a:cubicBezTo>
                  <a:pt x="167195" y="169922"/>
                  <a:pt x="164595" y="173536"/>
                  <a:pt x="160758" y="174551"/>
                </a:cubicBezTo>
                <a:lnTo>
                  <a:pt x="152451" y="176771"/>
                </a:lnTo>
                <a:cubicBezTo>
                  <a:pt x="148582" y="177817"/>
                  <a:pt x="144556" y="175978"/>
                  <a:pt x="142780" y="172395"/>
                </a:cubicBezTo>
                <a:lnTo>
                  <a:pt x="136882" y="160473"/>
                </a:lnTo>
                <a:cubicBezTo>
                  <a:pt x="133616" y="160029"/>
                  <a:pt x="130414" y="159141"/>
                  <a:pt x="127402" y="157904"/>
                </a:cubicBezTo>
                <a:lnTo>
                  <a:pt x="116304" y="165292"/>
                </a:lnTo>
                <a:cubicBezTo>
                  <a:pt x="112975" y="167512"/>
                  <a:pt x="108567" y="167068"/>
                  <a:pt x="105745" y="164246"/>
                </a:cubicBezTo>
                <a:lnTo>
                  <a:pt x="99657" y="158158"/>
                </a:lnTo>
                <a:cubicBezTo>
                  <a:pt x="96835" y="155336"/>
                  <a:pt x="96391" y="150929"/>
                  <a:pt x="98611" y="147599"/>
                </a:cubicBezTo>
                <a:lnTo>
                  <a:pt x="105999" y="136502"/>
                </a:lnTo>
                <a:cubicBezTo>
                  <a:pt x="105396" y="135011"/>
                  <a:pt x="104857" y="133458"/>
                  <a:pt x="104414" y="131841"/>
                </a:cubicBezTo>
                <a:cubicBezTo>
                  <a:pt x="103970" y="130224"/>
                  <a:pt x="103684" y="128607"/>
                  <a:pt x="103462" y="127021"/>
                </a:cubicBezTo>
                <a:lnTo>
                  <a:pt x="91508" y="121124"/>
                </a:lnTo>
                <a:cubicBezTo>
                  <a:pt x="87926" y="119348"/>
                  <a:pt x="86118" y="115289"/>
                  <a:pt x="87133" y="111453"/>
                </a:cubicBezTo>
                <a:lnTo>
                  <a:pt x="89352" y="103145"/>
                </a:lnTo>
                <a:cubicBezTo>
                  <a:pt x="90399" y="99309"/>
                  <a:pt x="93982" y="96709"/>
                  <a:pt x="97977" y="96962"/>
                </a:cubicBezTo>
                <a:lnTo>
                  <a:pt x="111262" y="97818"/>
                </a:lnTo>
                <a:cubicBezTo>
                  <a:pt x="113260" y="95250"/>
                  <a:pt x="115575" y="92872"/>
                  <a:pt x="118206" y="90843"/>
                </a:cubicBezTo>
                <a:lnTo>
                  <a:pt x="117350" y="77589"/>
                </a:lnTo>
                <a:cubicBezTo>
                  <a:pt x="117097" y="73594"/>
                  <a:pt x="119697" y="69979"/>
                  <a:pt x="123533" y="68964"/>
                </a:cubicBezTo>
                <a:lnTo>
                  <a:pt x="131841" y="66745"/>
                </a:lnTo>
                <a:close/>
                <a:moveTo>
                  <a:pt x="142177" y="107806"/>
                </a:moveTo>
                <a:cubicBezTo>
                  <a:pt x="134477" y="107815"/>
                  <a:pt x="128233" y="114074"/>
                  <a:pt x="128242" y="121774"/>
                </a:cubicBezTo>
                <a:cubicBezTo>
                  <a:pt x="128251" y="129473"/>
                  <a:pt x="134509" y="135718"/>
                  <a:pt x="142209" y="135709"/>
                </a:cubicBezTo>
                <a:cubicBezTo>
                  <a:pt x="149909" y="135700"/>
                  <a:pt x="156153" y="129442"/>
                  <a:pt x="156145" y="121742"/>
                </a:cubicBezTo>
                <a:cubicBezTo>
                  <a:pt x="156136" y="114042"/>
                  <a:pt x="149877" y="107798"/>
                  <a:pt x="142177" y="107806"/>
                </a:cubicBezTo>
                <a:close/>
                <a:moveTo>
                  <a:pt x="71311" y="-14427"/>
                </a:moveTo>
                <a:lnTo>
                  <a:pt x="79618" y="-12207"/>
                </a:lnTo>
                <a:cubicBezTo>
                  <a:pt x="83455" y="-11161"/>
                  <a:pt x="86055" y="-7546"/>
                  <a:pt x="85801" y="-3583"/>
                </a:cubicBezTo>
                <a:lnTo>
                  <a:pt x="84945" y="9671"/>
                </a:lnTo>
                <a:cubicBezTo>
                  <a:pt x="87577" y="11700"/>
                  <a:pt x="89891" y="14047"/>
                  <a:pt x="91889" y="16647"/>
                </a:cubicBezTo>
                <a:lnTo>
                  <a:pt x="105206" y="15790"/>
                </a:lnTo>
                <a:cubicBezTo>
                  <a:pt x="109170" y="15537"/>
                  <a:pt x="112784" y="18137"/>
                  <a:pt x="113831" y="21973"/>
                </a:cubicBezTo>
                <a:lnTo>
                  <a:pt x="116050" y="30281"/>
                </a:lnTo>
                <a:cubicBezTo>
                  <a:pt x="117065" y="34118"/>
                  <a:pt x="115258" y="38176"/>
                  <a:pt x="111675" y="39952"/>
                </a:cubicBezTo>
                <a:lnTo>
                  <a:pt x="99721" y="45849"/>
                </a:lnTo>
                <a:cubicBezTo>
                  <a:pt x="99499" y="47466"/>
                  <a:pt x="99182" y="49084"/>
                  <a:pt x="98770" y="50669"/>
                </a:cubicBezTo>
                <a:cubicBezTo>
                  <a:pt x="98357" y="52254"/>
                  <a:pt x="97787" y="53840"/>
                  <a:pt x="97184" y="55330"/>
                </a:cubicBezTo>
                <a:lnTo>
                  <a:pt x="104572" y="66428"/>
                </a:lnTo>
                <a:cubicBezTo>
                  <a:pt x="106792" y="69757"/>
                  <a:pt x="106348" y="74164"/>
                  <a:pt x="103526" y="76986"/>
                </a:cubicBezTo>
                <a:lnTo>
                  <a:pt x="97438" y="83074"/>
                </a:lnTo>
                <a:cubicBezTo>
                  <a:pt x="94616" y="85896"/>
                  <a:pt x="90208" y="86340"/>
                  <a:pt x="86879" y="84121"/>
                </a:cubicBezTo>
                <a:lnTo>
                  <a:pt x="75781" y="76733"/>
                </a:lnTo>
                <a:cubicBezTo>
                  <a:pt x="72769" y="77969"/>
                  <a:pt x="69567" y="78857"/>
                  <a:pt x="66301" y="79301"/>
                </a:cubicBezTo>
                <a:lnTo>
                  <a:pt x="60403" y="91223"/>
                </a:lnTo>
                <a:cubicBezTo>
                  <a:pt x="58628" y="94806"/>
                  <a:pt x="54569" y="96613"/>
                  <a:pt x="50732" y="95599"/>
                </a:cubicBezTo>
                <a:lnTo>
                  <a:pt x="42425" y="93379"/>
                </a:lnTo>
                <a:cubicBezTo>
                  <a:pt x="38557" y="92333"/>
                  <a:pt x="35988" y="88718"/>
                  <a:pt x="36242" y="84755"/>
                </a:cubicBezTo>
                <a:lnTo>
                  <a:pt x="37098" y="71469"/>
                </a:lnTo>
                <a:cubicBezTo>
                  <a:pt x="34466" y="69440"/>
                  <a:pt x="32152" y="67094"/>
                  <a:pt x="30154" y="64494"/>
                </a:cubicBezTo>
                <a:lnTo>
                  <a:pt x="16837" y="65350"/>
                </a:lnTo>
                <a:cubicBezTo>
                  <a:pt x="12873" y="65603"/>
                  <a:pt x="9259" y="63003"/>
                  <a:pt x="8212" y="59167"/>
                </a:cubicBezTo>
                <a:lnTo>
                  <a:pt x="5993" y="50859"/>
                </a:lnTo>
                <a:cubicBezTo>
                  <a:pt x="4978" y="47023"/>
                  <a:pt x="6785" y="42964"/>
                  <a:pt x="10368" y="41188"/>
                </a:cubicBezTo>
                <a:lnTo>
                  <a:pt x="22322" y="35291"/>
                </a:lnTo>
                <a:cubicBezTo>
                  <a:pt x="22544" y="33674"/>
                  <a:pt x="22861" y="32088"/>
                  <a:pt x="23273" y="30471"/>
                </a:cubicBezTo>
                <a:cubicBezTo>
                  <a:pt x="23717" y="28854"/>
                  <a:pt x="24225" y="27300"/>
                  <a:pt x="24859" y="25810"/>
                </a:cubicBezTo>
                <a:lnTo>
                  <a:pt x="17471" y="14744"/>
                </a:lnTo>
                <a:cubicBezTo>
                  <a:pt x="15251" y="11415"/>
                  <a:pt x="15695" y="7007"/>
                  <a:pt x="18517" y="4185"/>
                </a:cubicBezTo>
                <a:lnTo>
                  <a:pt x="24605" y="-1902"/>
                </a:lnTo>
                <a:cubicBezTo>
                  <a:pt x="27427" y="-4724"/>
                  <a:pt x="31835" y="-5168"/>
                  <a:pt x="35164" y="-2949"/>
                </a:cubicBezTo>
                <a:lnTo>
                  <a:pt x="46262" y="4439"/>
                </a:lnTo>
                <a:cubicBezTo>
                  <a:pt x="49274" y="3202"/>
                  <a:pt x="52476" y="2315"/>
                  <a:pt x="55742" y="1871"/>
                </a:cubicBezTo>
                <a:lnTo>
                  <a:pt x="61640" y="-10051"/>
                </a:lnTo>
                <a:cubicBezTo>
                  <a:pt x="63415" y="-13634"/>
                  <a:pt x="67442" y="-15442"/>
                  <a:pt x="71311" y="-14427"/>
                </a:cubicBezTo>
                <a:close/>
                <a:moveTo>
                  <a:pt x="61006" y="26634"/>
                </a:moveTo>
                <a:cubicBezTo>
                  <a:pt x="53306" y="26634"/>
                  <a:pt x="47054" y="32886"/>
                  <a:pt x="47054" y="40586"/>
                </a:cubicBezTo>
                <a:cubicBezTo>
                  <a:pt x="47054" y="48286"/>
                  <a:pt x="53306" y="54537"/>
                  <a:pt x="61006" y="54537"/>
                </a:cubicBezTo>
                <a:cubicBezTo>
                  <a:pt x="68706" y="54537"/>
                  <a:pt x="74957" y="48286"/>
                  <a:pt x="74957" y="40586"/>
                </a:cubicBezTo>
                <a:cubicBezTo>
                  <a:pt x="74957" y="32886"/>
                  <a:pt x="68706" y="26634"/>
                  <a:pt x="61006" y="26634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2" name="Text 30"/>
          <p:cNvSpPr/>
          <p:nvPr/>
        </p:nvSpPr>
        <p:spPr>
          <a:xfrm>
            <a:off x="6833852" y="1435119"/>
            <a:ext cx="1493561" cy="25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4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Modèles Testés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0068" y="1892928"/>
            <a:ext cx="5347596" cy="720805"/>
          </a:xfrm>
          <a:custGeom>
            <a:avLst/>
            <a:gdLst/>
            <a:ahLst/>
            <a:cxnLst/>
            <a:rect l="l" t="t" r="r" b="b"/>
            <a:pathLst>
              <a:path w="5347596" h="720805">
                <a:moveTo>
                  <a:pt x="64937" y="0"/>
                </a:moveTo>
                <a:lnTo>
                  <a:pt x="5282659" y="0"/>
                </a:lnTo>
                <a:cubicBezTo>
                  <a:pt x="5318523" y="0"/>
                  <a:pt x="5347596" y="29073"/>
                  <a:pt x="5347596" y="64937"/>
                </a:cubicBezTo>
                <a:lnTo>
                  <a:pt x="5347596" y="655868"/>
                </a:lnTo>
                <a:cubicBezTo>
                  <a:pt x="5347596" y="691732"/>
                  <a:pt x="5318523" y="720805"/>
                  <a:pt x="5282659" y="720805"/>
                </a:cubicBezTo>
                <a:lnTo>
                  <a:pt x="64937" y="720805"/>
                </a:lnTo>
                <a:cubicBezTo>
                  <a:pt x="29073" y="720805"/>
                  <a:pt x="0" y="691732"/>
                  <a:pt x="0" y="655868"/>
                </a:cubicBezTo>
                <a:lnTo>
                  <a:pt x="0" y="64937"/>
                </a:lnTo>
                <a:cubicBezTo>
                  <a:pt x="0" y="29097"/>
                  <a:pt x="29097" y="0"/>
                  <a:pt x="6493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4" name="Text 32"/>
          <p:cNvSpPr/>
          <p:nvPr/>
        </p:nvSpPr>
        <p:spPr>
          <a:xfrm>
            <a:off x="6450721" y="2026048"/>
            <a:ext cx="641257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AdaBoost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966916" y="1993579"/>
            <a:ext cx="633140" cy="259750"/>
          </a:xfrm>
          <a:custGeom>
            <a:avLst/>
            <a:gdLst/>
            <a:ahLst/>
            <a:cxnLst/>
            <a:rect l="l" t="t" r="r" b="b"/>
            <a:pathLst>
              <a:path w="633140" h="259750">
                <a:moveTo>
                  <a:pt x="32469" y="0"/>
                </a:moveTo>
                <a:lnTo>
                  <a:pt x="600671" y="0"/>
                </a:lnTo>
                <a:cubicBezTo>
                  <a:pt x="618603" y="0"/>
                  <a:pt x="633140" y="14537"/>
                  <a:pt x="633140" y="32469"/>
                </a:cubicBezTo>
                <a:lnTo>
                  <a:pt x="633140" y="227281"/>
                </a:lnTo>
                <a:cubicBezTo>
                  <a:pt x="633140" y="245213"/>
                  <a:pt x="618603" y="259750"/>
                  <a:pt x="600671" y="259750"/>
                </a:cubicBezTo>
                <a:lnTo>
                  <a:pt x="32469" y="259750"/>
                </a:lnTo>
                <a:cubicBezTo>
                  <a:pt x="14537" y="259750"/>
                  <a:pt x="0" y="245213"/>
                  <a:pt x="0" y="227281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6" name="Text 34"/>
          <p:cNvSpPr/>
          <p:nvPr/>
        </p:nvSpPr>
        <p:spPr>
          <a:xfrm>
            <a:off x="10966916" y="1993579"/>
            <a:ext cx="698077" cy="259750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Baseline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50721" y="2318267"/>
            <a:ext cx="5211228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Adaptive Boosting avec arbres de décision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0068" y="2685161"/>
            <a:ext cx="5347596" cy="720805"/>
          </a:xfrm>
          <a:custGeom>
            <a:avLst/>
            <a:gdLst/>
            <a:ahLst/>
            <a:cxnLst/>
            <a:rect l="l" t="t" r="r" b="b"/>
            <a:pathLst>
              <a:path w="5347596" h="720805">
                <a:moveTo>
                  <a:pt x="64937" y="0"/>
                </a:moveTo>
                <a:lnTo>
                  <a:pt x="5282659" y="0"/>
                </a:lnTo>
                <a:cubicBezTo>
                  <a:pt x="5318523" y="0"/>
                  <a:pt x="5347596" y="29073"/>
                  <a:pt x="5347596" y="64937"/>
                </a:cubicBezTo>
                <a:lnTo>
                  <a:pt x="5347596" y="655868"/>
                </a:lnTo>
                <a:cubicBezTo>
                  <a:pt x="5347596" y="691732"/>
                  <a:pt x="5318523" y="720805"/>
                  <a:pt x="5282659" y="720805"/>
                </a:cubicBezTo>
                <a:lnTo>
                  <a:pt x="64937" y="720805"/>
                </a:lnTo>
                <a:cubicBezTo>
                  <a:pt x="29073" y="720805"/>
                  <a:pt x="0" y="691732"/>
                  <a:pt x="0" y="655868"/>
                </a:cubicBezTo>
                <a:lnTo>
                  <a:pt x="0" y="64937"/>
                </a:lnTo>
                <a:cubicBezTo>
                  <a:pt x="0" y="29097"/>
                  <a:pt x="29097" y="0"/>
                  <a:pt x="6493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9" name="Text 37"/>
          <p:cNvSpPr/>
          <p:nvPr/>
        </p:nvSpPr>
        <p:spPr>
          <a:xfrm>
            <a:off x="6450721" y="2818285"/>
            <a:ext cx="1144522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896092" y="2785817"/>
            <a:ext cx="698077" cy="259750"/>
          </a:xfrm>
          <a:custGeom>
            <a:avLst/>
            <a:gdLst/>
            <a:ahLst/>
            <a:cxnLst/>
            <a:rect l="l" t="t" r="r" b="b"/>
            <a:pathLst>
              <a:path w="698077" h="259750">
                <a:moveTo>
                  <a:pt x="32469" y="0"/>
                </a:moveTo>
                <a:lnTo>
                  <a:pt x="665609" y="0"/>
                </a:lnTo>
                <a:cubicBezTo>
                  <a:pt x="683540" y="0"/>
                  <a:pt x="698077" y="14537"/>
                  <a:pt x="698077" y="32469"/>
                </a:cubicBezTo>
                <a:lnTo>
                  <a:pt x="698077" y="227281"/>
                </a:lnTo>
                <a:cubicBezTo>
                  <a:pt x="698077" y="245213"/>
                  <a:pt x="683540" y="259750"/>
                  <a:pt x="665609" y="259750"/>
                </a:cubicBezTo>
                <a:lnTo>
                  <a:pt x="32469" y="259750"/>
                </a:lnTo>
                <a:cubicBezTo>
                  <a:pt x="14537" y="259750"/>
                  <a:pt x="0" y="245213"/>
                  <a:pt x="0" y="227281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1" name="Text 39"/>
          <p:cNvSpPr/>
          <p:nvPr/>
        </p:nvSpPr>
        <p:spPr>
          <a:xfrm>
            <a:off x="10896092" y="2785817"/>
            <a:ext cx="763015" cy="259750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Classique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50721" y="3110504"/>
            <a:ext cx="5211228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Optimisation par descente de gradient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0068" y="3477399"/>
            <a:ext cx="5347596" cy="720805"/>
          </a:xfrm>
          <a:custGeom>
            <a:avLst/>
            <a:gdLst/>
            <a:ahLst/>
            <a:cxnLst/>
            <a:rect l="l" t="t" r="r" b="b"/>
            <a:pathLst>
              <a:path w="5347596" h="720805">
                <a:moveTo>
                  <a:pt x="64937" y="0"/>
                </a:moveTo>
                <a:lnTo>
                  <a:pt x="5282659" y="0"/>
                </a:lnTo>
                <a:cubicBezTo>
                  <a:pt x="5318523" y="0"/>
                  <a:pt x="5347596" y="29073"/>
                  <a:pt x="5347596" y="64937"/>
                </a:cubicBezTo>
                <a:lnTo>
                  <a:pt x="5347596" y="655868"/>
                </a:lnTo>
                <a:cubicBezTo>
                  <a:pt x="5347596" y="691732"/>
                  <a:pt x="5318523" y="720805"/>
                  <a:pt x="5282659" y="720805"/>
                </a:cubicBezTo>
                <a:lnTo>
                  <a:pt x="64937" y="720805"/>
                </a:lnTo>
                <a:cubicBezTo>
                  <a:pt x="29073" y="720805"/>
                  <a:pt x="0" y="691732"/>
                  <a:pt x="0" y="655868"/>
                </a:cubicBezTo>
                <a:lnTo>
                  <a:pt x="0" y="64937"/>
                </a:lnTo>
                <a:cubicBezTo>
                  <a:pt x="0" y="29097"/>
                  <a:pt x="29097" y="0"/>
                  <a:pt x="6493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4" name="Text 42"/>
          <p:cNvSpPr/>
          <p:nvPr/>
        </p:nvSpPr>
        <p:spPr>
          <a:xfrm>
            <a:off x="6450721" y="3610523"/>
            <a:ext cx="584437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905529" y="3578054"/>
            <a:ext cx="689960" cy="259750"/>
          </a:xfrm>
          <a:custGeom>
            <a:avLst/>
            <a:gdLst/>
            <a:ahLst/>
            <a:cxnLst/>
            <a:rect l="l" t="t" r="r" b="b"/>
            <a:pathLst>
              <a:path w="689960" h="259750">
                <a:moveTo>
                  <a:pt x="32469" y="0"/>
                </a:moveTo>
                <a:lnTo>
                  <a:pt x="657491" y="0"/>
                </a:lnTo>
                <a:cubicBezTo>
                  <a:pt x="675423" y="0"/>
                  <a:pt x="689960" y="14537"/>
                  <a:pt x="689960" y="32469"/>
                </a:cubicBezTo>
                <a:lnTo>
                  <a:pt x="689960" y="227281"/>
                </a:lnTo>
                <a:cubicBezTo>
                  <a:pt x="689960" y="245213"/>
                  <a:pt x="675423" y="259750"/>
                  <a:pt x="657491" y="259750"/>
                </a:cubicBezTo>
                <a:lnTo>
                  <a:pt x="32469" y="259750"/>
                </a:lnTo>
                <a:cubicBezTo>
                  <a:pt x="14537" y="259750"/>
                  <a:pt x="0" y="245213"/>
                  <a:pt x="0" y="227281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6" name="Text 44"/>
          <p:cNvSpPr/>
          <p:nvPr/>
        </p:nvSpPr>
        <p:spPr>
          <a:xfrm>
            <a:off x="10905529" y="3578054"/>
            <a:ext cx="754897" cy="259750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Populaire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50721" y="3902741"/>
            <a:ext cx="5211228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eXtreme Gradient Boosting optimisé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0068" y="4269636"/>
            <a:ext cx="5347596" cy="720805"/>
          </a:xfrm>
          <a:custGeom>
            <a:avLst/>
            <a:gdLst/>
            <a:ahLst/>
            <a:cxnLst/>
            <a:rect l="l" t="t" r="r" b="b"/>
            <a:pathLst>
              <a:path w="5347596" h="720805">
                <a:moveTo>
                  <a:pt x="64937" y="0"/>
                </a:moveTo>
                <a:lnTo>
                  <a:pt x="5282659" y="0"/>
                </a:lnTo>
                <a:cubicBezTo>
                  <a:pt x="5318523" y="0"/>
                  <a:pt x="5347596" y="29073"/>
                  <a:pt x="5347596" y="64937"/>
                </a:cubicBezTo>
                <a:lnTo>
                  <a:pt x="5347596" y="655868"/>
                </a:lnTo>
                <a:cubicBezTo>
                  <a:pt x="5347596" y="691732"/>
                  <a:pt x="5318523" y="720805"/>
                  <a:pt x="5282659" y="720805"/>
                </a:cubicBezTo>
                <a:lnTo>
                  <a:pt x="64937" y="720805"/>
                </a:lnTo>
                <a:cubicBezTo>
                  <a:pt x="29073" y="720805"/>
                  <a:pt x="0" y="691732"/>
                  <a:pt x="0" y="655868"/>
                </a:cubicBezTo>
                <a:lnTo>
                  <a:pt x="0" y="64937"/>
                </a:lnTo>
                <a:cubicBezTo>
                  <a:pt x="0" y="29097"/>
                  <a:pt x="29097" y="0"/>
                  <a:pt x="6493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9" name="Text 47"/>
          <p:cNvSpPr/>
          <p:nvPr/>
        </p:nvSpPr>
        <p:spPr>
          <a:xfrm>
            <a:off x="6450721" y="4402756"/>
            <a:ext cx="608788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CatBoost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793411" y="4370287"/>
            <a:ext cx="803601" cy="259750"/>
          </a:xfrm>
          <a:custGeom>
            <a:avLst/>
            <a:gdLst/>
            <a:ahLst/>
            <a:cxnLst/>
            <a:rect l="l" t="t" r="r" b="b"/>
            <a:pathLst>
              <a:path w="803601" h="259750">
                <a:moveTo>
                  <a:pt x="32469" y="0"/>
                </a:moveTo>
                <a:lnTo>
                  <a:pt x="771132" y="0"/>
                </a:lnTo>
                <a:cubicBezTo>
                  <a:pt x="789064" y="0"/>
                  <a:pt x="803601" y="14537"/>
                  <a:pt x="803601" y="32469"/>
                </a:cubicBezTo>
                <a:lnTo>
                  <a:pt x="803601" y="227281"/>
                </a:lnTo>
                <a:cubicBezTo>
                  <a:pt x="803601" y="245213"/>
                  <a:pt x="789064" y="259750"/>
                  <a:pt x="771132" y="259750"/>
                </a:cubicBezTo>
                <a:lnTo>
                  <a:pt x="32469" y="259750"/>
                </a:lnTo>
                <a:cubicBezTo>
                  <a:pt x="14537" y="259750"/>
                  <a:pt x="0" y="245213"/>
                  <a:pt x="0" y="227281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1" name="Text 49"/>
          <p:cNvSpPr/>
          <p:nvPr/>
        </p:nvSpPr>
        <p:spPr>
          <a:xfrm>
            <a:off x="10793411" y="4370287"/>
            <a:ext cx="868538" cy="259750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50721" y="4694974"/>
            <a:ext cx="5211228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Categorical Boosting pour données catégorielles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3315" y="5065120"/>
            <a:ext cx="5337856" cy="727299"/>
          </a:xfrm>
          <a:custGeom>
            <a:avLst/>
            <a:gdLst/>
            <a:ahLst/>
            <a:cxnLst/>
            <a:rect l="l" t="t" r="r" b="b"/>
            <a:pathLst>
              <a:path w="5337856" h="727299">
                <a:moveTo>
                  <a:pt x="64941" y="0"/>
                </a:moveTo>
                <a:lnTo>
                  <a:pt x="5272915" y="0"/>
                </a:lnTo>
                <a:cubicBezTo>
                  <a:pt x="5308781" y="0"/>
                  <a:pt x="5337856" y="29075"/>
                  <a:pt x="5337856" y="64941"/>
                </a:cubicBezTo>
                <a:lnTo>
                  <a:pt x="5337856" y="662359"/>
                </a:lnTo>
                <a:cubicBezTo>
                  <a:pt x="5337856" y="698224"/>
                  <a:pt x="5308781" y="727299"/>
                  <a:pt x="5272915" y="727299"/>
                </a:cubicBezTo>
                <a:lnTo>
                  <a:pt x="64941" y="727299"/>
                </a:lnTo>
                <a:cubicBezTo>
                  <a:pt x="29075" y="727299"/>
                  <a:pt x="0" y="698224"/>
                  <a:pt x="0" y="662359"/>
                </a:cubicBezTo>
                <a:lnTo>
                  <a:pt x="0" y="64941"/>
                </a:lnTo>
                <a:cubicBezTo>
                  <a:pt x="0" y="29075"/>
                  <a:pt x="29075" y="0"/>
                  <a:pt x="64941" y="0"/>
                </a:cubicBezTo>
                <a:close/>
              </a:path>
            </a:pathLst>
          </a:custGeom>
          <a:solidFill>
            <a:srgbClr val="191919"/>
          </a:solidFill>
          <a:ln w="2032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4" name="Text 52"/>
          <p:cNvSpPr/>
          <p:nvPr/>
        </p:nvSpPr>
        <p:spPr>
          <a:xfrm>
            <a:off x="6457214" y="5201489"/>
            <a:ext cx="657491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LightGBM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952609" y="5169021"/>
            <a:ext cx="641257" cy="259750"/>
          </a:xfrm>
          <a:custGeom>
            <a:avLst/>
            <a:gdLst/>
            <a:ahLst/>
            <a:cxnLst/>
            <a:rect l="l" t="t" r="r" b="b"/>
            <a:pathLst>
              <a:path w="641257" h="259750">
                <a:moveTo>
                  <a:pt x="32469" y="0"/>
                </a:moveTo>
                <a:lnTo>
                  <a:pt x="608788" y="0"/>
                </a:lnTo>
                <a:cubicBezTo>
                  <a:pt x="626720" y="0"/>
                  <a:pt x="641257" y="14537"/>
                  <a:pt x="641257" y="32469"/>
                </a:cubicBezTo>
                <a:lnTo>
                  <a:pt x="641257" y="227281"/>
                </a:lnTo>
                <a:cubicBezTo>
                  <a:pt x="641257" y="245213"/>
                  <a:pt x="626720" y="259750"/>
                  <a:pt x="608788" y="259750"/>
                </a:cubicBezTo>
                <a:lnTo>
                  <a:pt x="32469" y="259750"/>
                </a:lnTo>
                <a:cubicBezTo>
                  <a:pt x="14537" y="259750"/>
                  <a:pt x="0" y="245213"/>
                  <a:pt x="0" y="227281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6" name="Text 54"/>
          <p:cNvSpPr/>
          <p:nvPr/>
        </p:nvSpPr>
        <p:spPr>
          <a:xfrm>
            <a:off x="10952609" y="5169021"/>
            <a:ext cx="706194" cy="259750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Gagnant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57214" y="5493708"/>
            <a:ext cx="5194993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 Gradient Boosting Machine - Rapide et efficace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27934" y="6133341"/>
            <a:ext cx="11541002" cy="720805"/>
          </a:xfrm>
          <a:custGeom>
            <a:avLst/>
            <a:gdLst/>
            <a:ahLst/>
            <a:cxnLst/>
            <a:rect l="l" t="t" r="r" b="b"/>
            <a:pathLst>
              <a:path w="11541002" h="720805">
                <a:moveTo>
                  <a:pt x="97410" y="0"/>
                </a:moveTo>
                <a:lnTo>
                  <a:pt x="11443593" y="0"/>
                </a:lnTo>
                <a:cubicBezTo>
                  <a:pt x="11497391" y="0"/>
                  <a:pt x="11541002" y="43612"/>
                  <a:pt x="11541002" y="97410"/>
                </a:cubicBezTo>
                <a:lnTo>
                  <a:pt x="11541002" y="623396"/>
                </a:lnTo>
                <a:cubicBezTo>
                  <a:pt x="11541002" y="677194"/>
                  <a:pt x="11497391" y="720805"/>
                  <a:pt x="11443593" y="720805"/>
                </a:cubicBezTo>
                <a:lnTo>
                  <a:pt x="97410" y="720805"/>
                </a:lnTo>
                <a:cubicBezTo>
                  <a:pt x="43612" y="720805"/>
                  <a:pt x="0" y="677194"/>
                  <a:pt x="0" y="623396"/>
                </a:cubicBezTo>
                <a:lnTo>
                  <a:pt x="0" y="97410"/>
                </a:lnTo>
                <a:cubicBezTo>
                  <a:pt x="0" y="43648"/>
                  <a:pt x="43648" y="0"/>
                  <a:pt x="9741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9" name="Shape 57"/>
          <p:cNvSpPr/>
          <p:nvPr/>
        </p:nvSpPr>
        <p:spPr>
          <a:xfrm>
            <a:off x="461056" y="6298929"/>
            <a:ext cx="389625" cy="389625"/>
          </a:xfrm>
          <a:custGeom>
            <a:avLst/>
            <a:gdLst/>
            <a:ahLst/>
            <a:cxnLst/>
            <a:rect l="l" t="t" r="r" b="b"/>
            <a:pathLst>
              <a:path w="389625" h="389625">
                <a:moveTo>
                  <a:pt x="64939" y="0"/>
                </a:moveTo>
                <a:lnTo>
                  <a:pt x="324686" y="0"/>
                </a:lnTo>
                <a:cubicBezTo>
                  <a:pt x="360550" y="0"/>
                  <a:pt x="389625" y="29074"/>
                  <a:pt x="389625" y="64939"/>
                </a:cubicBezTo>
                <a:lnTo>
                  <a:pt x="389625" y="324686"/>
                </a:lnTo>
                <a:cubicBezTo>
                  <a:pt x="389625" y="360550"/>
                  <a:pt x="360550" y="389625"/>
                  <a:pt x="324686" y="389625"/>
                </a:cubicBezTo>
                <a:lnTo>
                  <a:pt x="64939" y="389625"/>
                </a:lnTo>
                <a:cubicBezTo>
                  <a:pt x="29074" y="389625"/>
                  <a:pt x="0" y="360550"/>
                  <a:pt x="0" y="324686"/>
                </a:cubicBezTo>
                <a:lnTo>
                  <a:pt x="0" y="64939"/>
                </a:lnTo>
                <a:cubicBezTo>
                  <a:pt x="0" y="29074"/>
                  <a:pt x="29074" y="0"/>
                  <a:pt x="6493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0" name="Shape 58"/>
          <p:cNvSpPr/>
          <p:nvPr/>
        </p:nvSpPr>
        <p:spPr>
          <a:xfrm>
            <a:off x="574696" y="6412570"/>
            <a:ext cx="162344" cy="162344"/>
          </a:xfrm>
          <a:custGeom>
            <a:avLst/>
            <a:gdLst/>
            <a:ahLst/>
            <a:cxnLst/>
            <a:rect l="l" t="t" r="r" b="b"/>
            <a:pathLst>
              <a:path w="162344" h="162344">
                <a:moveTo>
                  <a:pt x="10146" y="20293"/>
                </a:moveTo>
                <a:cubicBezTo>
                  <a:pt x="4534" y="20293"/>
                  <a:pt x="0" y="24827"/>
                  <a:pt x="0" y="30439"/>
                </a:cubicBezTo>
                <a:cubicBezTo>
                  <a:pt x="0" y="36052"/>
                  <a:pt x="4534" y="40586"/>
                  <a:pt x="10146" y="40586"/>
                </a:cubicBezTo>
                <a:lnTo>
                  <a:pt x="37637" y="40586"/>
                </a:lnTo>
                <a:cubicBezTo>
                  <a:pt x="41537" y="49559"/>
                  <a:pt x="50479" y="55806"/>
                  <a:pt x="60879" y="55806"/>
                </a:cubicBezTo>
                <a:cubicBezTo>
                  <a:pt x="71279" y="55806"/>
                  <a:pt x="80221" y="49559"/>
                  <a:pt x="84121" y="40586"/>
                </a:cubicBezTo>
                <a:lnTo>
                  <a:pt x="152197" y="40586"/>
                </a:lnTo>
                <a:cubicBezTo>
                  <a:pt x="157809" y="40586"/>
                  <a:pt x="162344" y="36052"/>
                  <a:pt x="162344" y="30439"/>
                </a:cubicBezTo>
                <a:cubicBezTo>
                  <a:pt x="162344" y="24827"/>
                  <a:pt x="157809" y="20293"/>
                  <a:pt x="152197" y="20293"/>
                </a:cubicBezTo>
                <a:lnTo>
                  <a:pt x="84121" y="20293"/>
                </a:lnTo>
                <a:cubicBezTo>
                  <a:pt x="80221" y="11320"/>
                  <a:pt x="71279" y="5073"/>
                  <a:pt x="60879" y="5073"/>
                </a:cubicBezTo>
                <a:cubicBezTo>
                  <a:pt x="50479" y="5073"/>
                  <a:pt x="41537" y="11320"/>
                  <a:pt x="37637" y="20293"/>
                </a:cubicBezTo>
                <a:lnTo>
                  <a:pt x="10146" y="20293"/>
                </a:lnTo>
                <a:close/>
                <a:moveTo>
                  <a:pt x="10146" y="71025"/>
                </a:moveTo>
                <a:cubicBezTo>
                  <a:pt x="4534" y="71025"/>
                  <a:pt x="0" y="75560"/>
                  <a:pt x="0" y="81172"/>
                </a:cubicBezTo>
                <a:cubicBezTo>
                  <a:pt x="0" y="86784"/>
                  <a:pt x="4534" y="91318"/>
                  <a:pt x="10146" y="91318"/>
                </a:cubicBezTo>
                <a:lnTo>
                  <a:pt x="88369" y="91318"/>
                </a:lnTo>
                <a:cubicBezTo>
                  <a:pt x="92269" y="100292"/>
                  <a:pt x="101211" y="106538"/>
                  <a:pt x="111611" y="106538"/>
                </a:cubicBezTo>
                <a:cubicBezTo>
                  <a:pt x="122011" y="106538"/>
                  <a:pt x="130953" y="100292"/>
                  <a:pt x="134853" y="91318"/>
                </a:cubicBezTo>
                <a:lnTo>
                  <a:pt x="152197" y="91318"/>
                </a:lnTo>
                <a:cubicBezTo>
                  <a:pt x="157809" y="91318"/>
                  <a:pt x="162344" y="86784"/>
                  <a:pt x="162344" y="81172"/>
                </a:cubicBezTo>
                <a:cubicBezTo>
                  <a:pt x="162344" y="75560"/>
                  <a:pt x="157809" y="71025"/>
                  <a:pt x="152197" y="71025"/>
                </a:cubicBezTo>
                <a:lnTo>
                  <a:pt x="134853" y="71025"/>
                </a:lnTo>
                <a:cubicBezTo>
                  <a:pt x="130953" y="62052"/>
                  <a:pt x="122011" y="55806"/>
                  <a:pt x="111611" y="55806"/>
                </a:cubicBezTo>
                <a:cubicBezTo>
                  <a:pt x="101211" y="55806"/>
                  <a:pt x="92269" y="62052"/>
                  <a:pt x="88369" y="71025"/>
                </a:cubicBezTo>
                <a:lnTo>
                  <a:pt x="10146" y="71025"/>
                </a:lnTo>
                <a:close/>
                <a:moveTo>
                  <a:pt x="10146" y="121758"/>
                </a:moveTo>
                <a:cubicBezTo>
                  <a:pt x="4534" y="121758"/>
                  <a:pt x="0" y="126292"/>
                  <a:pt x="0" y="131904"/>
                </a:cubicBezTo>
                <a:cubicBezTo>
                  <a:pt x="0" y="137516"/>
                  <a:pt x="4534" y="142051"/>
                  <a:pt x="10146" y="142051"/>
                </a:cubicBezTo>
                <a:lnTo>
                  <a:pt x="27491" y="142051"/>
                </a:lnTo>
                <a:cubicBezTo>
                  <a:pt x="31391" y="151024"/>
                  <a:pt x="40332" y="157270"/>
                  <a:pt x="50732" y="157270"/>
                </a:cubicBezTo>
                <a:cubicBezTo>
                  <a:pt x="61132" y="157270"/>
                  <a:pt x="70074" y="151024"/>
                  <a:pt x="73974" y="142051"/>
                </a:cubicBezTo>
                <a:lnTo>
                  <a:pt x="152197" y="142051"/>
                </a:lnTo>
                <a:cubicBezTo>
                  <a:pt x="157809" y="142051"/>
                  <a:pt x="162344" y="137516"/>
                  <a:pt x="162344" y="131904"/>
                </a:cubicBezTo>
                <a:cubicBezTo>
                  <a:pt x="162344" y="126292"/>
                  <a:pt x="157809" y="121758"/>
                  <a:pt x="152197" y="121758"/>
                </a:cubicBezTo>
                <a:lnTo>
                  <a:pt x="73974" y="121758"/>
                </a:lnTo>
                <a:cubicBezTo>
                  <a:pt x="70074" y="112784"/>
                  <a:pt x="61132" y="106538"/>
                  <a:pt x="50732" y="106538"/>
                </a:cubicBezTo>
                <a:cubicBezTo>
                  <a:pt x="40332" y="106538"/>
                  <a:pt x="31391" y="112784"/>
                  <a:pt x="27491" y="121758"/>
                </a:cubicBezTo>
                <a:lnTo>
                  <a:pt x="10146" y="121758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1" name="Text 59"/>
          <p:cNvSpPr/>
          <p:nvPr/>
        </p:nvSpPr>
        <p:spPr>
          <a:xfrm>
            <a:off x="980555" y="6266461"/>
            <a:ext cx="10828314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Optimisation des Hyperparamètres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80555" y="6526210"/>
            <a:ext cx="10820197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Learning rate</a:t>
            </a:r>
            <a:r>
              <a:rPr lang="en-US" sz="102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(taux d'apprentissage), </a:t>
            </a:r>
            <a:r>
              <a:rPr lang="en-US" sz="1023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max_depth</a:t>
            </a:r>
            <a:r>
              <a:rPr lang="en-US" sz="102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(profondeur des arbres), </a:t>
            </a:r>
            <a:r>
              <a:rPr lang="en-US" sz="1023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n_estimators</a:t>
            </a:r>
            <a:r>
              <a:rPr lang="en-US" sz="102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(nombre d'estimateurs) - Réglage fin par validation croisée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37729" y="641684"/>
            <a:ext cx="11719180" cy="40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9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Benchmarking &amp; Comparaison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1106" y="1252973"/>
            <a:ext cx="6837314" cy="5596162"/>
          </a:xfrm>
          <a:custGeom>
            <a:avLst/>
            <a:gdLst/>
            <a:ahLst/>
            <a:cxnLst/>
            <a:rect l="l" t="t" r="r" b="b"/>
            <a:pathLst>
              <a:path w="6837314" h="5596162">
                <a:moveTo>
                  <a:pt x="101346" y="0"/>
                </a:moveTo>
                <a:lnTo>
                  <a:pt x="6735968" y="0"/>
                </a:lnTo>
                <a:cubicBezTo>
                  <a:pt x="6791940" y="0"/>
                  <a:pt x="6837314" y="45374"/>
                  <a:pt x="6837314" y="101346"/>
                </a:cubicBezTo>
                <a:lnTo>
                  <a:pt x="6837314" y="5494815"/>
                </a:lnTo>
                <a:cubicBezTo>
                  <a:pt x="6837314" y="5550787"/>
                  <a:pt x="6791940" y="5596162"/>
                  <a:pt x="6735968" y="5596162"/>
                </a:cubicBezTo>
                <a:lnTo>
                  <a:pt x="101346" y="5596162"/>
                </a:lnTo>
                <a:cubicBezTo>
                  <a:pt x="45374" y="5596162"/>
                  <a:pt x="0" y="5550787"/>
                  <a:pt x="0" y="5494815"/>
                </a:cubicBezTo>
                <a:lnTo>
                  <a:pt x="0" y="101346"/>
                </a:lnTo>
                <a:cubicBezTo>
                  <a:pt x="0" y="45374"/>
                  <a:pt x="45374" y="0"/>
                  <a:pt x="10134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513347" y="1425217"/>
            <a:ext cx="405274" cy="405274"/>
          </a:xfrm>
          <a:custGeom>
            <a:avLst/>
            <a:gdLst/>
            <a:ahLst/>
            <a:cxnLst/>
            <a:rect l="l" t="t" r="r" b="b"/>
            <a:pathLst>
              <a:path w="405274" h="405274">
                <a:moveTo>
                  <a:pt x="67547" y="0"/>
                </a:moveTo>
                <a:lnTo>
                  <a:pt x="337727" y="0"/>
                </a:lnTo>
                <a:cubicBezTo>
                  <a:pt x="375032" y="0"/>
                  <a:pt x="405274" y="30242"/>
                  <a:pt x="405274" y="67547"/>
                </a:cubicBezTo>
                <a:lnTo>
                  <a:pt x="405274" y="337727"/>
                </a:lnTo>
                <a:cubicBezTo>
                  <a:pt x="405274" y="375032"/>
                  <a:pt x="375032" y="405274"/>
                  <a:pt x="337727" y="405274"/>
                </a:cubicBezTo>
                <a:lnTo>
                  <a:pt x="67547" y="405274"/>
                </a:lnTo>
                <a:cubicBezTo>
                  <a:pt x="30242" y="405274"/>
                  <a:pt x="0" y="375032"/>
                  <a:pt x="0" y="337727"/>
                </a:cubicBezTo>
                <a:lnTo>
                  <a:pt x="0" y="67547"/>
                </a:lnTo>
                <a:cubicBezTo>
                  <a:pt x="0" y="30267"/>
                  <a:pt x="30267" y="0"/>
                  <a:pt x="67547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631552" y="1543422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10554" y="10554"/>
                </a:moveTo>
                <a:cubicBezTo>
                  <a:pt x="16392" y="10554"/>
                  <a:pt x="21108" y="15270"/>
                  <a:pt x="21108" y="21108"/>
                </a:cubicBezTo>
                <a:lnTo>
                  <a:pt x="21108" y="131925"/>
                </a:lnTo>
                <a:cubicBezTo>
                  <a:pt x="21108" y="134828"/>
                  <a:pt x="23483" y="137202"/>
                  <a:pt x="26385" y="137202"/>
                </a:cubicBezTo>
                <a:lnTo>
                  <a:pt x="158310" y="137202"/>
                </a:lnTo>
                <a:cubicBezTo>
                  <a:pt x="164148" y="137202"/>
                  <a:pt x="168864" y="141919"/>
                  <a:pt x="168864" y="147756"/>
                </a:cubicBezTo>
                <a:cubicBezTo>
                  <a:pt x="168864" y="153594"/>
                  <a:pt x="164148" y="158310"/>
                  <a:pt x="158310" y="158310"/>
                </a:cubicBezTo>
                <a:lnTo>
                  <a:pt x="26385" y="158310"/>
                </a:lnTo>
                <a:cubicBezTo>
                  <a:pt x="11807" y="158310"/>
                  <a:pt x="0" y="146503"/>
                  <a:pt x="0" y="131925"/>
                </a:cubicBezTo>
                <a:lnTo>
                  <a:pt x="0" y="21108"/>
                </a:lnTo>
                <a:cubicBezTo>
                  <a:pt x="0" y="15270"/>
                  <a:pt x="4716" y="10554"/>
                  <a:pt x="10554" y="10554"/>
                </a:cubicBezTo>
                <a:close/>
                <a:moveTo>
                  <a:pt x="42216" y="31662"/>
                </a:moveTo>
                <a:cubicBezTo>
                  <a:pt x="42216" y="25824"/>
                  <a:pt x="46932" y="21108"/>
                  <a:pt x="52770" y="21108"/>
                </a:cubicBezTo>
                <a:lnTo>
                  <a:pt x="116094" y="21108"/>
                </a:lnTo>
                <a:cubicBezTo>
                  <a:pt x="121932" y="21108"/>
                  <a:pt x="126648" y="25824"/>
                  <a:pt x="126648" y="31662"/>
                </a:cubicBezTo>
                <a:cubicBezTo>
                  <a:pt x="126648" y="37500"/>
                  <a:pt x="121932" y="42216"/>
                  <a:pt x="116094" y="42216"/>
                </a:cubicBezTo>
                <a:lnTo>
                  <a:pt x="52770" y="42216"/>
                </a:lnTo>
                <a:cubicBezTo>
                  <a:pt x="46932" y="42216"/>
                  <a:pt x="42216" y="37500"/>
                  <a:pt x="42216" y="31662"/>
                </a:cubicBezTo>
                <a:close/>
                <a:moveTo>
                  <a:pt x="52770" y="58047"/>
                </a:moveTo>
                <a:lnTo>
                  <a:pt x="94986" y="58047"/>
                </a:lnTo>
                <a:cubicBezTo>
                  <a:pt x="100824" y="58047"/>
                  <a:pt x="105540" y="62763"/>
                  <a:pt x="105540" y="68601"/>
                </a:cubicBezTo>
                <a:cubicBezTo>
                  <a:pt x="105540" y="74439"/>
                  <a:pt x="100824" y="79155"/>
                  <a:pt x="94986" y="79155"/>
                </a:cubicBezTo>
                <a:lnTo>
                  <a:pt x="52770" y="79155"/>
                </a:lnTo>
                <a:cubicBezTo>
                  <a:pt x="46932" y="79155"/>
                  <a:pt x="42216" y="74439"/>
                  <a:pt x="42216" y="68601"/>
                </a:cubicBezTo>
                <a:cubicBezTo>
                  <a:pt x="42216" y="62763"/>
                  <a:pt x="46932" y="58047"/>
                  <a:pt x="52770" y="58047"/>
                </a:cubicBezTo>
                <a:close/>
                <a:moveTo>
                  <a:pt x="52770" y="94986"/>
                </a:moveTo>
                <a:lnTo>
                  <a:pt x="137202" y="94986"/>
                </a:lnTo>
                <a:cubicBezTo>
                  <a:pt x="143040" y="94986"/>
                  <a:pt x="147756" y="99702"/>
                  <a:pt x="147756" y="105540"/>
                </a:cubicBezTo>
                <a:cubicBezTo>
                  <a:pt x="147756" y="111378"/>
                  <a:pt x="143040" y="116094"/>
                  <a:pt x="137202" y="116094"/>
                </a:cubicBezTo>
                <a:lnTo>
                  <a:pt x="52770" y="116094"/>
                </a:lnTo>
                <a:cubicBezTo>
                  <a:pt x="46932" y="116094"/>
                  <a:pt x="42216" y="111378"/>
                  <a:pt x="42216" y="105540"/>
                </a:cubicBezTo>
                <a:cubicBezTo>
                  <a:pt x="42216" y="99702"/>
                  <a:pt x="46932" y="94986"/>
                  <a:pt x="52770" y="94986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1019940" y="1492763"/>
            <a:ext cx="2178349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6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Résultats des Modèles</a:t>
            </a:r>
            <a:endParaRPr lang="en-US" sz="1600" dirty="0"/>
          </a:p>
        </p:txBody>
      </p:sp>
      <p:pic>
        <p:nvPicPr>
          <p:cNvPr id="8" name="Image 0" descr="https://kimi-img.moonshot.cn/pub/slides/26-02-16-22:14:04-d69icb5s8fba62gq6eog.png"/>
          <p:cNvPicPr>
            <a:picLocks noChangeAspect="1"/>
          </p:cNvPicPr>
          <p:nvPr/>
        </p:nvPicPr>
        <p:blipFill>
          <a:blip r:embed="rId3"/>
          <a:srcRect l="6" r="6"/>
          <a:stretch/>
        </p:blipFill>
        <p:spPr>
          <a:xfrm>
            <a:off x="513347" y="1965583"/>
            <a:ext cx="5656953" cy="4711313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7350028" y="1252973"/>
            <a:ext cx="4498544" cy="2159774"/>
          </a:xfrm>
          <a:custGeom>
            <a:avLst/>
            <a:gdLst/>
            <a:ahLst/>
            <a:cxnLst/>
            <a:rect l="l" t="t" r="r" b="b"/>
            <a:pathLst>
              <a:path w="4498544" h="2159774">
                <a:moveTo>
                  <a:pt x="101315" y="0"/>
                </a:moveTo>
                <a:lnTo>
                  <a:pt x="4397229" y="0"/>
                </a:lnTo>
                <a:cubicBezTo>
                  <a:pt x="4453184" y="0"/>
                  <a:pt x="4498544" y="45360"/>
                  <a:pt x="4498544" y="101315"/>
                </a:cubicBezTo>
                <a:lnTo>
                  <a:pt x="4498544" y="2058459"/>
                </a:lnTo>
                <a:cubicBezTo>
                  <a:pt x="4498544" y="2114414"/>
                  <a:pt x="4453184" y="2159774"/>
                  <a:pt x="4397229" y="2159774"/>
                </a:cubicBezTo>
                <a:lnTo>
                  <a:pt x="101315" y="2159774"/>
                </a:lnTo>
                <a:cubicBezTo>
                  <a:pt x="45360" y="2159774"/>
                  <a:pt x="0" y="2114414"/>
                  <a:pt x="0" y="2058459"/>
                </a:cubicBezTo>
                <a:lnTo>
                  <a:pt x="0" y="101315"/>
                </a:lnTo>
                <a:cubicBezTo>
                  <a:pt x="0" y="45360"/>
                  <a:pt x="45360" y="0"/>
                  <a:pt x="10131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Shape 7"/>
          <p:cNvSpPr/>
          <p:nvPr/>
        </p:nvSpPr>
        <p:spPr>
          <a:xfrm>
            <a:off x="7522270" y="1425217"/>
            <a:ext cx="405274" cy="405274"/>
          </a:xfrm>
          <a:custGeom>
            <a:avLst/>
            <a:gdLst/>
            <a:ahLst/>
            <a:cxnLst/>
            <a:rect l="l" t="t" r="r" b="b"/>
            <a:pathLst>
              <a:path w="405274" h="405274">
                <a:moveTo>
                  <a:pt x="67547" y="0"/>
                </a:moveTo>
                <a:lnTo>
                  <a:pt x="337727" y="0"/>
                </a:lnTo>
                <a:cubicBezTo>
                  <a:pt x="375032" y="0"/>
                  <a:pt x="405274" y="30242"/>
                  <a:pt x="405274" y="67547"/>
                </a:cubicBezTo>
                <a:lnTo>
                  <a:pt x="405274" y="337727"/>
                </a:lnTo>
                <a:cubicBezTo>
                  <a:pt x="405274" y="375032"/>
                  <a:pt x="375032" y="405274"/>
                  <a:pt x="337727" y="405274"/>
                </a:cubicBezTo>
                <a:lnTo>
                  <a:pt x="67547" y="405274"/>
                </a:lnTo>
                <a:cubicBezTo>
                  <a:pt x="30242" y="405274"/>
                  <a:pt x="0" y="375032"/>
                  <a:pt x="0" y="337727"/>
                </a:cubicBezTo>
                <a:lnTo>
                  <a:pt x="0" y="67547"/>
                </a:lnTo>
                <a:cubicBezTo>
                  <a:pt x="0" y="30267"/>
                  <a:pt x="30267" y="0"/>
                  <a:pt x="67547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Shape 8"/>
          <p:cNvSpPr/>
          <p:nvPr/>
        </p:nvSpPr>
        <p:spPr>
          <a:xfrm>
            <a:off x="7640475" y="1543422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47592" y="0"/>
                </a:moveTo>
                <a:lnTo>
                  <a:pt x="121470" y="0"/>
                </a:lnTo>
                <a:cubicBezTo>
                  <a:pt x="130210" y="0"/>
                  <a:pt x="137334" y="7190"/>
                  <a:pt x="137004" y="15897"/>
                </a:cubicBezTo>
                <a:cubicBezTo>
                  <a:pt x="136938" y="17645"/>
                  <a:pt x="136872" y="19393"/>
                  <a:pt x="136773" y="21108"/>
                </a:cubicBezTo>
                <a:lnTo>
                  <a:pt x="153132" y="21108"/>
                </a:lnTo>
                <a:cubicBezTo>
                  <a:pt x="161740" y="21108"/>
                  <a:pt x="169326" y="28232"/>
                  <a:pt x="168666" y="37533"/>
                </a:cubicBezTo>
                <a:cubicBezTo>
                  <a:pt x="166193" y="71734"/>
                  <a:pt x="148713" y="90534"/>
                  <a:pt x="129748" y="100362"/>
                </a:cubicBezTo>
                <a:cubicBezTo>
                  <a:pt x="124537" y="103067"/>
                  <a:pt x="119227" y="105078"/>
                  <a:pt x="114181" y="106563"/>
                </a:cubicBezTo>
                <a:cubicBezTo>
                  <a:pt x="107519" y="115995"/>
                  <a:pt x="100593" y="120975"/>
                  <a:pt x="95085" y="123647"/>
                </a:cubicBezTo>
                <a:lnTo>
                  <a:pt x="95085" y="147756"/>
                </a:lnTo>
                <a:lnTo>
                  <a:pt x="116193" y="147756"/>
                </a:lnTo>
                <a:cubicBezTo>
                  <a:pt x="122031" y="147756"/>
                  <a:pt x="126747" y="152473"/>
                  <a:pt x="126747" y="158310"/>
                </a:cubicBezTo>
                <a:cubicBezTo>
                  <a:pt x="126747" y="164148"/>
                  <a:pt x="122031" y="168864"/>
                  <a:pt x="116193" y="168864"/>
                </a:cubicBezTo>
                <a:lnTo>
                  <a:pt x="52869" y="168864"/>
                </a:lnTo>
                <a:cubicBezTo>
                  <a:pt x="47031" y="168864"/>
                  <a:pt x="42315" y="164148"/>
                  <a:pt x="42315" y="158310"/>
                </a:cubicBezTo>
                <a:cubicBezTo>
                  <a:pt x="42315" y="152473"/>
                  <a:pt x="47031" y="147756"/>
                  <a:pt x="52869" y="147756"/>
                </a:cubicBezTo>
                <a:lnTo>
                  <a:pt x="73977" y="147756"/>
                </a:lnTo>
                <a:lnTo>
                  <a:pt x="73977" y="123647"/>
                </a:lnTo>
                <a:cubicBezTo>
                  <a:pt x="68700" y="121107"/>
                  <a:pt x="62137" y="116391"/>
                  <a:pt x="55738" y="107717"/>
                </a:cubicBezTo>
                <a:cubicBezTo>
                  <a:pt x="49670" y="106134"/>
                  <a:pt x="43074" y="103726"/>
                  <a:pt x="36642" y="100098"/>
                </a:cubicBezTo>
                <a:cubicBezTo>
                  <a:pt x="18799" y="90105"/>
                  <a:pt x="2704" y="71273"/>
                  <a:pt x="396" y="37467"/>
                </a:cubicBezTo>
                <a:cubicBezTo>
                  <a:pt x="-231" y="28199"/>
                  <a:pt x="7322" y="21075"/>
                  <a:pt x="15930" y="21075"/>
                </a:cubicBezTo>
                <a:lnTo>
                  <a:pt x="32289" y="21075"/>
                </a:lnTo>
                <a:cubicBezTo>
                  <a:pt x="32190" y="19360"/>
                  <a:pt x="32124" y="17645"/>
                  <a:pt x="32058" y="15864"/>
                </a:cubicBezTo>
                <a:cubicBezTo>
                  <a:pt x="31728" y="7124"/>
                  <a:pt x="38852" y="-33"/>
                  <a:pt x="47592" y="-33"/>
                </a:cubicBezTo>
                <a:close/>
                <a:moveTo>
                  <a:pt x="33476" y="36939"/>
                </a:moveTo>
                <a:lnTo>
                  <a:pt x="16194" y="36939"/>
                </a:lnTo>
                <a:cubicBezTo>
                  <a:pt x="18239" y="64874"/>
                  <a:pt x="31068" y="78858"/>
                  <a:pt x="44294" y="86279"/>
                </a:cubicBezTo>
                <a:cubicBezTo>
                  <a:pt x="39545" y="73977"/>
                  <a:pt x="35620" y="57915"/>
                  <a:pt x="33476" y="36939"/>
                </a:cubicBezTo>
                <a:close/>
                <a:moveTo>
                  <a:pt x="125329" y="84696"/>
                </a:moveTo>
                <a:cubicBezTo>
                  <a:pt x="138686" y="76846"/>
                  <a:pt x="150758" y="62895"/>
                  <a:pt x="152802" y="36939"/>
                </a:cubicBezTo>
                <a:lnTo>
                  <a:pt x="135553" y="36939"/>
                </a:lnTo>
                <a:cubicBezTo>
                  <a:pt x="133508" y="57025"/>
                  <a:pt x="129814" y="72625"/>
                  <a:pt x="125329" y="84696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2" name="Text 9"/>
          <p:cNvSpPr/>
          <p:nvPr/>
        </p:nvSpPr>
        <p:spPr>
          <a:xfrm>
            <a:off x="8028863" y="1492763"/>
            <a:ext cx="1055402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6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Vainqueur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529024" y="1972337"/>
            <a:ext cx="4142240" cy="1263105"/>
          </a:xfrm>
          <a:custGeom>
            <a:avLst/>
            <a:gdLst/>
            <a:ahLst/>
            <a:cxnLst/>
            <a:rect l="l" t="t" r="r" b="b"/>
            <a:pathLst>
              <a:path w="4142240" h="1263105">
                <a:moveTo>
                  <a:pt x="101314" y="0"/>
                </a:moveTo>
                <a:lnTo>
                  <a:pt x="4040927" y="0"/>
                </a:lnTo>
                <a:cubicBezTo>
                  <a:pt x="4096881" y="0"/>
                  <a:pt x="4142240" y="45360"/>
                  <a:pt x="4142240" y="101314"/>
                </a:cubicBezTo>
                <a:lnTo>
                  <a:pt x="4142240" y="1161791"/>
                </a:lnTo>
                <a:cubicBezTo>
                  <a:pt x="4142240" y="1217745"/>
                  <a:pt x="4096881" y="1263105"/>
                  <a:pt x="4040927" y="1263105"/>
                </a:cubicBezTo>
                <a:lnTo>
                  <a:pt x="101314" y="1263105"/>
                </a:lnTo>
                <a:cubicBezTo>
                  <a:pt x="45360" y="1263105"/>
                  <a:pt x="0" y="1217745"/>
                  <a:pt x="0" y="1161791"/>
                </a:cubicBezTo>
                <a:lnTo>
                  <a:pt x="0" y="101314"/>
                </a:lnTo>
                <a:cubicBezTo>
                  <a:pt x="0" y="45397"/>
                  <a:pt x="45397" y="0"/>
                  <a:pt x="101314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2032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Text 11"/>
          <p:cNvSpPr/>
          <p:nvPr/>
        </p:nvSpPr>
        <p:spPr>
          <a:xfrm>
            <a:off x="7632876" y="2114180"/>
            <a:ext cx="3934537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7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LightGBM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69552" y="2418135"/>
            <a:ext cx="4061186" cy="40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9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~83%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37098" y="2890955"/>
            <a:ext cx="3926094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4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F1-score moyen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50028" y="3556284"/>
            <a:ext cx="4498544" cy="3291165"/>
          </a:xfrm>
          <a:custGeom>
            <a:avLst/>
            <a:gdLst/>
            <a:ahLst/>
            <a:cxnLst/>
            <a:rect l="l" t="t" r="r" b="b"/>
            <a:pathLst>
              <a:path w="4498544" h="3291165">
                <a:moveTo>
                  <a:pt x="101335" y="0"/>
                </a:moveTo>
                <a:lnTo>
                  <a:pt x="4397209" y="0"/>
                </a:lnTo>
                <a:cubicBezTo>
                  <a:pt x="4453175" y="0"/>
                  <a:pt x="4498544" y="45369"/>
                  <a:pt x="4498544" y="101335"/>
                </a:cubicBezTo>
                <a:lnTo>
                  <a:pt x="4498544" y="3189830"/>
                </a:lnTo>
                <a:cubicBezTo>
                  <a:pt x="4498544" y="3245795"/>
                  <a:pt x="4453175" y="3291165"/>
                  <a:pt x="4397209" y="3291165"/>
                </a:cubicBezTo>
                <a:lnTo>
                  <a:pt x="101335" y="3291165"/>
                </a:lnTo>
                <a:cubicBezTo>
                  <a:pt x="45369" y="3291165"/>
                  <a:pt x="0" y="3245795"/>
                  <a:pt x="0" y="3189830"/>
                </a:cubicBezTo>
                <a:lnTo>
                  <a:pt x="0" y="101335"/>
                </a:lnTo>
                <a:cubicBezTo>
                  <a:pt x="0" y="45369"/>
                  <a:pt x="45369" y="0"/>
                  <a:pt x="10133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8" name="Shape 15"/>
          <p:cNvSpPr/>
          <p:nvPr/>
        </p:nvSpPr>
        <p:spPr>
          <a:xfrm>
            <a:off x="7522270" y="3728524"/>
            <a:ext cx="405274" cy="405274"/>
          </a:xfrm>
          <a:custGeom>
            <a:avLst/>
            <a:gdLst/>
            <a:ahLst/>
            <a:cxnLst/>
            <a:rect l="l" t="t" r="r" b="b"/>
            <a:pathLst>
              <a:path w="405274" h="405274">
                <a:moveTo>
                  <a:pt x="67547" y="0"/>
                </a:moveTo>
                <a:lnTo>
                  <a:pt x="337727" y="0"/>
                </a:lnTo>
                <a:cubicBezTo>
                  <a:pt x="375032" y="0"/>
                  <a:pt x="405274" y="30242"/>
                  <a:pt x="405274" y="67547"/>
                </a:cubicBezTo>
                <a:lnTo>
                  <a:pt x="405274" y="337727"/>
                </a:lnTo>
                <a:cubicBezTo>
                  <a:pt x="405274" y="375032"/>
                  <a:pt x="375032" y="405274"/>
                  <a:pt x="337727" y="405274"/>
                </a:cubicBezTo>
                <a:lnTo>
                  <a:pt x="67547" y="405274"/>
                </a:lnTo>
                <a:cubicBezTo>
                  <a:pt x="30242" y="405274"/>
                  <a:pt x="0" y="375032"/>
                  <a:pt x="0" y="337727"/>
                </a:cubicBezTo>
                <a:lnTo>
                  <a:pt x="0" y="67547"/>
                </a:lnTo>
                <a:cubicBezTo>
                  <a:pt x="0" y="30267"/>
                  <a:pt x="30267" y="0"/>
                  <a:pt x="67547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Shape 16"/>
          <p:cNvSpPr/>
          <p:nvPr/>
        </p:nvSpPr>
        <p:spPr>
          <a:xfrm>
            <a:off x="7640475" y="3846729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39578" y="18470"/>
                </a:moveTo>
                <a:cubicBezTo>
                  <a:pt x="39578" y="8278"/>
                  <a:pt x="47856" y="0"/>
                  <a:pt x="58047" y="0"/>
                </a:cubicBezTo>
                <a:lnTo>
                  <a:pt x="65963" y="0"/>
                </a:lnTo>
                <a:cubicBezTo>
                  <a:pt x="71800" y="0"/>
                  <a:pt x="76517" y="4716"/>
                  <a:pt x="76517" y="10554"/>
                </a:cubicBezTo>
                <a:lnTo>
                  <a:pt x="76517" y="158310"/>
                </a:lnTo>
                <a:cubicBezTo>
                  <a:pt x="76517" y="164148"/>
                  <a:pt x="71800" y="168864"/>
                  <a:pt x="65963" y="168864"/>
                </a:cubicBezTo>
                <a:lnTo>
                  <a:pt x="55409" y="168864"/>
                </a:lnTo>
                <a:cubicBezTo>
                  <a:pt x="45580" y="168864"/>
                  <a:pt x="37302" y="162136"/>
                  <a:pt x="34960" y="153033"/>
                </a:cubicBezTo>
                <a:cubicBezTo>
                  <a:pt x="34729" y="153033"/>
                  <a:pt x="34531" y="153033"/>
                  <a:pt x="34301" y="153033"/>
                </a:cubicBezTo>
                <a:cubicBezTo>
                  <a:pt x="19723" y="153033"/>
                  <a:pt x="7916" y="141226"/>
                  <a:pt x="7916" y="126648"/>
                </a:cubicBezTo>
                <a:cubicBezTo>
                  <a:pt x="7916" y="120712"/>
                  <a:pt x="9894" y="115237"/>
                  <a:pt x="13193" y="110817"/>
                </a:cubicBezTo>
                <a:cubicBezTo>
                  <a:pt x="6794" y="106002"/>
                  <a:pt x="2639" y="98350"/>
                  <a:pt x="2639" y="89709"/>
                </a:cubicBezTo>
                <a:cubicBezTo>
                  <a:pt x="2639" y="79518"/>
                  <a:pt x="8443" y="70646"/>
                  <a:pt x="16886" y="66259"/>
                </a:cubicBezTo>
                <a:cubicBezTo>
                  <a:pt x="14545" y="62302"/>
                  <a:pt x="13193" y="57684"/>
                  <a:pt x="13193" y="52770"/>
                </a:cubicBezTo>
                <a:cubicBezTo>
                  <a:pt x="13193" y="38192"/>
                  <a:pt x="25000" y="26385"/>
                  <a:pt x="39578" y="26385"/>
                </a:cubicBezTo>
                <a:lnTo>
                  <a:pt x="39578" y="18470"/>
                </a:lnTo>
                <a:close/>
                <a:moveTo>
                  <a:pt x="129287" y="18470"/>
                </a:moveTo>
                <a:lnTo>
                  <a:pt x="129287" y="26385"/>
                </a:lnTo>
                <a:cubicBezTo>
                  <a:pt x="143864" y="26385"/>
                  <a:pt x="155672" y="38192"/>
                  <a:pt x="155672" y="52770"/>
                </a:cubicBezTo>
                <a:cubicBezTo>
                  <a:pt x="155672" y="57717"/>
                  <a:pt x="154320" y="62335"/>
                  <a:pt x="151978" y="66259"/>
                </a:cubicBezTo>
                <a:cubicBezTo>
                  <a:pt x="160454" y="70646"/>
                  <a:pt x="166226" y="79485"/>
                  <a:pt x="166226" y="89709"/>
                </a:cubicBezTo>
                <a:cubicBezTo>
                  <a:pt x="166226" y="98350"/>
                  <a:pt x="162070" y="106002"/>
                  <a:pt x="155672" y="110817"/>
                </a:cubicBezTo>
                <a:cubicBezTo>
                  <a:pt x="158970" y="115237"/>
                  <a:pt x="160949" y="120712"/>
                  <a:pt x="160949" y="126648"/>
                </a:cubicBezTo>
                <a:cubicBezTo>
                  <a:pt x="160949" y="141226"/>
                  <a:pt x="149141" y="153033"/>
                  <a:pt x="134564" y="153033"/>
                </a:cubicBezTo>
                <a:cubicBezTo>
                  <a:pt x="134333" y="153033"/>
                  <a:pt x="134135" y="153033"/>
                  <a:pt x="133904" y="153033"/>
                </a:cubicBezTo>
                <a:cubicBezTo>
                  <a:pt x="131562" y="162136"/>
                  <a:pt x="123284" y="168864"/>
                  <a:pt x="113456" y="168864"/>
                </a:cubicBezTo>
                <a:lnTo>
                  <a:pt x="102902" y="168864"/>
                </a:lnTo>
                <a:cubicBezTo>
                  <a:pt x="97064" y="168864"/>
                  <a:pt x="92348" y="164148"/>
                  <a:pt x="92348" y="158310"/>
                </a:cubicBezTo>
                <a:lnTo>
                  <a:pt x="92348" y="10554"/>
                </a:lnTo>
                <a:cubicBezTo>
                  <a:pt x="92348" y="4716"/>
                  <a:pt x="97064" y="0"/>
                  <a:pt x="102902" y="0"/>
                </a:cubicBezTo>
                <a:lnTo>
                  <a:pt x="110817" y="0"/>
                </a:lnTo>
                <a:cubicBezTo>
                  <a:pt x="121008" y="0"/>
                  <a:pt x="129287" y="8278"/>
                  <a:pt x="129287" y="1847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Text 17"/>
          <p:cNvSpPr/>
          <p:nvPr/>
        </p:nvSpPr>
        <p:spPr>
          <a:xfrm>
            <a:off x="8028863" y="3796070"/>
            <a:ext cx="818992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6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Analyse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25647" y="4272267"/>
            <a:ext cx="4143929" cy="1138145"/>
          </a:xfrm>
          <a:custGeom>
            <a:avLst/>
            <a:gdLst/>
            <a:ahLst/>
            <a:cxnLst/>
            <a:rect l="l" t="t" r="r" b="b"/>
            <a:pathLst>
              <a:path w="4143929" h="1138145">
                <a:moveTo>
                  <a:pt x="67549" y="0"/>
                </a:moveTo>
                <a:lnTo>
                  <a:pt x="4076380" y="0"/>
                </a:lnTo>
                <a:cubicBezTo>
                  <a:pt x="4113686" y="0"/>
                  <a:pt x="4143929" y="30243"/>
                  <a:pt x="4143929" y="67549"/>
                </a:cubicBezTo>
                <a:lnTo>
                  <a:pt x="4143929" y="1070596"/>
                </a:lnTo>
                <a:cubicBezTo>
                  <a:pt x="4143929" y="1107902"/>
                  <a:pt x="4113686" y="1138145"/>
                  <a:pt x="4076380" y="1138145"/>
                </a:cubicBezTo>
                <a:lnTo>
                  <a:pt x="67549" y="1138145"/>
                </a:lnTo>
                <a:cubicBezTo>
                  <a:pt x="30243" y="1138145"/>
                  <a:pt x="0" y="1107902"/>
                  <a:pt x="0" y="1070596"/>
                </a:cubicBezTo>
                <a:lnTo>
                  <a:pt x="0" y="67549"/>
                </a:lnTo>
                <a:cubicBezTo>
                  <a:pt x="0" y="30268"/>
                  <a:pt x="30268" y="0"/>
                  <a:pt x="6754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2" name="Text 19"/>
          <p:cNvSpPr/>
          <p:nvPr/>
        </p:nvSpPr>
        <p:spPr>
          <a:xfrm>
            <a:off x="7630343" y="4376961"/>
            <a:ext cx="4002083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Boosting vs Régression Logistique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30343" y="4647144"/>
            <a:ext cx="4002083" cy="658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4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 boosting surpasse la régression logistique classique grâce à sa capacité à capturer les </a:t>
            </a:r>
            <a:r>
              <a:rPr lang="en-US" sz="1064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relations non-linéaires complexes</a:t>
            </a:r>
            <a:r>
              <a:rPr lang="en-US" sz="1064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entre les variables.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525647" y="5518486"/>
            <a:ext cx="4143929" cy="1155032"/>
          </a:xfrm>
          <a:custGeom>
            <a:avLst/>
            <a:gdLst/>
            <a:ahLst/>
            <a:cxnLst/>
            <a:rect l="l" t="t" r="r" b="b"/>
            <a:pathLst>
              <a:path w="4143929" h="1155032">
                <a:moveTo>
                  <a:pt x="67546" y="0"/>
                </a:moveTo>
                <a:lnTo>
                  <a:pt x="4076383" y="0"/>
                </a:lnTo>
                <a:cubicBezTo>
                  <a:pt x="4113688" y="0"/>
                  <a:pt x="4143929" y="30241"/>
                  <a:pt x="4143929" y="67546"/>
                </a:cubicBezTo>
                <a:lnTo>
                  <a:pt x="4143929" y="1087485"/>
                </a:lnTo>
                <a:cubicBezTo>
                  <a:pt x="4143929" y="1124790"/>
                  <a:pt x="4113688" y="1155032"/>
                  <a:pt x="4076383" y="1155032"/>
                </a:cubicBezTo>
                <a:lnTo>
                  <a:pt x="67546" y="1155032"/>
                </a:lnTo>
                <a:cubicBezTo>
                  <a:pt x="30241" y="1155032"/>
                  <a:pt x="0" y="1124790"/>
                  <a:pt x="0" y="1087485"/>
                </a:cubicBezTo>
                <a:lnTo>
                  <a:pt x="0" y="67546"/>
                </a:lnTo>
                <a:cubicBezTo>
                  <a:pt x="0" y="30266"/>
                  <a:pt x="30266" y="0"/>
                  <a:pt x="6754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5" name="Text 22"/>
          <p:cNvSpPr/>
          <p:nvPr/>
        </p:nvSpPr>
        <p:spPr>
          <a:xfrm>
            <a:off x="7630343" y="5623180"/>
            <a:ext cx="4002083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Avantages de LightGBM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655673" y="5927136"/>
            <a:ext cx="118205" cy="135091"/>
          </a:xfrm>
          <a:custGeom>
            <a:avLst/>
            <a:gdLst/>
            <a:ahLst/>
            <a:cxnLst/>
            <a:rect l="l" t="t" r="r" b="b"/>
            <a:pathLst>
              <a:path w="118205" h="135091">
                <a:moveTo>
                  <a:pt x="114722" y="18496"/>
                </a:moveTo>
                <a:cubicBezTo>
                  <a:pt x="118495" y="21240"/>
                  <a:pt x="119340" y="26517"/>
                  <a:pt x="116595" y="30290"/>
                </a:cubicBezTo>
                <a:lnTo>
                  <a:pt x="49050" y="123165"/>
                </a:lnTo>
                <a:cubicBezTo>
                  <a:pt x="47599" y="125171"/>
                  <a:pt x="45356" y="126411"/>
                  <a:pt x="42876" y="126622"/>
                </a:cubicBezTo>
                <a:cubicBezTo>
                  <a:pt x="40395" y="126833"/>
                  <a:pt x="37994" y="125909"/>
                  <a:pt x="36253" y="124168"/>
                </a:cubicBezTo>
                <a:lnTo>
                  <a:pt x="2480" y="90395"/>
                </a:lnTo>
                <a:cubicBezTo>
                  <a:pt x="-818" y="87097"/>
                  <a:pt x="-818" y="81741"/>
                  <a:pt x="2480" y="78443"/>
                </a:cubicBezTo>
                <a:cubicBezTo>
                  <a:pt x="5778" y="75145"/>
                  <a:pt x="11134" y="75145"/>
                  <a:pt x="14433" y="78443"/>
                </a:cubicBezTo>
                <a:lnTo>
                  <a:pt x="41213" y="105224"/>
                </a:lnTo>
                <a:lnTo>
                  <a:pt x="102954" y="20343"/>
                </a:lnTo>
                <a:cubicBezTo>
                  <a:pt x="105698" y="16570"/>
                  <a:pt x="110975" y="15725"/>
                  <a:pt x="114749" y="1847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7" name="Text 24"/>
          <p:cNvSpPr/>
          <p:nvPr/>
        </p:nvSpPr>
        <p:spPr>
          <a:xfrm>
            <a:off x="7844113" y="5893363"/>
            <a:ext cx="3788313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Entraînement rapide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655673" y="6163546"/>
            <a:ext cx="118205" cy="135091"/>
          </a:xfrm>
          <a:custGeom>
            <a:avLst/>
            <a:gdLst/>
            <a:ahLst/>
            <a:cxnLst/>
            <a:rect l="l" t="t" r="r" b="b"/>
            <a:pathLst>
              <a:path w="118205" h="135091">
                <a:moveTo>
                  <a:pt x="114722" y="18496"/>
                </a:moveTo>
                <a:cubicBezTo>
                  <a:pt x="118495" y="21240"/>
                  <a:pt x="119340" y="26517"/>
                  <a:pt x="116595" y="30290"/>
                </a:cubicBezTo>
                <a:lnTo>
                  <a:pt x="49050" y="123165"/>
                </a:lnTo>
                <a:cubicBezTo>
                  <a:pt x="47599" y="125171"/>
                  <a:pt x="45356" y="126411"/>
                  <a:pt x="42876" y="126622"/>
                </a:cubicBezTo>
                <a:cubicBezTo>
                  <a:pt x="40395" y="126833"/>
                  <a:pt x="37994" y="125909"/>
                  <a:pt x="36253" y="124168"/>
                </a:cubicBezTo>
                <a:lnTo>
                  <a:pt x="2480" y="90395"/>
                </a:lnTo>
                <a:cubicBezTo>
                  <a:pt x="-818" y="87097"/>
                  <a:pt x="-818" y="81741"/>
                  <a:pt x="2480" y="78443"/>
                </a:cubicBezTo>
                <a:cubicBezTo>
                  <a:pt x="5778" y="75145"/>
                  <a:pt x="11134" y="75145"/>
                  <a:pt x="14433" y="78443"/>
                </a:cubicBezTo>
                <a:lnTo>
                  <a:pt x="41213" y="105224"/>
                </a:lnTo>
                <a:lnTo>
                  <a:pt x="102954" y="20343"/>
                </a:lnTo>
                <a:cubicBezTo>
                  <a:pt x="105698" y="16570"/>
                  <a:pt x="110975" y="15725"/>
                  <a:pt x="114749" y="1847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9" name="Text 26"/>
          <p:cNvSpPr/>
          <p:nvPr/>
        </p:nvSpPr>
        <p:spPr>
          <a:xfrm>
            <a:off x="7844113" y="6129773"/>
            <a:ext cx="3788313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Faible consommation mémoire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655673" y="6399956"/>
            <a:ext cx="118205" cy="135091"/>
          </a:xfrm>
          <a:custGeom>
            <a:avLst/>
            <a:gdLst/>
            <a:ahLst/>
            <a:cxnLst/>
            <a:rect l="l" t="t" r="r" b="b"/>
            <a:pathLst>
              <a:path w="118205" h="135091">
                <a:moveTo>
                  <a:pt x="114722" y="18496"/>
                </a:moveTo>
                <a:cubicBezTo>
                  <a:pt x="118495" y="21240"/>
                  <a:pt x="119340" y="26517"/>
                  <a:pt x="116595" y="30290"/>
                </a:cubicBezTo>
                <a:lnTo>
                  <a:pt x="49050" y="123165"/>
                </a:lnTo>
                <a:cubicBezTo>
                  <a:pt x="47599" y="125171"/>
                  <a:pt x="45356" y="126411"/>
                  <a:pt x="42876" y="126622"/>
                </a:cubicBezTo>
                <a:cubicBezTo>
                  <a:pt x="40395" y="126833"/>
                  <a:pt x="37994" y="125909"/>
                  <a:pt x="36253" y="124168"/>
                </a:cubicBezTo>
                <a:lnTo>
                  <a:pt x="2480" y="90395"/>
                </a:lnTo>
                <a:cubicBezTo>
                  <a:pt x="-818" y="87097"/>
                  <a:pt x="-818" y="81741"/>
                  <a:pt x="2480" y="78443"/>
                </a:cubicBezTo>
                <a:cubicBezTo>
                  <a:pt x="5778" y="75145"/>
                  <a:pt x="11134" y="75145"/>
                  <a:pt x="14433" y="78443"/>
                </a:cubicBezTo>
                <a:lnTo>
                  <a:pt x="41213" y="105224"/>
                </a:lnTo>
                <a:lnTo>
                  <a:pt x="102954" y="20343"/>
                </a:lnTo>
                <a:cubicBezTo>
                  <a:pt x="105698" y="16570"/>
                  <a:pt x="110975" y="15725"/>
                  <a:pt x="114749" y="1847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1" name="Text 28"/>
          <p:cNvSpPr/>
          <p:nvPr/>
        </p:nvSpPr>
        <p:spPr>
          <a:xfrm>
            <a:off x="7844113" y="6366183"/>
            <a:ext cx="3788313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Excellente généralisation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Matrice de Confusion &amp; ROC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413510"/>
            <a:ext cx="5589270" cy="5065395"/>
          </a:xfrm>
          <a:custGeom>
            <a:avLst/>
            <a:gdLst/>
            <a:ahLst/>
            <a:cxnLst/>
            <a:rect l="l" t="t" r="r" b="b"/>
            <a:pathLst>
              <a:path w="5589270" h="5065395">
                <a:moveTo>
                  <a:pt x="114275" y="0"/>
                </a:moveTo>
                <a:lnTo>
                  <a:pt x="5474995" y="0"/>
                </a:lnTo>
                <a:cubicBezTo>
                  <a:pt x="5538107" y="0"/>
                  <a:pt x="5589270" y="51163"/>
                  <a:pt x="5589270" y="114275"/>
                </a:cubicBezTo>
                <a:lnTo>
                  <a:pt x="5589270" y="4951120"/>
                </a:lnTo>
                <a:cubicBezTo>
                  <a:pt x="5589270" y="5014232"/>
                  <a:pt x="5538107" y="5065395"/>
                  <a:pt x="5474995" y="5065395"/>
                </a:cubicBezTo>
                <a:lnTo>
                  <a:pt x="114275" y="5065395"/>
                </a:lnTo>
                <a:cubicBezTo>
                  <a:pt x="51163" y="5065395"/>
                  <a:pt x="0" y="5014232"/>
                  <a:pt x="0" y="4951120"/>
                </a:cubicBezTo>
                <a:lnTo>
                  <a:pt x="0" y="114275"/>
                </a:lnTo>
                <a:cubicBezTo>
                  <a:pt x="0" y="51205"/>
                  <a:pt x="51205" y="0"/>
                  <a:pt x="11427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579120" y="16078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724376" y="17411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35719"/>
                </a:moveTo>
                <a:lnTo>
                  <a:pt x="142875" y="59531"/>
                </a:lnTo>
                <a:lnTo>
                  <a:pt x="119063" y="59531"/>
                </a:lnTo>
                <a:lnTo>
                  <a:pt x="119063" y="35719"/>
                </a:lnTo>
                <a:lnTo>
                  <a:pt x="142875" y="35719"/>
                </a:lnTo>
                <a:close/>
                <a:moveTo>
                  <a:pt x="142875" y="83344"/>
                </a:moveTo>
                <a:lnTo>
                  <a:pt x="142875" y="107156"/>
                </a:lnTo>
                <a:lnTo>
                  <a:pt x="119063" y="107156"/>
                </a:lnTo>
                <a:lnTo>
                  <a:pt x="119063" y="83344"/>
                </a:lnTo>
                <a:lnTo>
                  <a:pt x="142875" y="83344"/>
                </a:lnTo>
                <a:close/>
                <a:moveTo>
                  <a:pt x="142875" y="130969"/>
                </a:moveTo>
                <a:lnTo>
                  <a:pt x="142875" y="154781"/>
                </a:lnTo>
                <a:lnTo>
                  <a:pt x="119063" y="154781"/>
                </a:lnTo>
                <a:lnTo>
                  <a:pt x="119063" y="130969"/>
                </a:lnTo>
                <a:lnTo>
                  <a:pt x="142875" y="130969"/>
                </a:lnTo>
                <a:close/>
                <a:moveTo>
                  <a:pt x="95250" y="107156"/>
                </a:moveTo>
                <a:lnTo>
                  <a:pt x="71438" y="107156"/>
                </a:lnTo>
                <a:lnTo>
                  <a:pt x="71438" y="83344"/>
                </a:lnTo>
                <a:lnTo>
                  <a:pt x="95250" y="83344"/>
                </a:lnTo>
                <a:lnTo>
                  <a:pt x="95250" y="107156"/>
                </a:lnTo>
                <a:close/>
                <a:moveTo>
                  <a:pt x="71438" y="130969"/>
                </a:moveTo>
                <a:lnTo>
                  <a:pt x="95250" y="130969"/>
                </a:lnTo>
                <a:lnTo>
                  <a:pt x="95250" y="154781"/>
                </a:lnTo>
                <a:lnTo>
                  <a:pt x="71438" y="154781"/>
                </a:lnTo>
                <a:lnTo>
                  <a:pt x="71438" y="130969"/>
                </a:lnTo>
                <a:close/>
                <a:moveTo>
                  <a:pt x="47625" y="107156"/>
                </a:moveTo>
                <a:lnTo>
                  <a:pt x="23812" y="107156"/>
                </a:lnTo>
                <a:lnTo>
                  <a:pt x="23812" y="83344"/>
                </a:lnTo>
                <a:lnTo>
                  <a:pt x="47625" y="83344"/>
                </a:lnTo>
                <a:lnTo>
                  <a:pt x="47625" y="107156"/>
                </a:lnTo>
                <a:close/>
                <a:moveTo>
                  <a:pt x="23812" y="130969"/>
                </a:moveTo>
                <a:lnTo>
                  <a:pt x="47625" y="130969"/>
                </a:lnTo>
                <a:lnTo>
                  <a:pt x="47625" y="154781"/>
                </a:lnTo>
                <a:lnTo>
                  <a:pt x="23812" y="154781"/>
                </a:lnTo>
                <a:lnTo>
                  <a:pt x="23812" y="130969"/>
                </a:lnTo>
                <a:close/>
                <a:moveTo>
                  <a:pt x="23812" y="59531"/>
                </a:moveTo>
                <a:lnTo>
                  <a:pt x="23812" y="35719"/>
                </a:lnTo>
                <a:lnTo>
                  <a:pt x="47625" y="35719"/>
                </a:lnTo>
                <a:lnTo>
                  <a:pt x="47625" y="59531"/>
                </a:lnTo>
                <a:lnTo>
                  <a:pt x="23812" y="59531"/>
                </a:lnTo>
                <a:close/>
                <a:moveTo>
                  <a:pt x="71438" y="59531"/>
                </a:moveTo>
                <a:lnTo>
                  <a:pt x="71438" y="35719"/>
                </a:lnTo>
                <a:lnTo>
                  <a:pt x="95250" y="35719"/>
                </a:lnTo>
                <a:lnTo>
                  <a:pt x="95250" y="59531"/>
                </a:lnTo>
                <a:lnTo>
                  <a:pt x="71438" y="59531"/>
                </a:lnTo>
                <a:close/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1150620" y="1684018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Analyse de l'Erreur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2930" y="5469374"/>
            <a:ext cx="1655445" cy="807720"/>
          </a:xfrm>
          <a:custGeom>
            <a:avLst/>
            <a:gdLst/>
            <a:ahLst/>
            <a:cxnLst/>
            <a:rect l="l" t="t" r="r" b="b"/>
            <a:pathLst>
              <a:path w="1655445" h="807720">
                <a:moveTo>
                  <a:pt x="76200" y="0"/>
                </a:moveTo>
                <a:lnTo>
                  <a:pt x="1579245" y="0"/>
                </a:lnTo>
                <a:cubicBezTo>
                  <a:pt x="1621329" y="0"/>
                  <a:pt x="1655445" y="34116"/>
                  <a:pt x="1655445" y="76200"/>
                </a:cubicBezTo>
                <a:lnTo>
                  <a:pt x="1655445" y="731520"/>
                </a:lnTo>
                <a:cubicBezTo>
                  <a:pt x="1655445" y="773604"/>
                  <a:pt x="1621329" y="807720"/>
                  <a:pt x="1579245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Text 7"/>
          <p:cNvSpPr/>
          <p:nvPr/>
        </p:nvSpPr>
        <p:spPr>
          <a:xfrm>
            <a:off x="662940" y="5587482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Diplômé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3890" y="5854182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55771" y="5469374"/>
            <a:ext cx="1655445" cy="807720"/>
          </a:xfrm>
          <a:custGeom>
            <a:avLst/>
            <a:gdLst/>
            <a:ahLst/>
            <a:cxnLst/>
            <a:rect l="l" t="t" r="r" b="b"/>
            <a:pathLst>
              <a:path w="1655445" h="807720">
                <a:moveTo>
                  <a:pt x="76200" y="0"/>
                </a:moveTo>
                <a:lnTo>
                  <a:pt x="1579245" y="0"/>
                </a:lnTo>
                <a:cubicBezTo>
                  <a:pt x="1621329" y="0"/>
                  <a:pt x="1655445" y="34116"/>
                  <a:pt x="1655445" y="76200"/>
                </a:cubicBezTo>
                <a:lnTo>
                  <a:pt x="1655445" y="731520"/>
                </a:lnTo>
                <a:cubicBezTo>
                  <a:pt x="1655445" y="773604"/>
                  <a:pt x="1621329" y="807720"/>
                  <a:pt x="1579245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10160">
            <a:solidFill>
              <a:srgbClr val="EF444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Text 10"/>
          <p:cNvSpPr/>
          <p:nvPr/>
        </p:nvSpPr>
        <p:spPr>
          <a:xfrm>
            <a:off x="2435781" y="5587482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Abandon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416731" y="5854182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128730" y="5469374"/>
            <a:ext cx="1655445" cy="807720"/>
          </a:xfrm>
          <a:custGeom>
            <a:avLst/>
            <a:gdLst/>
            <a:ahLst/>
            <a:cxnLst/>
            <a:rect l="l" t="t" r="r" b="b"/>
            <a:pathLst>
              <a:path w="1655445" h="807720">
                <a:moveTo>
                  <a:pt x="76200" y="0"/>
                </a:moveTo>
                <a:lnTo>
                  <a:pt x="1579245" y="0"/>
                </a:lnTo>
                <a:cubicBezTo>
                  <a:pt x="1621329" y="0"/>
                  <a:pt x="1655445" y="34116"/>
                  <a:pt x="1655445" y="76200"/>
                </a:cubicBezTo>
                <a:lnTo>
                  <a:pt x="1655445" y="731520"/>
                </a:lnTo>
                <a:cubicBezTo>
                  <a:pt x="1655445" y="773604"/>
                  <a:pt x="1621329" y="807720"/>
                  <a:pt x="1579245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6" name="Text 13"/>
          <p:cNvSpPr/>
          <p:nvPr/>
        </p:nvSpPr>
        <p:spPr>
          <a:xfrm>
            <a:off x="4208740" y="5587482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Enrolled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89690" y="5854182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68%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14110" y="1413510"/>
            <a:ext cx="5589270" cy="3236595"/>
          </a:xfrm>
          <a:custGeom>
            <a:avLst/>
            <a:gdLst/>
            <a:ahLst/>
            <a:cxnLst/>
            <a:rect l="l" t="t" r="r" b="b"/>
            <a:pathLst>
              <a:path w="5589270" h="3236595">
                <a:moveTo>
                  <a:pt x="114284" y="0"/>
                </a:moveTo>
                <a:lnTo>
                  <a:pt x="5474986" y="0"/>
                </a:lnTo>
                <a:cubicBezTo>
                  <a:pt x="5538103" y="0"/>
                  <a:pt x="5589270" y="51167"/>
                  <a:pt x="5589270" y="114284"/>
                </a:cubicBezTo>
                <a:lnTo>
                  <a:pt x="5589270" y="3122311"/>
                </a:lnTo>
                <a:cubicBezTo>
                  <a:pt x="5589270" y="3185428"/>
                  <a:pt x="5538103" y="3236595"/>
                  <a:pt x="5474986" y="3236595"/>
                </a:cubicBezTo>
                <a:lnTo>
                  <a:pt x="114284" y="3236595"/>
                </a:lnTo>
                <a:cubicBezTo>
                  <a:pt x="51167" y="3236595"/>
                  <a:pt x="0" y="3185428"/>
                  <a:pt x="0" y="3122311"/>
                </a:cubicBezTo>
                <a:lnTo>
                  <a:pt x="0" y="114284"/>
                </a:lnTo>
                <a:cubicBezTo>
                  <a:pt x="0" y="51167"/>
                  <a:pt x="51167" y="0"/>
                  <a:pt x="11428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Shape 16"/>
          <p:cNvSpPr/>
          <p:nvPr/>
        </p:nvSpPr>
        <p:spPr>
          <a:xfrm>
            <a:off x="6408420" y="16078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Shape 17"/>
          <p:cNvSpPr/>
          <p:nvPr/>
        </p:nvSpPr>
        <p:spPr>
          <a:xfrm>
            <a:off x="6541770" y="17411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Text 18"/>
          <p:cNvSpPr/>
          <p:nvPr/>
        </p:nvSpPr>
        <p:spPr>
          <a:xfrm>
            <a:off x="6979920" y="1684018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Courbe ROC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214110" y="4848231"/>
            <a:ext cx="5589270" cy="1626870"/>
          </a:xfrm>
          <a:custGeom>
            <a:avLst/>
            <a:gdLst/>
            <a:ahLst/>
            <a:cxnLst/>
            <a:rect l="l" t="t" r="r" b="b"/>
            <a:pathLst>
              <a:path w="5589270" h="1626870">
                <a:moveTo>
                  <a:pt x="114304" y="0"/>
                </a:moveTo>
                <a:lnTo>
                  <a:pt x="5474966" y="0"/>
                </a:lnTo>
                <a:cubicBezTo>
                  <a:pt x="5538094" y="0"/>
                  <a:pt x="5589270" y="51176"/>
                  <a:pt x="5589270" y="114304"/>
                </a:cubicBezTo>
                <a:lnTo>
                  <a:pt x="5589270" y="1512566"/>
                </a:lnTo>
                <a:cubicBezTo>
                  <a:pt x="5589270" y="1575694"/>
                  <a:pt x="5538094" y="1626870"/>
                  <a:pt x="5474966" y="1626870"/>
                </a:cubicBezTo>
                <a:lnTo>
                  <a:pt x="114304" y="1626870"/>
                </a:lnTo>
                <a:cubicBezTo>
                  <a:pt x="51176" y="1626870"/>
                  <a:pt x="0" y="1575694"/>
                  <a:pt x="0" y="151256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4" name="Shape 20"/>
          <p:cNvSpPr/>
          <p:nvPr/>
        </p:nvSpPr>
        <p:spPr>
          <a:xfrm>
            <a:off x="6408420" y="50425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Shape 21"/>
          <p:cNvSpPr/>
          <p:nvPr/>
        </p:nvSpPr>
        <p:spPr>
          <a:xfrm>
            <a:off x="6515576" y="514731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6" name="Text 22"/>
          <p:cNvSpPr/>
          <p:nvPr/>
        </p:nvSpPr>
        <p:spPr>
          <a:xfrm>
            <a:off x="6903720" y="5099689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 Cas "Enrolled"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408420" y="5537839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classe </a:t>
            </a:r>
            <a:r>
              <a:rPr lang="en-US" sz="12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"Enrolled"</a:t>
            </a:r>
            <a:r>
              <a:rPr lang="en-US" sz="12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présente une </a:t>
            </a:r>
            <a:r>
              <a:rPr lang="en-US" sz="12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ambiguïté statistique</a:t>
            </a:r>
            <a:r>
              <a:rPr lang="en-US" sz="12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car ces étudiants sont encore en cours de parcours. Leur statut final n'est pas encore déterminé, ce qui rend la prédiction plus difficile.</a:t>
            </a:r>
            <a:endParaRPr lang="en-US" sz="16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98A8D07-5C16-0DBC-B45D-3FE325DFD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94" y="2127444"/>
            <a:ext cx="4813101" cy="31913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06A1CC0-2322-C626-C649-052AB8984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355" y="2036444"/>
            <a:ext cx="4732079" cy="250189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954" y="651612"/>
            <a:ext cx="11711865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de l'Application Web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383" y="1272358"/>
            <a:ext cx="3710758" cy="4165171"/>
          </a:xfrm>
          <a:custGeom>
            <a:avLst/>
            <a:gdLst/>
            <a:ahLst/>
            <a:cxnLst/>
            <a:rect l="l" t="t" r="r" b="b"/>
            <a:pathLst>
              <a:path w="3710758" h="4165171">
                <a:moveTo>
                  <a:pt x="102899" y="0"/>
                </a:moveTo>
                <a:lnTo>
                  <a:pt x="3607858" y="0"/>
                </a:lnTo>
                <a:cubicBezTo>
                  <a:pt x="3664688" y="0"/>
                  <a:pt x="3710758" y="46070"/>
                  <a:pt x="3710758" y="102899"/>
                </a:cubicBezTo>
                <a:lnTo>
                  <a:pt x="3710758" y="4062272"/>
                </a:lnTo>
                <a:cubicBezTo>
                  <a:pt x="3710758" y="4119102"/>
                  <a:pt x="3664688" y="4165171"/>
                  <a:pt x="3607858" y="4165171"/>
                </a:cubicBezTo>
                <a:lnTo>
                  <a:pt x="102899" y="4165171"/>
                </a:lnTo>
                <a:cubicBezTo>
                  <a:pt x="46070" y="4165171"/>
                  <a:pt x="0" y="4119102"/>
                  <a:pt x="0" y="4062272"/>
                </a:cubicBezTo>
                <a:lnTo>
                  <a:pt x="0" y="102899"/>
                </a:lnTo>
                <a:cubicBezTo>
                  <a:pt x="0" y="46108"/>
                  <a:pt x="46108" y="0"/>
                  <a:pt x="10289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521289" y="1447262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68592" y="0"/>
                </a:moveTo>
                <a:lnTo>
                  <a:pt x="411543" y="0"/>
                </a:lnTo>
                <a:cubicBezTo>
                  <a:pt x="449425" y="0"/>
                  <a:pt x="480135" y="30710"/>
                  <a:pt x="480135" y="68592"/>
                </a:cubicBezTo>
                <a:lnTo>
                  <a:pt x="480135" y="411543"/>
                </a:lnTo>
                <a:cubicBezTo>
                  <a:pt x="480135" y="449425"/>
                  <a:pt x="449425" y="480135"/>
                  <a:pt x="411543" y="480135"/>
                </a:cubicBezTo>
                <a:lnTo>
                  <a:pt x="68592" y="480135"/>
                </a:lnTo>
                <a:cubicBezTo>
                  <a:pt x="30710" y="480135"/>
                  <a:pt x="0" y="449425"/>
                  <a:pt x="0" y="411543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671332" y="1584444"/>
            <a:ext cx="180051" cy="205772"/>
          </a:xfrm>
          <a:custGeom>
            <a:avLst/>
            <a:gdLst/>
            <a:ahLst/>
            <a:cxnLst/>
            <a:rect l="l" t="t" r="r" b="b"/>
            <a:pathLst>
              <a:path w="180051" h="205772">
                <a:moveTo>
                  <a:pt x="25722" y="12861"/>
                </a:moveTo>
                <a:cubicBezTo>
                  <a:pt x="11534" y="12861"/>
                  <a:pt x="0" y="24395"/>
                  <a:pt x="0" y="38582"/>
                </a:cubicBezTo>
                <a:lnTo>
                  <a:pt x="0" y="64304"/>
                </a:lnTo>
                <a:cubicBezTo>
                  <a:pt x="0" y="78491"/>
                  <a:pt x="11534" y="90025"/>
                  <a:pt x="25722" y="90025"/>
                </a:cubicBezTo>
                <a:lnTo>
                  <a:pt x="154329" y="90025"/>
                </a:lnTo>
                <a:cubicBezTo>
                  <a:pt x="168516" y="90025"/>
                  <a:pt x="180051" y="78491"/>
                  <a:pt x="180051" y="64304"/>
                </a:cubicBezTo>
                <a:lnTo>
                  <a:pt x="180051" y="38582"/>
                </a:lnTo>
                <a:cubicBezTo>
                  <a:pt x="180051" y="24395"/>
                  <a:pt x="168516" y="12861"/>
                  <a:pt x="154329" y="12861"/>
                </a:cubicBezTo>
                <a:lnTo>
                  <a:pt x="25722" y="12861"/>
                </a:lnTo>
                <a:close/>
                <a:moveTo>
                  <a:pt x="112532" y="41797"/>
                </a:moveTo>
                <a:cubicBezTo>
                  <a:pt x="117855" y="41797"/>
                  <a:pt x="122177" y="46120"/>
                  <a:pt x="122177" y="51443"/>
                </a:cubicBezTo>
                <a:cubicBezTo>
                  <a:pt x="122177" y="56767"/>
                  <a:pt x="117855" y="61089"/>
                  <a:pt x="112532" y="61089"/>
                </a:cubicBezTo>
                <a:cubicBezTo>
                  <a:pt x="107208" y="61089"/>
                  <a:pt x="102886" y="56767"/>
                  <a:pt x="102886" y="51443"/>
                </a:cubicBezTo>
                <a:cubicBezTo>
                  <a:pt x="102886" y="46120"/>
                  <a:pt x="107208" y="41797"/>
                  <a:pt x="112532" y="41797"/>
                </a:cubicBezTo>
                <a:close/>
                <a:moveTo>
                  <a:pt x="135038" y="51443"/>
                </a:moveTo>
                <a:cubicBezTo>
                  <a:pt x="135038" y="46120"/>
                  <a:pt x="139360" y="41797"/>
                  <a:pt x="144684" y="41797"/>
                </a:cubicBezTo>
                <a:cubicBezTo>
                  <a:pt x="150007" y="41797"/>
                  <a:pt x="154329" y="46120"/>
                  <a:pt x="154329" y="51443"/>
                </a:cubicBezTo>
                <a:cubicBezTo>
                  <a:pt x="154329" y="56767"/>
                  <a:pt x="150007" y="61089"/>
                  <a:pt x="144684" y="61089"/>
                </a:cubicBezTo>
                <a:cubicBezTo>
                  <a:pt x="139360" y="61089"/>
                  <a:pt x="135038" y="56767"/>
                  <a:pt x="135038" y="51443"/>
                </a:cubicBezTo>
                <a:close/>
                <a:moveTo>
                  <a:pt x="25722" y="115747"/>
                </a:moveTo>
                <a:cubicBezTo>
                  <a:pt x="11534" y="115747"/>
                  <a:pt x="0" y="127281"/>
                  <a:pt x="0" y="141468"/>
                </a:cubicBezTo>
                <a:lnTo>
                  <a:pt x="0" y="167190"/>
                </a:lnTo>
                <a:cubicBezTo>
                  <a:pt x="0" y="181377"/>
                  <a:pt x="11534" y="192911"/>
                  <a:pt x="25722" y="192911"/>
                </a:cubicBezTo>
                <a:lnTo>
                  <a:pt x="154329" y="192911"/>
                </a:lnTo>
                <a:cubicBezTo>
                  <a:pt x="168516" y="192911"/>
                  <a:pt x="180051" y="181377"/>
                  <a:pt x="180051" y="167190"/>
                </a:cubicBezTo>
                <a:lnTo>
                  <a:pt x="180051" y="141468"/>
                </a:lnTo>
                <a:cubicBezTo>
                  <a:pt x="180051" y="127281"/>
                  <a:pt x="168516" y="115747"/>
                  <a:pt x="154329" y="115747"/>
                </a:cubicBezTo>
                <a:lnTo>
                  <a:pt x="25722" y="115747"/>
                </a:lnTo>
                <a:close/>
                <a:moveTo>
                  <a:pt x="112532" y="144684"/>
                </a:moveTo>
                <a:cubicBezTo>
                  <a:pt x="117855" y="144684"/>
                  <a:pt x="122177" y="149006"/>
                  <a:pt x="122177" y="154329"/>
                </a:cubicBezTo>
                <a:cubicBezTo>
                  <a:pt x="122177" y="159653"/>
                  <a:pt x="117855" y="163975"/>
                  <a:pt x="112532" y="163975"/>
                </a:cubicBezTo>
                <a:cubicBezTo>
                  <a:pt x="107208" y="163975"/>
                  <a:pt x="102886" y="159653"/>
                  <a:pt x="102886" y="154329"/>
                </a:cubicBezTo>
                <a:cubicBezTo>
                  <a:pt x="102886" y="149006"/>
                  <a:pt x="107208" y="144684"/>
                  <a:pt x="112532" y="144684"/>
                </a:cubicBezTo>
                <a:close/>
                <a:moveTo>
                  <a:pt x="135038" y="154329"/>
                </a:moveTo>
                <a:cubicBezTo>
                  <a:pt x="135038" y="149006"/>
                  <a:pt x="139360" y="144684"/>
                  <a:pt x="144684" y="144684"/>
                </a:cubicBezTo>
                <a:cubicBezTo>
                  <a:pt x="150007" y="144684"/>
                  <a:pt x="154329" y="149006"/>
                  <a:pt x="154329" y="154329"/>
                </a:cubicBezTo>
                <a:cubicBezTo>
                  <a:pt x="154329" y="159653"/>
                  <a:pt x="150007" y="163975"/>
                  <a:pt x="144684" y="163975"/>
                </a:cubicBezTo>
                <a:cubicBezTo>
                  <a:pt x="139360" y="163975"/>
                  <a:pt x="135038" y="159653"/>
                  <a:pt x="135038" y="154329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1104311" y="1550149"/>
            <a:ext cx="917401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4719" y="2256633"/>
            <a:ext cx="3359230" cy="1944547"/>
          </a:xfrm>
          <a:custGeom>
            <a:avLst/>
            <a:gdLst/>
            <a:ahLst/>
            <a:cxnLst/>
            <a:rect l="l" t="t" r="r" b="b"/>
            <a:pathLst>
              <a:path w="3359230" h="1944547">
                <a:moveTo>
                  <a:pt x="68584" y="0"/>
                </a:moveTo>
                <a:lnTo>
                  <a:pt x="3290646" y="0"/>
                </a:lnTo>
                <a:cubicBezTo>
                  <a:pt x="3328524" y="0"/>
                  <a:pt x="3359230" y="30706"/>
                  <a:pt x="3359230" y="68584"/>
                </a:cubicBezTo>
                <a:lnTo>
                  <a:pt x="3359230" y="1875963"/>
                </a:lnTo>
                <a:cubicBezTo>
                  <a:pt x="3359230" y="1913841"/>
                  <a:pt x="3328524" y="1944547"/>
                  <a:pt x="3290646" y="1944547"/>
                </a:cubicBezTo>
                <a:lnTo>
                  <a:pt x="68584" y="1944547"/>
                </a:lnTo>
                <a:cubicBezTo>
                  <a:pt x="30706" y="1944547"/>
                  <a:pt x="0" y="1913841"/>
                  <a:pt x="0" y="1875963"/>
                </a:cubicBezTo>
                <a:lnTo>
                  <a:pt x="0" y="68584"/>
                </a:lnTo>
                <a:cubicBezTo>
                  <a:pt x="0" y="30732"/>
                  <a:pt x="30732" y="0"/>
                  <a:pt x="68584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Shape 7"/>
          <p:cNvSpPr/>
          <p:nvPr/>
        </p:nvSpPr>
        <p:spPr>
          <a:xfrm>
            <a:off x="715701" y="2397251"/>
            <a:ext cx="225063" cy="257215"/>
          </a:xfrm>
          <a:custGeom>
            <a:avLst/>
            <a:gdLst/>
            <a:ahLst/>
            <a:cxnLst/>
            <a:rect l="l" t="t" r="r" b="b"/>
            <a:pathLst>
              <a:path w="225063" h="257215">
                <a:moveTo>
                  <a:pt x="220944" y="100726"/>
                </a:moveTo>
                <a:cubicBezTo>
                  <a:pt x="217076" y="85203"/>
                  <a:pt x="209741" y="73497"/>
                  <a:pt x="194117" y="73497"/>
                </a:cubicBezTo>
                <a:lnTo>
                  <a:pt x="173972" y="73497"/>
                </a:lnTo>
                <a:lnTo>
                  <a:pt x="173972" y="97310"/>
                </a:lnTo>
                <a:cubicBezTo>
                  <a:pt x="173972" y="115797"/>
                  <a:pt x="158298" y="131371"/>
                  <a:pt x="140413" y="131371"/>
                </a:cubicBezTo>
                <a:lnTo>
                  <a:pt x="86760" y="131371"/>
                </a:lnTo>
                <a:cubicBezTo>
                  <a:pt x="72091" y="131371"/>
                  <a:pt x="59933" y="143930"/>
                  <a:pt x="59933" y="158650"/>
                </a:cubicBezTo>
                <a:lnTo>
                  <a:pt x="59933" y="209791"/>
                </a:lnTo>
                <a:cubicBezTo>
                  <a:pt x="59933" y="224360"/>
                  <a:pt x="72593" y="232900"/>
                  <a:pt x="86760" y="237070"/>
                </a:cubicBezTo>
                <a:cubicBezTo>
                  <a:pt x="103740" y="242044"/>
                  <a:pt x="120067" y="242948"/>
                  <a:pt x="140413" y="237070"/>
                </a:cubicBezTo>
                <a:cubicBezTo>
                  <a:pt x="153927" y="233152"/>
                  <a:pt x="167240" y="225264"/>
                  <a:pt x="167240" y="209791"/>
                </a:cubicBezTo>
                <a:lnTo>
                  <a:pt x="167240" y="189345"/>
                </a:lnTo>
                <a:lnTo>
                  <a:pt x="113637" y="189345"/>
                </a:lnTo>
                <a:lnTo>
                  <a:pt x="113637" y="182512"/>
                </a:lnTo>
                <a:lnTo>
                  <a:pt x="194117" y="182512"/>
                </a:lnTo>
                <a:cubicBezTo>
                  <a:pt x="209741" y="182512"/>
                  <a:pt x="215518" y="171611"/>
                  <a:pt x="220944" y="155284"/>
                </a:cubicBezTo>
                <a:cubicBezTo>
                  <a:pt x="226570" y="138454"/>
                  <a:pt x="226319" y="122278"/>
                  <a:pt x="220944" y="100726"/>
                </a:cubicBezTo>
                <a:close/>
                <a:moveTo>
                  <a:pt x="143779" y="223405"/>
                </a:moveTo>
                <a:cubicBezTo>
                  <a:pt x="139956" y="223674"/>
                  <a:pt x="136302" y="221786"/>
                  <a:pt x="134309" y="218512"/>
                </a:cubicBezTo>
                <a:cubicBezTo>
                  <a:pt x="132315" y="215238"/>
                  <a:pt x="132315" y="211126"/>
                  <a:pt x="134309" y="207852"/>
                </a:cubicBezTo>
                <a:cubicBezTo>
                  <a:pt x="136302" y="204578"/>
                  <a:pt x="139956" y="202691"/>
                  <a:pt x="143779" y="202959"/>
                </a:cubicBezTo>
                <a:cubicBezTo>
                  <a:pt x="147603" y="202691"/>
                  <a:pt x="151256" y="204578"/>
                  <a:pt x="153250" y="207852"/>
                </a:cubicBezTo>
                <a:cubicBezTo>
                  <a:pt x="155243" y="211126"/>
                  <a:pt x="155243" y="215238"/>
                  <a:pt x="153250" y="218512"/>
                </a:cubicBezTo>
                <a:cubicBezTo>
                  <a:pt x="151256" y="221786"/>
                  <a:pt x="147603" y="223674"/>
                  <a:pt x="143779" y="223405"/>
                </a:cubicBezTo>
                <a:close/>
                <a:moveTo>
                  <a:pt x="84298" y="124639"/>
                </a:moveTo>
                <a:lnTo>
                  <a:pt x="137952" y="124639"/>
                </a:lnTo>
                <a:cubicBezTo>
                  <a:pt x="152872" y="124639"/>
                  <a:pt x="164778" y="112331"/>
                  <a:pt x="164778" y="97360"/>
                </a:cubicBezTo>
                <a:lnTo>
                  <a:pt x="164778" y="46168"/>
                </a:lnTo>
                <a:cubicBezTo>
                  <a:pt x="164778" y="31599"/>
                  <a:pt x="152521" y="20698"/>
                  <a:pt x="137952" y="18236"/>
                </a:cubicBezTo>
                <a:cubicBezTo>
                  <a:pt x="119967" y="15272"/>
                  <a:pt x="100424" y="15423"/>
                  <a:pt x="84298" y="18286"/>
                </a:cubicBezTo>
                <a:cubicBezTo>
                  <a:pt x="61591" y="22305"/>
                  <a:pt x="57472" y="30695"/>
                  <a:pt x="57472" y="46218"/>
                </a:cubicBezTo>
                <a:lnTo>
                  <a:pt x="57472" y="66665"/>
                </a:lnTo>
                <a:lnTo>
                  <a:pt x="111175" y="66665"/>
                </a:lnTo>
                <a:lnTo>
                  <a:pt x="111175" y="73497"/>
                </a:lnTo>
                <a:lnTo>
                  <a:pt x="37326" y="73497"/>
                </a:lnTo>
                <a:cubicBezTo>
                  <a:pt x="21703" y="73497"/>
                  <a:pt x="8038" y="82892"/>
                  <a:pt x="3768" y="100726"/>
                </a:cubicBezTo>
                <a:cubicBezTo>
                  <a:pt x="-1155" y="121172"/>
                  <a:pt x="-1356" y="133933"/>
                  <a:pt x="3768" y="155284"/>
                </a:cubicBezTo>
                <a:cubicBezTo>
                  <a:pt x="7586" y="171159"/>
                  <a:pt x="16679" y="182512"/>
                  <a:pt x="32303" y="182512"/>
                </a:cubicBezTo>
                <a:lnTo>
                  <a:pt x="50740" y="182512"/>
                </a:lnTo>
                <a:lnTo>
                  <a:pt x="50740" y="157996"/>
                </a:lnTo>
                <a:cubicBezTo>
                  <a:pt x="50740" y="140263"/>
                  <a:pt x="66062" y="124639"/>
                  <a:pt x="84298" y="124639"/>
                </a:cubicBezTo>
                <a:close/>
                <a:moveTo>
                  <a:pt x="80983" y="32504"/>
                </a:moveTo>
                <a:cubicBezTo>
                  <a:pt x="86639" y="32504"/>
                  <a:pt x="91231" y="37096"/>
                  <a:pt x="91231" y="42752"/>
                </a:cubicBezTo>
                <a:cubicBezTo>
                  <a:pt x="91231" y="48408"/>
                  <a:pt x="86639" y="53000"/>
                  <a:pt x="80983" y="53000"/>
                </a:cubicBezTo>
                <a:cubicBezTo>
                  <a:pt x="75326" y="53000"/>
                  <a:pt x="70734" y="48408"/>
                  <a:pt x="70734" y="42752"/>
                </a:cubicBezTo>
                <a:cubicBezTo>
                  <a:pt x="70734" y="37096"/>
                  <a:pt x="75326" y="32504"/>
                  <a:pt x="80983" y="32504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0" name="Text 8"/>
          <p:cNvSpPr/>
          <p:nvPr/>
        </p:nvSpPr>
        <p:spPr>
          <a:xfrm>
            <a:off x="1089735" y="2405824"/>
            <a:ext cx="1080304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Flask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5330" y="2757352"/>
            <a:ext cx="3146599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Framework web léger et flexible pour la logique métier.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1051" y="3340373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116497" y="18782"/>
                </a:moveTo>
                <a:cubicBezTo>
                  <a:pt x="120328" y="21569"/>
                  <a:pt x="121186" y="26927"/>
                  <a:pt x="118399" y="30759"/>
                </a:cubicBezTo>
                <a:lnTo>
                  <a:pt x="49809" y="125071"/>
                </a:lnTo>
                <a:cubicBezTo>
                  <a:pt x="48335" y="127107"/>
                  <a:pt x="46058" y="128366"/>
                  <a:pt x="43539" y="128581"/>
                </a:cubicBezTo>
                <a:cubicBezTo>
                  <a:pt x="41020" y="128795"/>
                  <a:pt x="38582" y="127857"/>
                  <a:pt x="36814" y="126089"/>
                </a:cubicBezTo>
                <a:lnTo>
                  <a:pt x="2519" y="91794"/>
                </a:lnTo>
                <a:cubicBezTo>
                  <a:pt x="-831" y="88445"/>
                  <a:pt x="-831" y="83005"/>
                  <a:pt x="2519" y="79656"/>
                </a:cubicBezTo>
                <a:cubicBezTo>
                  <a:pt x="5868" y="76307"/>
                  <a:pt x="11307" y="76307"/>
                  <a:pt x="14656" y="79656"/>
                </a:cubicBezTo>
                <a:lnTo>
                  <a:pt x="41851" y="106851"/>
                </a:lnTo>
                <a:lnTo>
                  <a:pt x="104547" y="20658"/>
                </a:lnTo>
                <a:cubicBezTo>
                  <a:pt x="107334" y="16826"/>
                  <a:pt x="112692" y="15969"/>
                  <a:pt x="116524" y="18755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883113" y="3306078"/>
            <a:ext cx="29288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Chargement du modèle </a:t>
            </a:r>
            <a:r>
              <a:rPr lang="en-US" sz="1080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.pkl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1051" y="3614736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116497" y="18782"/>
                </a:moveTo>
                <a:cubicBezTo>
                  <a:pt x="120328" y="21569"/>
                  <a:pt x="121186" y="26927"/>
                  <a:pt x="118399" y="30759"/>
                </a:cubicBezTo>
                <a:lnTo>
                  <a:pt x="49809" y="125071"/>
                </a:lnTo>
                <a:cubicBezTo>
                  <a:pt x="48335" y="127107"/>
                  <a:pt x="46058" y="128366"/>
                  <a:pt x="43539" y="128581"/>
                </a:cubicBezTo>
                <a:cubicBezTo>
                  <a:pt x="41020" y="128795"/>
                  <a:pt x="38582" y="127857"/>
                  <a:pt x="36814" y="126089"/>
                </a:cubicBezTo>
                <a:lnTo>
                  <a:pt x="2519" y="91794"/>
                </a:lnTo>
                <a:cubicBezTo>
                  <a:pt x="-831" y="88445"/>
                  <a:pt x="-831" y="83005"/>
                  <a:pt x="2519" y="79656"/>
                </a:cubicBezTo>
                <a:cubicBezTo>
                  <a:pt x="5868" y="76307"/>
                  <a:pt x="11307" y="76307"/>
                  <a:pt x="14656" y="79656"/>
                </a:cubicBezTo>
                <a:lnTo>
                  <a:pt x="41851" y="106851"/>
                </a:lnTo>
                <a:lnTo>
                  <a:pt x="104547" y="20658"/>
                </a:lnTo>
                <a:cubicBezTo>
                  <a:pt x="107334" y="16826"/>
                  <a:pt x="112692" y="15969"/>
                  <a:pt x="116524" y="18755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883113" y="3580440"/>
            <a:ext cx="29288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REST pour les prédictions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1051" y="3889099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116497" y="18782"/>
                </a:moveTo>
                <a:cubicBezTo>
                  <a:pt x="120328" y="21569"/>
                  <a:pt x="121186" y="26927"/>
                  <a:pt x="118399" y="30759"/>
                </a:cubicBezTo>
                <a:lnTo>
                  <a:pt x="49809" y="125071"/>
                </a:lnTo>
                <a:cubicBezTo>
                  <a:pt x="48335" y="127107"/>
                  <a:pt x="46058" y="128366"/>
                  <a:pt x="43539" y="128581"/>
                </a:cubicBezTo>
                <a:cubicBezTo>
                  <a:pt x="41020" y="128795"/>
                  <a:pt x="38582" y="127857"/>
                  <a:pt x="36814" y="126089"/>
                </a:cubicBezTo>
                <a:lnTo>
                  <a:pt x="2519" y="91794"/>
                </a:lnTo>
                <a:cubicBezTo>
                  <a:pt x="-831" y="88445"/>
                  <a:pt x="-831" y="83005"/>
                  <a:pt x="2519" y="79656"/>
                </a:cubicBezTo>
                <a:cubicBezTo>
                  <a:pt x="5868" y="76307"/>
                  <a:pt x="11307" y="76307"/>
                  <a:pt x="14656" y="79656"/>
                </a:cubicBezTo>
                <a:lnTo>
                  <a:pt x="41851" y="106851"/>
                </a:lnTo>
                <a:lnTo>
                  <a:pt x="104547" y="20658"/>
                </a:lnTo>
                <a:cubicBezTo>
                  <a:pt x="107334" y="16826"/>
                  <a:pt x="112692" y="15969"/>
                  <a:pt x="116524" y="18755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883113" y="3854803"/>
            <a:ext cx="29288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Gestion des sessions utilisateurs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4719" y="4310930"/>
            <a:ext cx="3359230" cy="761357"/>
          </a:xfrm>
          <a:custGeom>
            <a:avLst/>
            <a:gdLst/>
            <a:ahLst/>
            <a:cxnLst/>
            <a:rect l="l" t="t" r="r" b="b"/>
            <a:pathLst>
              <a:path w="3359230" h="761357">
                <a:moveTo>
                  <a:pt x="68591" y="0"/>
                </a:moveTo>
                <a:lnTo>
                  <a:pt x="3290640" y="0"/>
                </a:lnTo>
                <a:cubicBezTo>
                  <a:pt x="3328521" y="0"/>
                  <a:pt x="3359230" y="30709"/>
                  <a:pt x="3359230" y="68591"/>
                </a:cubicBezTo>
                <a:lnTo>
                  <a:pt x="3359230" y="692766"/>
                </a:lnTo>
                <a:cubicBezTo>
                  <a:pt x="3359230" y="730648"/>
                  <a:pt x="3328521" y="761357"/>
                  <a:pt x="3290640" y="761357"/>
                </a:cubicBezTo>
                <a:lnTo>
                  <a:pt x="68591" y="761357"/>
                </a:lnTo>
                <a:cubicBezTo>
                  <a:pt x="30709" y="761357"/>
                  <a:pt x="0" y="730648"/>
                  <a:pt x="0" y="692766"/>
                </a:cubicBezTo>
                <a:lnTo>
                  <a:pt x="0" y="68591"/>
                </a:lnTo>
                <a:cubicBezTo>
                  <a:pt x="0" y="30734"/>
                  <a:pt x="30734" y="0"/>
                  <a:pt x="6859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631035" y="4417244"/>
            <a:ext cx="321519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Routes principales 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1035" y="4691607"/>
            <a:ext cx="634464" cy="274363"/>
          </a:xfrm>
          <a:custGeom>
            <a:avLst/>
            <a:gdLst/>
            <a:ahLst/>
            <a:cxnLst/>
            <a:rect l="l" t="t" r="r" b="b"/>
            <a:pathLst>
              <a:path w="634464" h="274363">
                <a:moveTo>
                  <a:pt x="34295" y="0"/>
                </a:moveTo>
                <a:lnTo>
                  <a:pt x="600169" y="0"/>
                </a:lnTo>
                <a:cubicBezTo>
                  <a:pt x="619110" y="0"/>
                  <a:pt x="634464" y="15355"/>
                  <a:pt x="634464" y="34295"/>
                </a:cubicBezTo>
                <a:lnTo>
                  <a:pt x="634464" y="240068"/>
                </a:lnTo>
                <a:cubicBezTo>
                  <a:pt x="634464" y="259008"/>
                  <a:pt x="619110" y="274363"/>
                  <a:pt x="600169" y="274363"/>
                </a:cubicBezTo>
                <a:lnTo>
                  <a:pt x="34295" y="274363"/>
                </a:lnTo>
                <a:cubicBezTo>
                  <a:pt x="15367" y="274363"/>
                  <a:pt x="0" y="258996"/>
                  <a:pt x="0" y="240068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631035" y="4691607"/>
            <a:ext cx="703055" cy="274363"/>
          </a:xfrm>
          <a:prstGeom prst="rect">
            <a:avLst/>
          </a:prstGeom>
          <a:noFill/>
          <a:ln/>
        </p:spPr>
        <p:txBody>
          <a:bodyPr wrap="square" lIns="68591" tIns="34295" rIns="68591" bIns="34295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/predict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35697" y="4691607"/>
            <a:ext cx="497283" cy="274363"/>
          </a:xfrm>
          <a:custGeom>
            <a:avLst/>
            <a:gdLst/>
            <a:ahLst/>
            <a:cxnLst/>
            <a:rect l="l" t="t" r="r" b="b"/>
            <a:pathLst>
              <a:path w="497283" h="274363">
                <a:moveTo>
                  <a:pt x="34295" y="0"/>
                </a:moveTo>
                <a:lnTo>
                  <a:pt x="462987" y="0"/>
                </a:lnTo>
                <a:cubicBezTo>
                  <a:pt x="481928" y="0"/>
                  <a:pt x="497283" y="15355"/>
                  <a:pt x="497283" y="34295"/>
                </a:cubicBezTo>
                <a:lnTo>
                  <a:pt x="497283" y="240068"/>
                </a:lnTo>
                <a:cubicBezTo>
                  <a:pt x="497283" y="259008"/>
                  <a:pt x="481928" y="274363"/>
                  <a:pt x="462987" y="274363"/>
                </a:cubicBezTo>
                <a:lnTo>
                  <a:pt x="34295" y="274363"/>
                </a:lnTo>
                <a:cubicBezTo>
                  <a:pt x="15367" y="274363"/>
                  <a:pt x="0" y="258996"/>
                  <a:pt x="0" y="240068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1"/>
          <p:cNvSpPr/>
          <p:nvPr/>
        </p:nvSpPr>
        <p:spPr>
          <a:xfrm>
            <a:off x="1335697" y="4691607"/>
            <a:ext cx="565873" cy="274363"/>
          </a:xfrm>
          <a:prstGeom prst="rect">
            <a:avLst/>
          </a:prstGeom>
          <a:noFill/>
          <a:ln/>
        </p:spPr>
        <p:txBody>
          <a:bodyPr wrap="square" lIns="68591" tIns="34295" rIns="68591" bIns="34295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/login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901571" y="4691607"/>
            <a:ext cx="617316" cy="274363"/>
          </a:xfrm>
          <a:custGeom>
            <a:avLst/>
            <a:gdLst/>
            <a:ahLst/>
            <a:cxnLst/>
            <a:rect l="l" t="t" r="r" b="b"/>
            <a:pathLst>
              <a:path w="617316" h="274363">
                <a:moveTo>
                  <a:pt x="34295" y="0"/>
                </a:moveTo>
                <a:lnTo>
                  <a:pt x="583021" y="0"/>
                </a:lnTo>
                <a:cubicBezTo>
                  <a:pt x="601962" y="0"/>
                  <a:pt x="617316" y="15355"/>
                  <a:pt x="617316" y="34295"/>
                </a:cubicBezTo>
                <a:lnTo>
                  <a:pt x="617316" y="240068"/>
                </a:lnTo>
                <a:cubicBezTo>
                  <a:pt x="617316" y="259008"/>
                  <a:pt x="601962" y="274363"/>
                  <a:pt x="583021" y="274363"/>
                </a:cubicBezTo>
                <a:lnTo>
                  <a:pt x="34295" y="274363"/>
                </a:lnTo>
                <a:cubicBezTo>
                  <a:pt x="15367" y="274363"/>
                  <a:pt x="0" y="258996"/>
                  <a:pt x="0" y="240068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Text 23"/>
          <p:cNvSpPr/>
          <p:nvPr/>
        </p:nvSpPr>
        <p:spPr>
          <a:xfrm>
            <a:off x="1901571" y="4691607"/>
            <a:ext cx="685907" cy="274363"/>
          </a:xfrm>
          <a:prstGeom prst="rect">
            <a:avLst/>
          </a:prstGeom>
          <a:noFill/>
          <a:ln/>
        </p:spPr>
        <p:txBody>
          <a:bodyPr wrap="square" lIns="68591" tIns="34295" rIns="68591" bIns="34295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/history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39442" y="1272358"/>
            <a:ext cx="3710758" cy="4165171"/>
          </a:xfrm>
          <a:custGeom>
            <a:avLst/>
            <a:gdLst/>
            <a:ahLst/>
            <a:cxnLst/>
            <a:rect l="l" t="t" r="r" b="b"/>
            <a:pathLst>
              <a:path w="3710758" h="4165171">
                <a:moveTo>
                  <a:pt x="102899" y="0"/>
                </a:moveTo>
                <a:lnTo>
                  <a:pt x="3607858" y="0"/>
                </a:lnTo>
                <a:cubicBezTo>
                  <a:pt x="3664688" y="0"/>
                  <a:pt x="3710758" y="46070"/>
                  <a:pt x="3710758" y="102899"/>
                </a:cubicBezTo>
                <a:lnTo>
                  <a:pt x="3710758" y="4062272"/>
                </a:lnTo>
                <a:cubicBezTo>
                  <a:pt x="3710758" y="4119102"/>
                  <a:pt x="3664688" y="4165171"/>
                  <a:pt x="3607858" y="4165171"/>
                </a:cubicBezTo>
                <a:lnTo>
                  <a:pt x="102899" y="4165171"/>
                </a:lnTo>
                <a:cubicBezTo>
                  <a:pt x="46070" y="4165171"/>
                  <a:pt x="0" y="4119102"/>
                  <a:pt x="0" y="4062272"/>
                </a:cubicBezTo>
                <a:lnTo>
                  <a:pt x="0" y="102899"/>
                </a:lnTo>
                <a:cubicBezTo>
                  <a:pt x="0" y="46108"/>
                  <a:pt x="46108" y="0"/>
                  <a:pt x="10289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7" name="Shape 25"/>
          <p:cNvSpPr/>
          <p:nvPr/>
        </p:nvSpPr>
        <p:spPr>
          <a:xfrm>
            <a:off x="4414348" y="1447262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68592" y="0"/>
                </a:moveTo>
                <a:lnTo>
                  <a:pt x="411543" y="0"/>
                </a:lnTo>
                <a:cubicBezTo>
                  <a:pt x="449425" y="0"/>
                  <a:pt x="480135" y="30710"/>
                  <a:pt x="480135" y="68592"/>
                </a:cubicBezTo>
                <a:lnTo>
                  <a:pt x="480135" y="411543"/>
                </a:lnTo>
                <a:cubicBezTo>
                  <a:pt x="480135" y="449425"/>
                  <a:pt x="449425" y="480135"/>
                  <a:pt x="411543" y="480135"/>
                </a:cubicBezTo>
                <a:lnTo>
                  <a:pt x="68592" y="480135"/>
                </a:lnTo>
                <a:cubicBezTo>
                  <a:pt x="30710" y="480135"/>
                  <a:pt x="0" y="449425"/>
                  <a:pt x="0" y="411543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8" name="Shape 26"/>
          <p:cNvSpPr/>
          <p:nvPr/>
        </p:nvSpPr>
        <p:spPr>
          <a:xfrm>
            <a:off x="4564391" y="1584444"/>
            <a:ext cx="180051" cy="205772"/>
          </a:xfrm>
          <a:custGeom>
            <a:avLst/>
            <a:gdLst/>
            <a:ahLst/>
            <a:cxnLst/>
            <a:rect l="l" t="t" r="r" b="b"/>
            <a:pathLst>
              <a:path w="180051" h="205772">
                <a:moveTo>
                  <a:pt x="180051" y="82711"/>
                </a:moveTo>
                <a:cubicBezTo>
                  <a:pt x="174103" y="86649"/>
                  <a:pt x="167270" y="89824"/>
                  <a:pt x="160157" y="92356"/>
                </a:cubicBezTo>
                <a:cubicBezTo>
                  <a:pt x="141267" y="99108"/>
                  <a:pt x="116470" y="102886"/>
                  <a:pt x="90025" y="102886"/>
                </a:cubicBezTo>
                <a:cubicBezTo>
                  <a:pt x="63580" y="102886"/>
                  <a:pt x="38743" y="99068"/>
                  <a:pt x="19894" y="92356"/>
                </a:cubicBezTo>
                <a:cubicBezTo>
                  <a:pt x="12821" y="89824"/>
                  <a:pt x="5948" y="86649"/>
                  <a:pt x="0" y="82711"/>
                </a:cubicBezTo>
                <a:lnTo>
                  <a:pt x="0" y="115747"/>
                </a:lnTo>
                <a:cubicBezTo>
                  <a:pt x="0" y="133511"/>
                  <a:pt x="40310" y="147899"/>
                  <a:pt x="90025" y="147899"/>
                </a:cubicBezTo>
                <a:cubicBezTo>
                  <a:pt x="139740" y="147899"/>
                  <a:pt x="180051" y="133511"/>
                  <a:pt x="180051" y="115747"/>
                </a:cubicBezTo>
                <a:lnTo>
                  <a:pt x="180051" y="82711"/>
                </a:lnTo>
                <a:close/>
                <a:moveTo>
                  <a:pt x="180051" y="51443"/>
                </a:moveTo>
                <a:lnTo>
                  <a:pt x="180051" y="32152"/>
                </a:lnTo>
                <a:cubicBezTo>
                  <a:pt x="180051" y="14388"/>
                  <a:pt x="139740" y="0"/>
                  <a:pt x="90025" y="0"/>
                </a:cubicBezTo>
                <a:cubicBezTo>
                  <a:pt x="40310" y="0"/>
                  <a:pt x="0" y="14388"/>
                  <a:pt x="0" y="32152"/>
                </a:cubicBezTo>
                <a:lnTo>
                  <a:pt x="0" y="51443"/>
                </a:lnTo>
                <a:cubicBezTo>
                  <a:pt x="0" y="69207"/>
                  <a:pt x="40310" y="83595"/>
                  <a:pt x="90025" y="83595"/>
                </a:cubicBezTo>
                <a:cubicBezTo>
                  <a:pt x="139740" y="83595"/>
                  <a:pt x="180051" y="69207"/>
                  <a:pt x="180051" y="51443"/>
                </a:cubicBezTo>
                <a:close/>
                <a:moveTo>
                  <a:pt x="160157" y="156660"/>
                </a:moveTo>
                <a:cubicBezTo>
                  <a:pt x="141308" y="163372"/>
                  <a:pt x="116510" y="167190"/>
                  <a:pt x="90025" y="167190"/>
                </a:cubicBezTo>
                <a:cubicBezTo>
                  <a:pt x="63540" y="167190"/>
                  <a:pt x="38743" y="163372"/>
                  <a:pt x="19894" y="156660"/>
                </a:cubicBezTo>
                <a:cubicBezTo>
                  <a:pt x="12821" y="154128"/>
                  <a:pt x="5948" y="150953"/>
                  <a:pt x="0" y="147015"/>
                </a:cubicBezTo>
                <a:lnTo>
                  <a:pt x="0" y="173620"/>
                </a:lnTo>
                <a:cubicBezTo>
                  <a:pt x="0" y="191384"/>
                  <a:pt x="40310" y="205772"/>
                  <a:pt x="90025" y="205772"/>
                </a:cubicBezTo>
                <a:cubicBezTo>
                  <a:pt x="139740" y="205772"/>
                  <a:pt x="180051" y="191384"/>
                  <a:pt x="180051" y="173620"/>
                </a:cubicBezTo>
                <a:lnTo>
                  <a:pt x="180051" y="147015"/>
                </a:lnTo>
                <a:cubicBezTo>
                  <a:pt x="174103" y="150953"/>
                  <a:pt x="167270" y="154128"/>
                  <a:pt x="160157" y="15666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9" name="Text 27"/>
          <p:cNvSpPr/>
          <p:nvPr/>
        </p:nvSpPr>
        <p:spPr>
          <a:xfrm>
            <a:off x="4997370" y="1550149"/>
            <a:ext cx="1749063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de Données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17778" y="2068008"/>
            <a:ext cx="3359230" cy="1944547"/>
          </a:xfrm>
          <a:custGeom>
            <a:avLst/>
            <a:gdLst/>
            <a:ahLst/>
            <a:cxnLst/>
            <a:rect l="l" t="t" r="r" b="b"/>
            <a:pathLst>
              <a:path w="3359230" h="1944547">
                <a:moveTo>
                  <a:pt x="68584" y="0"/>
                </a:moveTo>
                <a:lnTo>
                  <a:pt x="3290646" y="0"/>
                </a:lnTo>
                <a:cubicBezTo>
                  <a:pt x="3328524" y="0"/>
                  <a:pt x="3359230" y="30706"/>
                  <a:pt x="3359230" y="68584"/>
                </a:cubicBezTo>
                <a:lnTo>
                  <a:pt x="3359230" y="1875963"/>
                </a:lnTo>
                <a:cubicBezTo>
                  <a:pt x="3359230" y="1913841"/>
                  <a:pt x="3328524" y="1944547"/>
                  <a:pt x="3290646" y="1944547"/>
                </a:cubicBezTo>
                <a:lnTo>
                  <a:pt x="68584" y="1944547"/>
                </a:lnTo>
                <a:cubicBezTo>
                  <a:pt x="30706" y="1944547"/>
                  <a:pt x="0" y="1913841"/>
                  <a:pt x="0" y="1875963"/>
                </a:cubicBezTo>
                <a:lnTo>
                  <a:pt x="0" y="68584"/>
                </a:lnTo>
                <a:cubicBezTo>
                  <a:pt x="0" y="30732"/>
                  <a:pt x="30732" y="0"/>
                  <a:pt x="68584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1" name="Shape 29"/>
          <p:cNvSpPr/>
          <p:nvPr/>
        </p:nvSpPr>
        <p:spPr>
          <a:xfrm>
            <a:off x="4608761" y="2208626"/>
            <a:ext cx="225063" cy="257215"/>
          </a:xfrm>
          <a:custGeom>
            <a:avLst/>
            <a:gdLst/>
            <a:ahLst/>
            <a:cxnLst/>
            <a:rect l="l" t="t" r="r" b="b"/>
            <a:pathLst>
              <a:path w="225063" h="257215">
                <a:moveTo>
                  <a:pt x="225063" y="103388"/>
                </a:moveTo>
                <a:cubicBezTo>
                  <a:pt x="217628" y="108312"/>
                  <a:pt x="209088" y="112280"/>
                  <a:pt x="200196" y="115445"/>
                </a:cubicBezTo>
                <a:cubicBezTo>
                  <a:pt x="176584" y="123885"/>
                  <a:pt x="145588" y="128608"/>
                  <a:pt x="112532" y="128608"/>
                </a:cubicBezTo>
                <a:cubicBezTo>
                  <a:pt x="79475" y="128608"/>
                  <a:pt x="48429" y="123835"/>
                  <a:pt x="24867" y="115445"/>
                </a:cubicBezTo>
                <a:cubicBezTo>
                  <a:pt x="16026" y="112280"/>
                  <a:pt x="7435" y="108312"/>
                  <a:pt x="0" y="103388"/>
                </a:cubicBezTo>
                <a:lnTo>
                  <a:pt x="0" y="144684"/>
                </a:lnTo>
                <a:cubicBezTo>
                  <a:pt x="0" y="166888"/>
                  <a:pt x="50388" y="184873"/>
                  <a:pt x="112532" y="184873"/>
                </a:cubicBezTo>
                <a:cubicBezTo>
                  <a:pt x="174675" y="184873"/>
                  <a:pt x="225063" y="166888"/>
                  <a:pt x="225063" y="144684"/>
                </a:cubicBezTo>
                <a:lnTo>
                  <a:pt x="225063" y="103388"/>
                </a:lnTo>
                <a:close/>
                <a:moveTo>
                  <a:pt x="225063" y="64304"/>
                </a:moveTo>
                <a:lnTo>
                  <a:pt x="225063" y="40190"/>
                </a:lnTo>
                <a:cubicBezTo>
                  <a:pt x="225063" y="17985"/>
                  <a:pt x="174675" y="0"/>
                  <a:pt x="112532" y="0"/>
                </a:cubicBezTo>
                <a:cubicBezTo>
                  <a:pt x="50388" y="0"/>
                  <a:pt x="0" y="17985"/>
                  <a:pt x="0" y="40190"/>
                </a:cubicBezTo>
                <a:lnTo>
                  <a:pt x="0" y="64304"/>
                </a:lnTo>
                <a:cubicBezTo>
                  <a:pt x="0" y="86509"/>
                  <a:pt x="50388" y="104494"/>
                  <a:pt x="112532" y="104494"/>
                </a:cubicBezTo>
                <a:cubicBezTo>
                  <a:pt x="174675" y="104494"/>
                  <a:pt x="225063" y="86509"/>
                  <a:pt x="225063" y="64304"/>
                </a:cubicBezTo>
                <a:close/>
                <a:moveTo>
                  <a:pt x="200196" y="195825"/>
                </a:moveTo>
                <a:cubicBezTo>
                  <a:pt x="176634" y="204215"/>
                  <a:pt x="145638" y="208987"/>
                  <a:pt x="112532" y="208987"/>
                </a:cubicBezTo>
                <a:cubicBezTo>
                  <a:pt x="79425" y="208987"/>
                  <a:pt x="48429" y="204215"/>
                  <a:pt x="24867" y="195825"/>
                </a:cubicBezTo>
                <a:cubicBezTo>
                  <a:pt x="16026" y="192660"/>
                  <a:pt x="7435" y="188691"/>
                  <a:pt x="0" y="183768"/>
                </a:cubicBezTo>
                <a:lnTo>
                  <a:pt x="0" y="217025"/>
                </a:lnTo>
                <a:cubicBezTo>
                  <a:pt x="0" y="239230"/>
                  <a:pt x="50388" y="257215"/>
                  <a:pt x="112532" y="257215"/>
                </a:cubicBezTo>
                <a:cubicBezTo>
                  <a:pt x="174675" y="257215"/>
                  <a:pt x="225063" y="239230"/>
                  <a:pt x="225063" y="217025"/>
                </a:cubicBezTo>
                <a:lnTo>
                  <a:pt x="225063" y="183768"/>
                </a:lnTo>
                <a:cubicBezTo>
                  <a:pt x="217628" y="188691"/>
                  <a:pt x="209088" y="192660"/>
                  <a:pt x="200196" y="195825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2" name="Text 30"/>
          <p:cNvSpPr/>
          <p:nvPr/>
        </p:nvSpPr>
        <p:spPr>
          <a:xfrm>
            <a:off x="4982794" y="2217200"/>
            <a:ext cx="617316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58389" y="2568727"/>
            <a:ext cx="3146599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de données relationnelle légère et intégrée.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4111" y="3151748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116497" y="18782"/>
                </a:moveTo>
                <a:cubicBezTo>
                  <a:pt x="120328" y="21569"/>
                  <a:pt x="121186" y="26927"/>
                  <a:pt x="118399" y="30759"/>
                </a:cubicBezTo>
                <a:lnTo>
                  <a:pt x="49809" y="125071"/>
                </a:lnTo>
                <a:cubicBezTo>
                  <a:pt x="48335" y="127107"/>
                  <a:pt x="46058" y="128366"/>
                  <a:pt x="43539" y="128581"/>
                </a:cubicBezTo>
                <a:cubicBezTo>
                  <a:pt x="41020" y="128795"/>
                  <a:pt x="38582" y="127857"/>
                  <a:pt x="36814" y="126089"/>
                </a:cubicBezTo>
                <a:lnTo>
                  <a:pt x="2519" y="91794"/>
                </a:lnTo>
                <a:cubicBezTo>
                  <a:pt x="-831" y="88445"/>
                  <a:pt x="-831" y="83005"/>
                  <a:pt x="2519" y="79656"/>
                </a:cubicBezTo>
                <a:cubicBezTo>
                  <a:pt x="5868" y="76307"/>
                  <a:pt x="11307" y="76307"/>
                  <a:pt x="14656" y="79656"/>
                </a:cubicBezTo>
                <a:lnTo>
                  <a:pt x="41851" y="106851"/>
                </a:lnTo>
                <a:lnTo>
                  <a:pt x="104547" y="20658"/>
                </a:lnTo>
                <a:cubicBezTo>
                  <a:pt x="107334" y="16826"/>
                  <a:pt x="112692" y="15969"/>
                  <a:pt x="116524" y="18755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5" name="Text 33"/>
          <p:cNvSpPr/>
          <p:nvPr/>
        </p:nvSpPr>
        <p:spPr>
          <a:xfrm>
            <a:off x="4776172" y="3117453"/>
            <a:ext cx="29288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Gestion sécurisée des </a:t>
            </a:r>
            <a:r>
              <a:rPr lang="en-US" sz="108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utilisateurs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4111" y="3426111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116497" y="18782"/>
                </a:moveTo>
                <a:cubicBezTo>
                  <a:pt x="120328" y="21569"/>
                  <a:pt x="121186" y="26927"/>
                  <a:pt x="118399" y="30759"/>
                </a:cubicBezTo>
                <a:lnTo>
                  <a:pt x="49809" y="125071"/>
                </a:lnTo>
                <a:cubicBezTo>
                  <a:pt x="48335" y="127107"/>
                  <a:pt x="46058" y="128366"/>
                  <a:pt x="43539" y="128581"/>
                </a:cubicBezTo>
                <a:cubicBezTo>
                  <a:pt x="41020" y="128795"/>
                  <a:pt x="38582" y="127857"/>
                  <a:pt x="36814" y="126089"/>
                </a:cubicBezTo>
                <a:lnTo>
                  <a:pt x="2519" y="91794"/>
                </a:lnTo>
                <a:cubicBezTo>
                  <a:pt x="-831" y="88445"/>
                  <a:pt x="-831" y="83005"/>
                  <a:pt x="2519" y="79656"/>
                </a:cubicBezTo>
                <a:cubicBezTo>
                  <a:pt x="5868" y="76307"/>
                  <a:pt x="11307" y="76307"/>
                  <a:pt x="14656" y="79656"/>
                </a:cubicBezTo>
                <a:lnTo>
                  <a:pt x="41851" y="106851"/>
                </a:lnTo>
                <a:lnTo>
                  <a:pt x="104547" y="20658"/>
                </a:lnTo>
                <a:cubicBezTo>
                  <a:pt x="107334" y="16826"/>
                  <a:pt x="112692" y="15969"/>
                  <a:pt x="116524" y="18755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7" name="Text 35"/>
          <p:cNvSpPr/>
          <p:nvPr/>
        </p:nvSpPr>
        <p:spPr>
          <a:xfrm>
            <a:off x="4776172" y="3391816"/>
            <a:ext cx="29288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Stockage de l'</a:t>
            </a:r>
            <a:r>
              <a:rPr lang="en-US" sz="108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historique</a:t>
            </a:r>
            <a:r>
              <a:rPr lang="en-US" sz="108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des prédictions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84111" y="3700474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116497" y="18782"/>
                </a:moveTo>
                <a:cubicBezTo>
                  <a:pt x="120328" y="21569"/>
                  <a:pt x="121186" y="26927"/>
                  <a:pt x="118399" y="30759"/>
                </a:cubicBezTo>
                <a:lnTo>
                  <a:pt x="49809" y="125071"/>
                </a:lnTo>
                <a:cubicBezTo>
                  <a:pt x="48335" y="127107"/>
                  <a:pt x="46058" y="128366"/>
                  <a:pt x="43539" y="128581"/>
                </a:cubicBezTo>
                <a:cubicBezTo>
                  <a:pt x="41020" y="128795"/>
                  <a:pt x="38582" y="127857"/>
                  <a:pt x="36814" y="126089"/>
                </a:cubicBezTo>
                <a:lnTo>
                  <a:pt x="2519" y="91794"/>
                </a:lnTo>
                <a:cubicBezTo>
                  <a:pt x="-831" y="88445"/>
                  <a:pt x="-831" y="83005"/>
                  <a:pt x="2519" y="79656"/>
                </a:cubicBezTo>
                <a:cubicBezTo>
                  <a:pt x="5868" y="76307"/>
                  <a:pt x="11307" y="76307"/>
                  <a:pt x="14656" y="79656"/>
                </a:cubicBezTo>
                <a:lnTo>
                  <a:pt x="41851" y="106851"/>
                </a:lnTo>
                <a:lnTo>
                  <a:pt x="104547" y="20658"/>
                </a:lnTo>
                <a:cubicBezTo>
                  <a:pt x="107334" y="16826"/>
                  <a:pt x="112692" y="15969"/>
                  <a:pt x="116524" y="18755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9" name="Text 37"/>
          <p:cNvSpPr/>
          <p:nvPr/>
        </p:nvSpPr>
        <p:spPr>
          <a:xfrm>
            <a:off x="4776172" y="3666179"/>
            <a:ext cx="29288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Sauvegarde des </a:t>
            </a:r>
            <a:r>
              <a:rPr lang="en-US" sz="108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paramètres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17778" y="4122305"/>
            <a:ext cx="3359230" cy="1138606"/>
          </a:xfrm>
          <a:custGeom>
            <a:avLst/>
            <a:gdLst/>
            <a:ahLst/>
            <a:cxnLst/>
            <a:rect l="l" t="t" r="r" b="b"/>
            <a:pathLst>
              <a:path w="3359230" h="1138606">
                <a:moveTo>
                  <a:pt x="68590" y="0"/>
                </a:moveTo>
                <a:lnTo>
                  <a:pt x="3290641" y="0"/>
                </a:lnTo>
                <a:cubicBezTo>
                  <a:pt x="3328522" y="0"/>
                  <a:pt x="3359230" y="30709"/>
                  <a:pt x="3359230" y="68590"/>
                </a:cubicBezTo>
                <a:lnTo>
                  <a:pt x="3359230" y="1070016"/>
                </a:lnTo>
                <a:cubicBezTo>
                  <a:pt x="3359230" y="1107897"/>
                  <a:pt x="3328522" y="1138606"/>
                  <a:pt x="3290641" y="1138606"/>
                </a:cubicBezTo>
                <a:lnTo>
                  <a:pt x="68590" y="1138606"/>
                </a:lnTo>
                <a:cubicBezTo>
                  <a:pt x="30709" y="1138606"/>
                  <a:pt x="0" y="1107897"/>
                  <a:pt x="0" y="1070016"/>
                </a:cubicBezTo>
                <a:lnTo>
                  <a:pt x="0" y="68590"/>
                </a:lnTo>
                <a:cubicBezTo>
                  <a:pt x="0" y="30709"/>
                  <a:pt x="30709" y="0"/>
                  <a:pt x="6859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1" name="Text 39"/>
          <p:cNvSpPr/>
          <p:nvPr/>
        </p:nvSpPr>
        <p:spPr>
          <a:xfrm>
            <a:off x="4524094" y="4228619"/>
            <a:ext cx="321519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Tables principales :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49816" y="4537278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68591" y="42869"/>
                </a:moveTo>
                <a:lnTo>
                  <a:pt x="68591" y="68591"/>
                </a:lnTo>
                <a:lnTo>
                  <a:pt x="102886" y="68591"/>
                </a:lnTo>
                <a:lnTo>
                  <a:pt x="102886" y="42869"/>
                </a:lnTo>
                <a:lnTo>
                  <a:pt x="68591" y="42869"/>
                </a:lnTo>
                <a:close/>
                <a:moveTo>
                  <a:pt x="51443" y="42869"/>
                </a:moveTo>
                <a:lnTo>
                  <a:pt x="17148" y="42869"/>
                </a:lnTo>
                <a:lnTo>
                  <a:pt x="17148" y="68591"/>
                </a:lnTo>
                <a:lnTo>
                  <a:pt x="51443" y="68591"/>
                </a:lnTo>
                <a:lnTo>
                  <a:pt x="51443" y="42869"/>
                </a:lnTo>
                <a:close/>
                <a:moveTo>
                  <a:pt x="0" y="85738"/>
                </a:moveTo>
                <a:lnTo>
                  <a:pt x="0" y="25722"/>
                </a:lnTo>
                <a:cubicBezTo>
                  <a:pt x="0" y="16264"/>
                  <a:pt x="7690" y="8574"/>
                  <a:pt x="17148" y="8574"/>
                </a:cubicBezTo>
                <a:lnTo>
                  <a:pt x="102886" y="8574"/>
                </a:lnTo>
                <a:cubicBezTo>
                  <a:pt x="112344" y="8574"/>
                  <a:pt x="120034" y="16264"/>
                  <a:pt x="120034" y="25722"/>
                </a:cubicBezTo>
                <a:lnTo>
                  <a:pt x="120034" y="111460"/>
                </a:lnTo>
                <a:cubicBezTo>
                  <a:pt x="120034" y="120918"/>
                  <a:pt x="112344" y="128608"/>
                  <a:pt x="102886" y="128608"/>
                </a:cubicBezTo>
                <a:lnTo>
                  <a:pt x="17148" y="128608"/>
                </a:lnTo>
                <a:cubicBezTo>
                  <a:pt x="7690" y="128608"/>
                  <a:pt x="0" y="120918"/>
                  <a:pt x="0" y="111460"/>
                </a:cubicBezTo>
                <a:lnTo>
                  <a:pt x="0" y="85738"/>
                </a:lnTo>
                <a:close/>
                <a:moveTo>
                  <a:pt x="102886" y="85738"/>
                </a:moveTo>
                <a:lnTo>
                  <a:pt x="68591" y="85738"/>
                </a:lnTo>
                <a:lnTo>
                  <a:pt x="68591" y="111460"/>
                </a:lnTo>
                <a:lnTo>
                  <a:pt x="102886" y="111460"/>
                </a:lnTo>
                <a:lnTo>
                  <a:pt x="102886" y="85738"/>
                </a:lnTo>
                <a:close/>
                <a:moveTo>
                  <a:pt x="51443" y="111460"/>
                </a:moveTo>
                <a:lnTo>
                  <a:pt x="51443" y="85738"/>
                </a:lnTo>
                <a:lnTo>
                  <a:pt x="17148" y="85738"/>
                </a:lnTo>
                <a:lnTo>
                  <a:pt x="17148" y="111460"/>
                </a:lnTo>
                <a:lnTo>
                  <a:pt x="51443" y="111460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3" name="Text 41"/>
          <p:cNvSpPr/>
          <p:nvPr/>
        </p:nvSpPr>
        <p:spPr>
          <a:xfrm>
            <a:off x="4741877" y="4502982"/>
            <a:ext cx="2997407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users</a:t>
            </a:r>
            <a:r>
              <a:rPr lang="en-US" sz="108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(id, username, password_hash)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549816" y="4777345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68591" y="42869"/>
                </a:moveTo>
                <a:lnTo>
                  <a:pt x="68591" y="68591"/>
                </a:lnTo>
                <a:lnTo>
                  <a:pt x="102886" y="68591"/>
                </a:lnTo>
                <a:lnTo>
                  <a:pt x="102886" y="42869"/>
                </a:lnTo>
                <a:lnTo>
                  <a:pt x="68591" y="42869"/>
                </a:lnTo>
                <a:close/>
                <a:moveTo>
                  <a:pt x="51443" y="42869"/>
                </a:moveTo>
                <a:lnTo>
                  <a:pt x="17148" y="42869"/>
                </a:lnTo>
                <a:lnTo>
                  <a:pt x="17148" y="68591"/>
                </a:lnTo>
                <a:lnTo>
                  <a:pt x="51443" y="68591"/>
                </a:lnTo>
                <a:lnTo>
                  <a:pt x="51443" y="42869"/>
                </a:lnTo>
                <a:close/>
                <a:moveTo>
                  <a:pt x="0" y="85738"/>
                </a:moveTo>
                <a:lnTo>
                  <a:pt x="0" y="25722"/>
                </a:lnTo>
                <a:cubicBezTo>
                  <a:pt x="0" y="16264"/>
                  <a:pt x="7690" y="8574"/>
                  <a:pt x="17148" y="8574"/>
                </a:cubicBezTo>
                <a:lnTo>
                  <a:pt x="102886" y="8574"/>
                </a:lnTo>
                <a:cubicBezTo>
                  <a:pt x="112344" y="8574"/>
                  <a:pt x="120034" y="16264"/>
                  <a:pt x="120034" y="25722"/>
                </a:cubicBezTo>
                <a:lnTo>
                  <a:pt x="120034" y="111460"/>
                </a:lnTo>
                <a:cubicBezTo>
                  <a:pt x="120034" y="120918"/>
                  <a:pt x="112344" y="128608"/>
                  <a:pt x="102886" y="128608"/>
                </a:cubicBezTo>
                <a:lnTo>
                  <a:pt x="17148" y="128608"/>
                </a:lnTo>
                <a:cubicBezTo>
                  <a:pt x="7690" y="128608"/>
                  <a:pt x="0" y="120918"/>
                  <a:pt x="0" y="111460"/>
                </a:cubicBezTo>
                <a:lnTo>
                  <a:pt x="0" y="85738"/>
                </a:lnTo>
                <a:close/>
                <a:moveTo>
                  <a:pt x="102886" y="85738"/>
                </a:moveTo>
                <a:lnTo>
                  <a:pt x="68591" y="85738"/>
                </a:lnTo>
                <a:lnTo>
                  <a:pt x="68591" y="111460"/>
                </a:lnTo>
                <a:lnTo>
                  <a:pt x="102886" y="111460"/>
                </a:lnTo>
                <a:lnTo>
                  <a:pt x="102886" y="85738"/>
                </a:lnTo>
                <a:close/>
                <a:moveTo>
                  <a:pt x="51443" y="111460"/>
                </a:moveTo>
                <a:lnTo>
                  <a:pt x="51443" y="85738"/>
                </a:lnTo>
                <a:lnTo>
                  <a:pt x="17148" y="85738"/>
                </a:lnTo>
                <a:lnTo>
                  <a:pt x="17148" y="111460"/>
                </a:lnTo>
                <a:lnTo>
                  <a:pt x="51443" y="111460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5" name="Text 43"/>
          <p:cNvSpPr/>
          <p:nvPr/>
        </p:nvSpPr>
        <p:spPr>
          <a:xfrm>
            <a:off x="4741877" y="4743050"/>
            <a:ext cx="2997407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predictions</a:t>
            </a:r>
            <a:r>
              <a:rPr lang="en-US" sz="108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(id, user_id, input_data, result, confidence)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32609" y="1272358"/>
            <a:ext cx="3710758" cy="4165171"/>
          </a:xfrm>
          <a:custGeom>
            <a:avLst/>
            <a:gdLst/>
            <a:ahLst/>
            <a:cxnLst/>
            <a:rect l="l" t="t" r="r" b="b"/>
            <a:pathLst>
              <a:path w="3710758" h="4165171">
                <a:moveTo>
                  <a:pt x="102899" y="0"/>
                </a:moveTo>
                <a:lnTo>
                  <a:pt x="3607858" y="0"/>
                </a:lnTo>
                <a:cubicBezTo>
                  <a:pt x="3664688" y="0"/>
                  <a:pt x="3710758" y="46070"/>
                  <a:pt x="3710758" y="102899"/>
                </a:cubicBezTo>
                <a:lnTo>
                  <a:pt x="3710758" y="4062272"/>
                </a:lnTo>
                <a:cubicBezTo>
                  <a:pt x="3710758" y="4119102"/>
                  <a:pt x="3664688" y="4165171"/>
                  <a:pt x="3607858" y="4165171"/>
                </a:cubicBezTo>
                <a:lnTo>
                  <a:pt x="102899" y="4165171"/>
                </a:lnTo>
                <a:cubicBezTo>
                  <a:pt x="46070" y="4165171"/>
                  <a:pt x="0" y="4119102"/>
                  <a:pt x="0" y="4062272"/>
                </a:cubicBezTo>
                <a:lnTo>
                  <a:pt x="0" y="102899"/>
                </a:lnTo>
                <a:cubicBezTo>
                  <a:pt x="0" y="46108"/>
                  <a:pt x="46108" y="0"/>
                  <a:pt x="10289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7" name="Shape 45"/>
          <p:cNvSpPr/>
          <p:nvPr/>
        </p:nvSpPr>
        <p:spPr>
          <a:xfrm>
            <a:off x="8307515" y="1447262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68592" y="0"/>
                </a:moveTo>
                <a:lnTo>
                  <a:pt x="411543" y="0"/>
                </a:lnTo>
                <a:cubicBezTo>
                  <a:pt x="449425" y="0"/>
                  <a:pt x="480135" y="30710"/>
                  <a:pt x="480135" y="68592"/>
                </a:cubicBezTo>
                <a:lnTo>
                  <a:pt x="480135" y="411543"/>
                </a:lnTo>
                <a:cubicBezTo>
                  <a:pt x="480135" y="449425"/>
                  <a:pt x="449425" y="480135"/>
                  <a:pt x="411543" y="480135"/>
                </a:cubicBezTo>
                <a:lnTo>
                  <a:pt x="68592" y="480135"/>
                </a:lnTo>
                <a:cubicBezTo>
                  <a:pt x="30710" y="480135"/>
                  <a:pt x="0" y="449425"/>
                  <a:pt x="0" y="411543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8" name="Shape 46"/>
          <p:cNvSpPr/>
          <p:nvPr/>
        </p:nvSpPr>
        <p:spPr>
          <a:xfrm>
            <a:off x="8444696" y="1584444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25722" y="12861"/>
                </a:moveTo>
                <a:cubicBezTo>
                  <a:pt x="11534" y="12861"/>
                  <a:pt x="0" y="24395"/>
                  <a:pt x="0" y="38582"/>
                </a:cubicBezTo>
                <a:lnTo>
                  <a:pt x="0" y="141468"/>
                </a:lnTo>
                <a:cubicBezTo>
                  <a:pt x="0" y="155655"/>
                  <a:pt x="11534" y="167190"/>
                  <a:pt x="25722" y="167190"/>
                </a:cubicBezTo>
                <a:lnTo>
                  <a:pt x="83595" y="167190"/>
                </a:lnTo>
                <a:lnTo>
                  <a:pt x="77165" y="186481"/>
                </a:lnTo>
                <a:lnTo>
                  <a:pt x="48228" y="186481"/>
                </a:lnTo>
                <a:cubicBezTo>
                  <a:pt x="42883" y="186481"/>
                  <a:pt x="38582" y="190781"/>
                  <a:pt x="38582" y="196127"/>
                </a:cubicBezTo>
                <a:cubicBezTo>
                  <a:pt x="38582" y="201472"/>
                  <a:pt x="42883" y="205772"/>
                  <a:pt x="48228" y="205772"/>
                </a:cubicBezTo>
                <a:lnTo>
                  <a:pt x="157544" y="205772"/>
                </a:lnTo>
                <a:cubicBezTo>
                  <a:pt x="162890" y="205772"/>
                  <a:pt x="167190" y="201472"/>
                  <a:pt x="167190" y="196127"/>
                </a:cubicBezTo>
                <a:cubicBezTo>
                  <a:pt x="167190" y="190781"/>
                  <a:pt x="162890" y="186481"/>
                  <a:pt x="157544" y="186481"/>
                </a:cubicBezTo>
                <a:lnTo>
                  <a:pt x="128608" y="186481"/>
                </a:lnTo>
                <a:lnTo>
                  <a:pt x="122177" y="167190"/>
                </a:lnTo>
                <a:lnTo>
                  <a:pt x="180051" y="167190"/>
                </a:lnTo>
                <a:cubicBezTo>
                  <a:pt x="194238" y="167190"/>
                  <a:pt x="205772" y="155655"/>
                  <a:pt x="205772" y="141468"/>
                </a:cubicBezTo>
                <a:lnTo>
                  <a:pt x="205772" y="38582"/>
                </a:lnTo>
                <a:cubicBezTo>
                  <a:pt x="205772" y="24395"/>
                  <a:pt x="194238" y="12861"/>
                  <a:pt x="180051" y="12861"/>
                </a:cubicBezTo>
                <a:lnTo>
                  <a:pt x="25722" y="12861"/>
                </a:lnTo>
                <a:close/>
                <a:moveTo>
                  <a:pt x="38582" y="38582"/>
                </a:moveTo>
                <a:lnTo>
                  <a:pt x="167190" y="38582"/>
                </a:lnTo>
                <a:cubicBezTo>
                  <a:pt x="174303" y="38582"/>
                  <a:pt x="180051" y="44329"/>
                  <a:pt x="180051" y="51443"/>
                </a:cubicBezTo>
                <a:lnTo>
                  <a:pt x="180051" y="115747"/>
                </a:lnTo>
                <a:cubicBezTo>
                  <a:pt x="180051" y="122860"/>
                  <a:pt x="174303" y="128608"/>
                  <a:pt x="167190" y="128608"/>
                </a:cubicBezTo>
                <a:lnTo>
                  <a:pt x="38582" y="128608"/>
                </a:lnTo>
                <a:cubicBezTo>
                  <a:pt x="31469" y="128608"/>
                  <a:pt x="25722" y="122860"/>
                  <a:pt x="25722" y="115747"/>
                </a:cubicBezTo>
                <a:lnTo>
                  <a:pt x="25722" y="51443"/>
                </a:lnTo>
                <a:cubicBezTo>
                  <a:pt x="25722" y="44329"/>
                  <a:pt x="31469" y="38582"/>
                  <a:pt x="38582" y="38582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9" name="Text 47"/>
          <p:cNvSpPr/>
          <p:nvPr/>
        </p:nvSpPr>
        <p:spPr>
          <a:xfrm>
            <a:off x="8890536" y="1550149"/>
            <a:ext cx="960270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10944" y="2368093"/>
            <a:ext cx="3359230" cy="1721627"/>
          </a:xfrm>
          <a:custGeom>
            <a:avLst/>
            <a:gdLst/>
            <a:ahLst/>
            <a:cxnLst/>
            <a:rect l="l" t="t" r="r" b="b"/>
            <a:pathLst>
              <a:path w="3359230" h="1721627">
                <a:moveTo>
                  <a:pt x="68590" y="0"/>
                </a:moveTo>
                <a:lnTo>
                  <a:pt x="3290641" y="0"/>
                </a:lnTo>
                <a:cubicBezTo>
                  <a:pt x="3328522" y="0"/>
                  <a:pt x="3359230" y="30709"/>
                  <a:pt x="3359230" y="68590"/>
                </a:cubicBezTo>
                <a:lnTo>
                  <a:pt x="3359230" y="1653037"/>
                </a:lnTo>
                <a:cubicBezTo>
                  <a:pt x="3359230" y="1690918"/>
                  <a:pt x="3328522" y="1721627"/>
                  <a:pt x="3290641" y="1721627"/>
                </a:cubicBezTo>
                <a:lnTo>
                  <a:pt x="68590" y="1721627"/>
                </a:lnTo>
                <a:cubicBezTo>
                  <a:pt x="30709" y="1721627"/>
                  <a:pt x="0" y="1690918"/>
                  <a:pt x="0" y="1653037"/>
                </a:cubicBezTo>
                <a:lnTo>
                  <a:pt x="0" y="68590"/>
                </a:lnTo>
                <a:cubicBezTo>
                  <a:pt x="0" y="30709"/>
                  <a:pt x="30709" y="0"/>
                  <a:pt x="6859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1" name="Shape 49"/>
          <p:cNvSpPr/>
          <p:nvPr/>
        </p:nvSpPr>
        <p:spPr>
          <a:xfrm>
            <a:off x="8518002" y="2508711"/>
            <a:ext cx="192911" cy="257215"/>
          </a:xfrm>
          <a:custGeom>
            <a:avLst/>
            <a:gdLst/>
            <a:ahLst/>
            <a:cxnLst/>
            <a:rect l="l" t="t" r="r" b="b"/>
            <a:pathLst>
              <a:path w="192911" h="257215">
                <a:moveTo>
                  <a:pt x="0" y="16076"/>
                </a:moveTo>
                <a:lnTo>
                  <a:pt x="17533" y="214915"/>
                </a:lnTo>
                <a:lnTo>
                  <a:pt x="96205" y="241139"/>
                </a:lnTo>
                <a:lnTo>
                  <a:pt x="175379" y="214915"/>
                </a:lnTo>
                <a:lnTo>
                  <a:pt x="192911" y="16076"/>
                </a:lnTo>
                <a:lnTo>
                  <a:pt x="0" y="16076"/>
                </a:lnTo>
                <a:close/>
                <a:moveTo>
                  <a:pt x="154831" y="80330"/>
                </a:moveTo>
                <a:lnTo>
                  <a:pt x="62495" y="80330"/>
                </a:lnTo>
                <a:lnTo>
                  <a:pt x="64555" y="105147"/>
                </a:lnTo>
                <a:lnTo>
                  <a:pt x="152772" y="105147"/>
                </a:lnTo>
                <a:lnTo>
                  <a:pt x="145939" y="179699"/>
                </a:lnTo>
                <a:lnTo>
                  <a:pt x="96757" y="193263"/>
                </a:lnTo>
                <a:lnTo>
                  <a:pt x="96757" y="193414"/>
                </a:lnTo>
                <a:lnTo>
                  <a:pt x="96205" y="193414"/>
                </a:lnTo>
                <a:lnTo>
                  <a:pt x="46620" y="179699"/>
                </a:lnTo>
                <a:lnTo>
                  <a:pt x="43606" y="141619"/>
                </a:lnTo>
                <a:lnTo>
                  <a:pt x="67569" y="141619"/>
                </a:lnTo>
                <a:lnTo>
                  <a:pt x="69328" y="160759"/>
                </a:lnTo>
                <a:lnTo>
                  <a:pt x="96205" y="168044"/>
                </a:lnTo>
                <a:lnTo>
                  <a:pt x="123182" y="160759"/>
                </a:lnTo>
                <a:lnTo>
                  <a:pt x="126196" y="129512"/>
                </a:lnTo>
                <a:lnTo>
                  <a:pt x="42350" y="129512"/>
                </a:lnTo>
                <a:lnTo>
                  <a:pt x="35920" y="56366"/>
                </a:lnTo>
                <a:lnTo>
                  <a:pt x="157042" y="56366"/>
                </a:lnTo>
                <a:lnTo>
                  <a:pt x="154831" y="8033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2" name="Shape 50"/>
          <p:cNvSpPr/>
          <p:nvPr/>
        </p:nvSpPr>
        <p:spPr>
          <a:xfrm>
            <a:off x="8942408" y="2508711"/>
            <a:ext cx="192911" cy="257215"/>
          </a:xfrm>
          <a:custGeom>
            <a:avLst/>
            <a:gdLst/>
            <a:ahLst/>
            <a:cxnLst/>
            <a:rect l="l" t="t" r="r" b="b"/>
            <a:pathLst>
              <a:path w="192911" h="257215">
                <a:moveTo>
                  <a:pt x="0" y="16076"/>
                </a:moveTo>
                <a:lnTo>
                  <a:pt x="17533" y="214915"/>
                </a:lnTo>
                <a:lnTo>
                  <a:pt x="96456" y="241139"/>
                </a:lnTo>
                <a:lnTo>
                  <a:pt x="175379" y="214915"/>
                </a:lnTo>
                <a:lnTo>
                  <a:pt x="192911" y="16076"/>
                </a:lnTo>
                <a:lnTo>
                  <a:pt x="0" y="16076"/>
                </a:lnTo>
                <a:close/>
                <a:moveTo>
                  <a:pt x="157293" y="56266"/>
                </a:moveTo>
                <a:lnTo>
                  <a:pt x="154882" y="80028"/>
                </a:lnTo>
                <a:lnTo>
                  <a:pt x="96958" y="104795"/>
                </a:lnTo>
                <a:lnTo>
                  <a:pt x="96807" y="104845"/>
                </a:lnTo>
                <a:lnTo>
                  <a:pt x="152822" y="104845"/>
                </a:lnTo>
                <a:lnTo>
                  <a:pt x="146392" y="178493"/>
                </a:lnTo>
                <a:lnTo>
                  <a:pt x="97059" y="192911"/>
                </a:lnTo>
                <a:lnTo>
                  <a:pt x="47424" y="178242"/>
                </a:lnTo>
                <a:lnTo>
                  <a:pt x="44209" y="141117"/>
                </a:lnTo>
                <a:lnTo>
                  <a:pt x="68775" y="141117"/>
                </a:lnTo>
                <a:lnTo>
                  <a:pt x="70383" y="160358"/>
                </a:lnTo>
                <a:lnTo>
                  <a:pt x="96807" y="167039"/>
                </a:lnTo>
                <a:lnTo>
                  <a:pt x="124287" y="159303"/>
                </a:lnTo>
                <a:lnTo>
                  <a:pt x="126146" y="128356"/>
                </a:lnTo>
                <a:lnTo>
                  <a:pt x="42601" y="128105"/>
                </a:lnTo>
                <a:lnTo>
                  <a:pt x="42601" y="128055"/>
                </a:lnTo>
                <a:lnTo>
                  <a:pt x="42501" y="128105"/>
                </a:lnTo>
                <a:lnTo>
                  <a:pt x="40692" y="104845"/>
                </a:lnTo>
                <a:lnTo>
                  <a:pt x="97008" y="81384"/>
                </a:lnTo>
                <a:lnTo>
                  <a:pt x="100274" y="80028"/>
                </a:lnTo>
                <a:lnTo>
                  <a:pt x="38532" y="80028"/>
                </a:lnTo>
                <a:lnTo>
                  <a:pt x="35618" y="56266"/>
                </a:lnTo>
                <a:lnTo>
                  <a:pt x="157293" y="56266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3" name="Text 51"/>
          <p:cNvSpPr/>
          <p:nvPr/>
        </p:nvSpPr>
        <p:spPr>
          <a:xfrm>
            <a:off x="9300366" y="2517284"/>
            <a:ext cx="1148895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HTML5/CSS3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51555" y="2868812"/>
            <a:ext cx="3146599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Interface utilisateur moderne avec </a:t>
            </a:r>
            <a:r>
              <a:rPr lang="en-US" sz="108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Dark Mode</a:t>
            </a:r>
            <a:r>
              <a:rPr lang="en-US" sz="108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77277" y="3228913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116497" y="18782"/>
                </a:moveTo>
                <a:cubicBezTo>
                  <a:pt x="120328" y="21569"/>
                  <a:pt x="121186" y="26927"/>
                  <a:pt x="118399" y="30759"/>
                </a:cubicBezTo>
                <a:lnTo>
                  <a:pt x="49809" y="125071"/>
                </a:lnTo>
                <a:cubicBezTo>
                  <a:pt x="48335" y="127107"/>
                  <a:pt x="46058" y="128366"/>
                  <a:pt x="43539" y="128581"/>
                </a:cubicBezTo>
                <a:cubicBezTo>
                  <a:pt x="41020" y="128795"/>
                  <a:pt x="38582" y="127857"/>
                  <a:pt x="36814" y="126089"/>
                </a:cubicBezTo>
                <a:lnTo>
                  <a:pt x="2519" y="91794"/>
                </a:lnTo>
                <a:cubicBezTo>
                  <a:pt x="-831" y="88445"/>
                  <a:pt x="-831" y="83005"/>
                  <a:pt x="2519" y="79656"/>
                </a:cubicBezTo>
                <a:cubicBezTo>
                  <a:pt x="5868" y="76307"/>
                  <a:pt x="11307" y="76307"/>
                  <a:pt x="14656" y="79656"/>
                </a:cubicBezTo>
                <a:lnTo>
                  <a:pt x="41851" y="106851"/>
                </a:lnTo>
                <a:lnTo>
                  <a:pt x="104547" y="20658"/>
                </a:lnTo>
                <a:cubicBezTo>
                  <a:pt x="107334" y="16826"/>
                  <a:pt x="112692" y="15969"/>
                  <a:pt x="116524" y="18755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6" name="Text 54"/>
          <p:cNvSpPr/>
          <p:nvPr/>
        </p:nvSpPr>
        <p:spPr>
          <a:xfrm>
            <a:off x="8669338" y="3194618"/>
            <a:ext cx="29288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</a:t>
            </a:r>
            <a:r>
              <a:rPr lang="en-US" sz="108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77277" y="3503276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116497" y="18782"/>
                </a:moveTo>
                <a:cubicBezTo>
                  <a:pt x="120328" y="21569"/>
                  <a:pt x="121186" y="26927"/>
                  <a:pt x="118399" y="30759"/>
                </a:cubicBezTo>
                <a:lnTo>
                  <a:pt x="49809" y="125071"/>
                </a:lnTo>
                <a:cubicBezTo>
                  <a:pt x="48335" y="127107"/>
                  <a:pt x="46058" y="128366"/>
                  <a:pt x="43539" y="128581"/>
                </a:cubicBezTo>
                <a:cubicBezTo>
                  <a:pt x="41020" y="128795"/>
                  <a:pt x="38582" y="127857"/>
                  <a:pt x="36814" y="126089"/>
                </a:cubicBezTo>
                <a:lnTo>
                  <a:pt x="2519" y="91794"/>
                </a:lnTo>
                <a:cubicBezTo>
                  <a:pt x="-831" y="88445"/>
                  <a:pt x="-831" y="83005"/>
                  <a:pt x="2519" y="79656"/>
                </a:cubicBezTo>
                <a:cubicBezTo>
                  <a:pt x="5868" y="76307"/>
                  <a:pt x="11307" y="76307"/>
                  <a:pt x="14656" y="79656"/>
                </a:cubicBezTo>
                <a:lnTo>
                  <a:pt x="41851" y="106851"/>
                </a:lnTo>
                <a:lnTo>
                  <a:pt x="104547" y="20658"/>
                </a:lnTo>
                <a:cubicBezTo>
                  <a:pt x="107334" y="16826"/>
                  <a:pt x="112692" y="15969"/>
                  <a:pt x="116524" y="18755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8" name="Text 56"/>
          <p:cNvSpPr/>
          <p:nvPr/>
        </p:nvSpPr>
        <p:spPr>
          <a:xfrm>
            <a:off x="8669338" y="3468981"/>
            <a:ext cx="29288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Formulaires </a:t>
            </a:r>
            <a:r>
              <a:rPr lang="en-US" sz="108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dynamiques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77277" y="3777639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116497" y="18782"/>
                </a:moveTo>
                <a:cubicBezTo>
                  <a:pt x="120328" y="21569"/>
                  <a:pt x="121186" y="26927"/>
                  <a:pt x="118399" y="30759"/>
                </a:cubicBezTo>
                <a:lnTo>
                  <a:pt x="49809" y="125071"/>
                </a:lnTo>
                <a:cubicBezTo>
                  <a:pt x="48335" y="127107"/>
                  <a:pt x="46058" y="128366"/>
                  <a:pt x="43539" y="128581"/>
                </a:cubicBezTo>
                <a:cubicBezTo>
                  <a:pt x="41020" y="128795"/>
                  <a:pt x="38582" y="127857"/>
                  <a:pt x="36814" y="126089"/>
                </a:cubicBezTo>
                <a:lnTo>
                  <a:pt x="2519" y="91794"/>
                </a:lnTo>
                <a:cubicBezTo>
                  <a:pt x="-831" y="88445"/>
                  <a:pt x="-831" y="83005"/>
                  <a:pt x="2519" y="79656"/>
                </a:cubicBezTo>
                <a:cubicBezTo>
                  <a:pt x="5868" y="76307"/>
                  <a:pt x="11307" y="76307"/>
                  <a:pt x="14656" y="79656"/>
                </a:cubicBezTo>
                <a:lnTo>
                  <a:pt x="41851" y="106851"/>
                </a:lnTo>
                <a:lnTo>
                  <a:pt x="104547" y="20658"/>
                </a:lnTo>
                <a:cubicBezTo>
                  <a:pt x="107334" y="16826"/>
                  <a:pt x="112692" y="15969"/>
                  <a:pt x="116524" y="18755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0" name="Text 58"/>
          <p:cNvSpPr/>
          <p:nvPr/>
        </p:nvSpPr>
        <p:spPr>
          <a:xfrm>
            <a:off x="8669338" y="3743343"/>
            <a:ext cx="29288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Visualisations </a:t>
            </a:r>
            <a:r>
              <a:rPr lang="en-US" sz="108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interactives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10944" y="4199470"/>
            <a:ext cx="3359230" cy="761357"/>
          </a:xfrm>
          <a:custGeom>
            <a:avLst/>
            <a:gdLst/>
            <a:ahLst/>
            <a:cxnLst/>
            <a:rect l="l" t="t" r="r" b="b"/>
            <a:pathLst>
              <a:path w="3359230" h="761357">
                <a:moveTo>
                  <a:pt x="68591" y="0"/>
                </a:moveTo>
                <a:lnTo>
                  <a:pt x="3290640" y="0"/>
                </a:lnTo>
                <a:cubicBezTo>
                  <a:pt x="3328521" y="0"/>
                  <a:pt x="3359230" y="30709"/>
                  <a:pt x="3359230" y="68591"/>
                </a:cubicBezTo>
                <a:lnTo>
                  <a:pt x="3359230" y="692766"/>
                </a:lnTo>
                <a:cubicBezTo>
                  <a:pt x="3359230" y="730648"/>
                  <a:pt x="3328521" y="761357"/>
                  <a:pt x="3290640" y="761357"/>
                </a:cubicBezTo>
                <a:lnTo>
                  <a:pt x="68591" y="761357"/>
                </a:lnTo>
                <a:cubicBezTo>
                  <a:pt x="30709" y="761357"/>
                  <a:pt x="0" y="730648"/>
                  <a:pt x="0" y="692766"/>
                </a:cubicBezTo>
                <a:lnTo>
                  <a:pt x="0" y="68591"/>
                </a:lnTo>
                <a:cubicBezTo>
                  <a:pt x="0" y="30734"/>
                  <a:pt x="30734" y="0"/>
                  <a:pt x="68591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2" name="Text 60"/>
          <p:cNvSpPr/>
          <p:nvPr/>
        </p:nvSpPr>
        <p:spPr>
          <a:xfrm>
            <a:off x="8417260" y="4305784"/>
            <a:ext cx="321519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Technologies :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417260" y="4580147"/>
            <a:ext cx="497283" cy="274363"/>
          </a:xfrm>
          <a:custGeom>
            <a:avLst/>
            <a:gdLst/>
            <a:ahLst/>
            <a:cxnLst/>
            <a:rect l="l" t="t" r="r" b="b"/>
            <a:pathLst>
              <a:path w="497283" h="274363">
                <a:moveTo>
                  <a:pt x="34295" y="0"/>
                </a:moveTo>
                <a:lnTo>
                  <a:pt x="462987" y="0"/>
                </a:lnTo>
                <a:cubicBezTo>
                  <a:pt x="481928" y="0"/>
                  <a:pt x="497283" y="15355"/>
                  <a:pt x="497283" y="34295"/>
                </a:cubicBezTo>
                <a:lnTo>
                  <a:pt x="497283" y="240068"/>
                </a:lnTo>
                <a:cubicBezTo>
                  <a:pt x="497283" y="259008"/>
                  <a:pt x="481928" y="274363"/>
                  <a:pt x="462987" y="274363"/>
                </a:cubicBezTo>
                <a:lnTo>
                  <a:pt x="34295" y="274363"/>
                </a:lnTo>
                <a:cubicBezTo>
                  <a:pt x="15367" y="274363"/>
                  <a:pt x="0" y="258996"/>
                  <a:pt x="0" y="240068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4" name="Text 62"/>
          <p:cNvSpPr/>
          <p:nvPr/>
        </p:nvSpPr>
        <p:spPr>
          <a:xfrm>
            <a:off x="8417260" y="4580147"/>
            <a:ext cx="565873" cy="274363"/>
          </a:xfrm>
          <a:prstGeom prst="rect">
            <a:avLst/>
          </a:prstGeom>
          <a:noFill/>
          <a:ln/>
        </p:spPr>
        <p:txBody>
          <a:bodyPr wrap="square" lIns="68591" tIns="34295" rIns="68591" bIns="34295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Jinja2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983776" y="4580147"/>
            <a:ext cx="754498" cy="274363"/>
          </a:xfrm>
          <a:custGeom>
            <a:avLst/>
            <a:gdLst/>
            <a:ahLst/>
            <a:cxnLst/>
            <a:rect l="l" t="t" r="r" b="b"/>
            <a:pathLst>
              <a:path w="754498" h="274363">
                <a:moveTo>
                  <a:pt x="34295" y="0"/>
                </a:moveTo>
                <a:lnTo>
                  <a:pt x="720203" y="0"/>
                </a:lnTo>
                <a:cubicBezTo>
                  <a:pt x="739143" y="0"/>
                  <a:pt x="754498" y="15355"/>
                  <a:pt x="754498" y="34295"/>
                </a:cubicBezTo>
                <a:lnTo>
                  <a:pt x="754498" y="240068"/>
                </a:lnTo>
                <a:cubicBezTo>
                  <a:pt x="754498" y="259008"/>
                  <a:pt x="739143" y="274363"/>
                  <a:pt x="720203" y="274363"/>
                </a:cubicBezTo>
                <a:lnTo>
                  <a:pt x="34295" y="274363"/>
                </a:lnTo>
                <a:cubicBezTo>
                  <a:pt x="15367" y="274363"/>
                  <a:pt x="0" y="258996"/>
                  <a:pt x="0" y="240068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6" name="Text 64"/>
          <p:cNvSpPr/>
          <p:nvPr/>
        </p:nvSpPr>
        <p:spPr>
          <a:xfrm>
            <a:off x="8983776" y="4580147"/>
            <a:ext cx="823089" cy="274363"/>
          </a:xfrm>
          <a:prstGeom prst="rect">
            <a:avLst/>
          </a:prstGeom>
          <a:noFill/>
          <a:ln/>
        </p:spPr>
        <p:txBody>
          <a:bodyPr wrap="square" lIns="68591" tIns="34295" rIns="68591" bIns="34295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Bootstrap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804400" y="4580147"/>
            <a:ext cx="617316" cy="274363"/>
          </a:xfrm>
          <a:custGeom>
            <a:avLst/>
            <a:gdLst/>
            <a:ahLst/>
            <a:cxnLst/>
            <a:rect l="l" t="t" r="r" b="b"/>
            <a:pathLst>
              <a:path w="617316" h="274363">
                <a:moveTo>
                  <a:pt x="34295" y="0"/>
                </a:moveTo>
                <a:lnTo>
                  <a:pt x="583021" y="0"/>
                </a:lnTo>
                <a:cubicBezTo>
                  <a:pt x="601962" y="0"/>
                  <a:pt x="617316" y="15355"/>
                  <a:pt x="617316" y="34295"/>
                </a:cubicBezTo>
                <a:lnTo>
                  <a:pt x="617316" y="240068"/>
                </a:lnTo>
                <a:cubicBezTo>
                  <a:pt x="617316" y="259008"/>
                  <a:pt x="601962" y="274363"/>
                  <a:pt x="583021" y="274363"/>
                </a:cubicBezTo>
                <a:lnTo>
                  <a:pt x="34295" y="274363"/>
                </a:lnTo>
                <a:cubicBezTo>
                  <a:pt x="15367" y="274363"/>
                  <a:pt x="0" y="258996"/>
                  <a:pt x="0" y="240068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8" name="Text 66"/>
          <p:cNvSpPr/>
          <p:nvPr/>
        </p:nvSpPr>
        <p:spPr>
          <a:xfrm>
            <a:off x="9804400" y="4580147"/>
            <a:ext cx="685907" cy="274363"/>
          </a:xfrm>
          <a:prstGeom prst="rect">
            <a:avLst/>
          </a:prstGeom>
          <a:noFill/>
          <a:ln/>
        </p:spPr>
        <p:txBody>
          <a:bodyPr wrap="square" lIns="68591" tIns="34295" rIns="68591" bIns="34295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Chart.js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46383" y="5617578"/>
            <a:ext cx="11504378" cy="1035720"/>
          </a:xfrm>
          <a:custGeom>
            <a:avLst/>
            <a:gdLst/>
            <a:ahLst/>
            <a:cxnLst/>
            <a:rect l="l" t="t" r="r" b="b"/>
            <a:pathLst>
              <a:path w="11504378" h="1035720">
                <a:moveTo>
                  <a:pt x="102888" y="0"/>
                </a:moveTo>
                <a:lnTo>
                  <a:pt x="11401490" y="0"/>
                </a:lnTo>
                <a:cubicBezTo>
                  <a:pt x="11458313" y="0"/>
                  <a:pt x="11504378" y="46065"/>
                  <a:pt x="11504378" y="102888"/>
                </a:cubicBezTo>
                <a:lnTo>
                  <a:pt x="11504378" y="932831"/>
                </a:lnTo>
                <a:cubicBezTo>
                  <a:pt x="11504378" y="989655"/>
                  <a:pt x="11458313" y="1035720"/>
                  <a:pt x="11401490" y="1035720"/>
                </a:cubicBezTo>
                <a:lnTo>
                  <a:pt x="102888" y="1035720"/>
                </a:lnTo>
                <a:cubicBezTo>
                  <a:pt x="46065" y="1035720"/>
                  <a:pt x="0" y="989655"/>
                  <a:pt x="0" y="932831"/>
                </a:cubicBezTo>
                <a:lnTo>
                  <a:pt x="0" y="102888"/>
                </a:lnTo>
                <a:cubicBezTo>
                  <a:pt x="0" y="46103"/>
                  <a:pt x="46103" y="0"/>
                  <a:pt x="10288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70" name="Shape 68"/>
          <p:cNvSpPr/>
          <p:nvPr/>
        </p:nvSpPr>
        <p:spPr>
          <a:xfrm>
            <a:off x="3084332" y="5758196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68592" y="0"/>
                </a:moveTo>
                <a:lnTo>
                  <a:pt x="411543" y="0"/>
                </a:lnTo>
                <a:cubicBezTo>
                  <a:pt x="449425" y="0"/>
                  <a:pt x="480135" y="30710"/>
                  <a:pt x="480135" y="68592"/>
                </a:cubicBezTo>
                <a:lnTo>
                  <a:pt x="480135" y="411543"/>
                </a:lnTo>
                <a:cubicBezTo>
                  <a:pt x="480135" y="449425"/>
                  <a:pt x="449425" y="480135"/>
                  <a:pt x="411543" y="480135"/>
                </a:cubicBezTo>
                <a:lnTo>
                  <a:pt x="68592" y="480135"/>
                </a:lnTo>
                <a:cubicBezTo>
                  <a:pt x="30710" y="480135"/>
                  <a:pt x="0" y="449425"/>
                  <a:pt x="0" y="411543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1" name="Shape 69"/>
          <p:cNvSpPr/>
          <p:nvPr/>
        </p:nvSpPr>
        <p:spPr>
          <a:xfrm>
            <a:off x="3249378" y="5912525"/>
            <a:ext cx="150042" cy="171477"/>
          </a:xfrm>
          <a:custGeom>
            <a:avLst/>
            <a:gdLst/>
            <a:ahLst/>
            <a:cxnLst/>
            <a:rect l="l" t="t" r="r" b="b"/>
            <a:pathLst>
              <a:path w="150042" h="171477">
                <a:moveTo>
                  <a:pt x="75021" y="83059"/>
                </a:moveTo>
                <a:cubicBezTo>
                  <a:pt x="97202" y="83059"/>
                  <a:pt x="115211" y="65051"/>
                  <a:pt x="115211" y="42869"/>
                </a:cubicBezTo>
                <a:cubicBezTo>
                  <a:pt x="115211" y="20688"/>
                  <a:pt x="97202" y="2679"/>
                  <a:pt x="75021" y="2679"/>
                </a:cubicBezTo>
                <a:cubicBezTo>
                  <a:pt x="52840" y="2679"/>
                  <a:pt x="34831" y="20688"/>
                  <a:pt x="34831" y="42869"/>
                </a:cubicBezTo>
                <a:cubicBezTo>
                  <a:pt x="34831" y="65051"/>
                  <a:pt x="52840" y="83059"/>
                  <a:pt x="75021" y="83059"/>
                </a:cubicBezTo>
                <a:close/>
                <a:moveTo>
                  <a:pt x="65074" y="101814"/>
                </a:moveTo>
                <a:cubicBezTo>
                  <a:pt x="32085" y="101814"/>
                  <a:pt x="5359" y="128541"/>
                  <a:pt x="5359" y="161530"/>
                </a:cubicBezTo>
                <a:cubicBezTo>
                  <a:pt x="5359" y="167022"/>
                  <a:pt x="9813" y="171477"/>
                  <a:pt x="15306" y="171477"/>
                </a:cubicBezTo>
                <a:lnTo>
                  <a:pt x="134737" y="171477"/>
                </a:lnTo>
                <a:cubicBezTo>
                  <a:pt x="140229" y="171477"/>
                  <a:pt x="144684" y="167022"/>
                  <a:pt x="144684" y="161530"/>
                </a:cubicBezTo>
                <a:cubicBezTo>
                  <a:pt x="144684" y="128541"/>
                  <a:pt x="117957" y="101814"/>
                  <a:pt x="84968" y="101814"/>
                </a:cubicBezTo>
                <a:lnTo>
                  <a:pt x="65074" y="101814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2" name="Text 70"/>
          <p:cNvSpPr/>
          <p:nvPr/>
        </p:nvSpPr>
        <p:spPr>
          <a:xfrm>
            <a:off x="2971907" y="6306921"/>
            <a:ext cx="70305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Utilisateur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942680" y="6032559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201994" y="111969"/>
                </a:moveTo>
                <a:cubicBezTo>
                  <a:pt x="207018" y="106945"/>
                  <a:pt x="207018" y="98787"/>
                  <a:pt x="201994" y="93763"/>
                </a:cubicBezTo>
                <a:lnTo>
                  <a:pt x="137691" y="29459"/>
                </a:lnTo>
                <a:cubicBezTo>
                  <a:pt x="132667" y="24435"/>
                  <a:pt x="124508" y="24435"/>
                  <a:pt x="119484" y="29459"/>
                </a:cubicBezTo>
                <a:cubicBezTo>
                  <a:pt x="114461" y="34483"/>
                  <a:pt x="114461" y="42641"/>
                  <a:pt x="119484" y="47665"/>
                </a:cubicBezTo>
                <a:lnTo>
                  <a:pt x="161845" y="90025"/>
                </a:lnTo>
                <a:lnTo>
                  <a:pt x="12861" y="90025"/>
                </a:lnTo>
                <a:cubicBezTo>
                  <a:pt x="5747" y="90025"/>
                  <a:pt x="0" y="95772"/>
                  <a:pt x="0" y="102886"/>
                </a:cubicBezTo>
                <a:cubicBezTo>
                  <a:pt x="0" y="110000"/>
                  <a:pt x="5747" y="115747"/>
                  <a:pt x="12861" y="115747"/>
                </a:cubicBezTo>
                <a:lnTo>
                  <a:pt x="161845" y="115747"/>
                </a:lnTo>
                <a:lnTo>
                  <a:pt x="119484" y="158107"/>
                </a:lnTo>
                <a:cubicBezTo>
                  <a:pt x="114461" y="163131"/>
                  <a:pt x="114461" y="171289"/>
                  <a:pt x="119484" y="176313"/>
                </a:cubicBezTo>
                <a:cubicBezTo>
                  <a:pt x="124508" y="181337"/>
                  <a:pt x="132667" y="181337"/>
                  <a:pt x="137691" y="176313"/>
                </a:cubicBezTo>
                <a:lnTo>
                  <a:pt x="201994" y="112009"/>
                </a:lnTo>
                <a:close/>
              </a:path>
            </a:pathLst>
          </a:custGeom>
          <a:solidFill>
            <a:srgbClr val="8F8F8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4" name="Shape 72"/>
          <p:cNvSpPr/>
          <p:nvPr/>
        </p:nvSpPr>
        <p:spPr>
          <a:xfrm>
            <a:off x="4494835" y="5758196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68592" y="0"/>
                </a:moveTo>
                <a:lnTo>
                  <a:pt x="411543" y="0"/>
                </a:lnTo>
                <a:cubicBezTo>
                  <a:pt x="449425" y="0"/>
                  <a:pt x="480135" y="30710"/>
                  <a:pt x="480135" y="68592"/>
                </a:cubicBezTo>
                <a:lnTo>
                  <a:pt x="480135" y="411543"/>
                </a:lnTo>
                <a:cubicBezTo>
                  <a:pt x="480135" y="449425"/>
                  <a:pt x="449425" y="480135"/>
                  <a:pt x="411543" y="480135"/>
                </a:cubicBezTo>
                <a:lnTo>
                  <a:pt x="68592" y="480135"/>
                </a:lnTo>
                <a:cubicBezTo>
                  <a:pt x="30710" y="480135"/>
                  <a:pt x="0" y="449425"/>
                  <a:pt x="0" y="411543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5" name="Shape 73"/>
          <p:cNvSpPr/>
          <p:nvPr/>
        </p:nvSpPr>
        <p:spPr>
          <a:xfrm>
            <a:off x="4649165" y="5912525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21435" y="10717"/>
                </a:moveTo>
                <a:cubicBezTo>
                  <a:pt x="9612" y="10717"/>
                  <a:pt x="0" y="20329"/>
                  <a:pt x="0" y="32152"/>
                </a:cubicBezTo>
                <a:lnTo>
                  <a:pt x="0" y="117890"/>
                </a:lnTo>
                <a:cubicBezTo>
                  <a:pt x="0" y="129713"/>
                  <a:pt x="9612" y="139325"/>
                  <a:pt x="21435" y="139325"/>
                </a:cubicBezTo>
                <a:lnTo>
                  <a:pt x="69662" y="139325"/>
                </a:lnTo>
                <a:lnTo>
                  <a:pt x="64304" y="155401"/>
                </a:lnTo>
                <a:lnTo>
                  <a:pt x="40190" y="155401"/>
                </a:lnTo>
                <a:cubicBezTo>
                  <a:pt x="35735" y="155401"/>
                  <a:pt x="32152" y="158984"/>
                  <a:pt x="32152" y="163439"/>
                </a:cubicBezTo>
                <a:cubicBezTo>
                  <a:pt x="32152" y="167893"/>
                  <a:pt x="35735" y="171477"/>
                  <a:pt x="40190" y="171477"/>
                </a:cubicBezTo>
                <a:lnTo>
                  <a:pt x="131287" y="171477"/>
                </a:lnTo>
                <a:cubicBezTo>
                  <a:pt x="135741" y="171477"/>
                  <a:pt x="139325" y="167893"/>
                  <a:pt x="139325" y="163439"/>
                </a:cubicBezTo>
                <a:cubicBezTo>
                  <a:pt x="139325" y="158984"/>
                  <a:pt x="135741" y="155401"/>
                  <a:pt x="131287" y="155401"/>
                </a:cubicBezTo>
                <a:lnTo>
                  <a:pt x="107173" y="155401"/>
                </a:lnTo>
                <a:lnTo>
                  <a:pt x="101814" y="139325"/>
                </a:lnTo>
                <a:lnTo>
                  <a:pt x="150042" y="139325"/>
                </a:lnTo>
                <a:cubicBezTo>
                  <a:pt x="161865" y="139325"/>
                  <a:pt x="171477" y="129713"/>
                  <a:pt x="171477" y="117890"/>
                </a:cubicBezTo>
                <a:lnTo>
                  <a:pt x="171477" y="32152"/>
                </a:lnTo>
                <a:cubicBezTo>
                  <a:pt x="171477" y="20329"/>
                  <a:pt x="161865" y="10717"/>
                  <a:pt x="150042" y="10717"/>
                </a:cubicBezTo>
                <a:lnTo>
                  <a:pt x="21435" y="10717"/>
                </a:lnTo>
                <a:close/>
                <a:moveTo>
                  <a:pt x="32152" y="32152"/>
                </a:moveTo>
                <a:lnTo>
                  <a:pt x="139325" y="32152"/>
                </a:lnTo>
                <a:cubicBezTo>
                  <a:pt x="145253" y="32152"/>
                  <a:pt x="150042" y="36941"/>
                  <a:pt x="150042" y="42869"/>
                </a:cubicBezTo>
                <a:lnTo>
                  <a:pt x="150042" y="96456"/>
                </a:lnTo>
                <a:cubicBezTo>
                  <a:pt x="150042" y="102384"/>
                  <a:pt x="145253" y="107173"/>
                  <a:pt x="139325" y="107173"/>
                </a:cubicBezTo>
                <a:lnTo>
                  <a:pt x="32152" y="107173"/>
                </a:lnTo>
                <a:cubicBezTo>
                  <a:pt x="26224" y="107173"/>
                  <a:pt x="21435" y="102384"/>
                  <a:pt x="21435" y="96456"/>
                </a:cubicBezTo>
                <a:lnTo>
                  <a:pt x="21435" y="42869"/>
                </a:lnTo>
                <a:cubicBezTo>
                  <a:pt x="21435" y="36941"/>
                  <a:pt x="26224" y="32152"/>
                  <a:pt x="32152" y="32152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6" name="Text 74"/>
          <p:cNvSpPr/>
          <p:nvPr/>
        </p:nvSpPr>
        <p:spPr>
          <a:xfrm>
            <a:off x="4414242" y="6306921"/>
            <a:ext cx="64303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5321354" y="6032559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201994" y="111969"/>
                </a:moveTo>
                <a:cubicBezTo>
                  <a:pt x="207018" y="106945"/>
                  <a:pt x="207018" y="98787"/>
                  <a:pt x="201994" y="93763"/>
                </a:cubicBezTo>
                <a:lnTo>
                  <a:pt x="137691" y="29459"/>
                </a:lnTo>
                <a:cubicBezTo>
                  <a:pt x="132667" y="24435"/>
                  <a:pt x="124508" y="24435"/>
                  <a:pt x="119484" y="29459"/>
                </a:cubicBezTo>
                <a:cubicBezTo>
                  <a:pt x="114461" y="34483"/>
                  <a:pt x="114461" y="42641"/>
                  <a:pt x="119484" y="47665"/>
                </a:cubicBezTo>
                <a:lnTo>
                  <a:pt x="161845" y="90025"/>
                </a:lnTo>
                <a:lnTo>
                  <a:pt x="12861" y="90025"/>
                </a:lnTo>
                <a:cubicBezTo>
                  <a:pt x="5747" y="90025"/>
                  <a:pt x="0" y="95772"/>
                  <a:pt x="0" y="102886"/>
                </a:cubicBezTo>
                <a:cubicBezTo>
                  <a:pt x="0" y="110000"/>
                  <a:pt x="5747" y="115747"/>
                  <a:pt x="12861" y="115747"/>
                </a:cubicBezTo>
                <a:lnTo>
                  <a:pt x="161845" y="115747"/>
                </a:lnTo>
                <a:lnTo>
                  <a:pt x="119484" y="158107"/>
                </a:lnTo>
                <a:cubicBezTo>
                  <a:pt x="114461" y="163131"/>
                  <a:pt x="114461" y="171289"/>
                  <a:pt x="119484" y="176313"/>
                </a:cubicBezTo>
                <a:cubicBezTo>
                  <a:pt x="124508" y="181337"/>
                  <a:pt x="132667" y="181337"/>
                  <a:pt x="137691" y="176313"/>
                </a:cubicBezTo>
                <a:lnTo>
                  <a:pt x="201994" y="112009"/>
                </a:lnTo>
                <a:close/>
              </a:path>
            </a:pathLst>
          </a:custGeom>
          <a:solidFill>
            <a:srgbClr val="8F8F8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8" name="Shape 76"/>
          <p:cNvSpPr/>
          <p:nvPr/>
        </p:nvSpPr>
        <p:spPr>
          <a:xfrm>
            <a:off x="5869758" y="5758196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68592" y="0"/>
                </a:moveTo>
                <a:lnTo>
                  <a:pt x="411543" y="0"/>
                </a:lnTo>
                <a:cubicBezTo>
                  <a:pt x="449425" y="0"/>
                  <a:pt x="480135" y="30710"/>
                  <a:pt x="480135" y="68592"/>
                </a:cubicBezTo>
                <a:lnTo>
                  <a:pt x="480135" y="411543"/>
                </a:lnTo>
                <a:cubicBezTo>
                  <a:pt x="480135" y="449425"/>
                  <a:pt x="449425" y="480135"/>
                  <a:pt x="411543" y="480135"/>
                </a:cubicBezTo>
                <a:lnTo>
                  <a:pt x="68592" y="480135"/>
                </a:lnTo>
                <a:cubicBezTo>
                  <a:pt x="30710" y="480135"/>
                  <a:pt x="0" y="449425"/>
                  <a:pt x="0" y="411543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9" name="Shape 77"/>
          <p:cNvSpPr/>
          <p:nvPr/>
        </p:nvSpPr>
        <p:spPr>
          <a:xfrm>
            <a:off x="6034804" y="5912525"/>
            <a:ext cx="150042" cy="171477"/>
          </a:xfrm>
          <a:custGeom>
            <a:avLst/>
            <a:gdLst/>
            <a:ahLst/>
            <a:cxnLst/>
            <a:rect l="l" t="t" r="r" b="b"/>
            <a:pathLst>
              <a:path w="150042" h="171477">
                <a:moveTo>
                  <a:pt x="21435" y="10717"/>
                </a:moveTo>
                <a:cubicBezTo>
                  <a:pt x="9612" y="10717"/>
                  <a:pt x="0" y="20329"/>
                  <a:pt x="0" y="32152"/>
                </a:cubicBezTo>
                <a:lnTo>
                  <a:pt x="0" y="53586"/>
                </a:lnTo>
                <a:cubicBezTo>
                  <a:pt x="0" y="65409"/>
                  <a:pt x="9612" y="75021"/>
                  <a:pt x="21435" y="75021"/>
                </a:cubicBezTo>
                <a:lnTo>
                  <a:pt x="128608" y="75021"/>
                </a:lnTo>
                <a:cubicBezTo>
                  <a:pt x="140430" y="75021"/>
                  <a:pt x="150042" y="65409"/>
                  <a:pt x="150042" y="53586"/>
                </a:cubicBezTo>
                <a:lnTo>
                  <a:pt x="150042" y="32152"/>
                </a:lnTo>
                <a:cubicBezTo>
                  <a:pt x="150042" y="20329"/>
                  <a:pt x="140430" y="10717"/>
                  <a:pt x="128608" y="10717"/>
                </a:cubicBezTo>
                <a:lnTo>
                  <a:pt x="21435" y="10717"/>
                </a:lnTo>
                <a:close/>
                <a:moveTo>
                  <a:pt x="93776" y="34831"/>
                </a:moveTo>
                <a:cubicBezTo>
                  <a:pt x="98213" y="34831"/>
                  <a:pt x="101814" y="38433"/>
                  <a:pt x="101814" y="42869"/>
                </a:cubicBezTo>
                <a:cubicBezTo>
                  <a:pt x="101814" y="47305"/>
                  <a:pt x="98213" y="50907"/>
                  <a:pt x="93776" y="50907"/>
                </a:cubicBezTo>
                <a:cubicBezTo>
                  <a:pt x="89340" y="50907"/>
                  <a:pt x="85738" y="47305"/>
                  <a:pt x="85738" y="42869"/>
                </a:cubicBezTo>
                <a:cubicBezTo>
                  <a:pt x="85738" y="38433"/>
                  <a:pt x="89340" y="34831"/>
                  <a:pt x="93776" y="34831"/>
                </a:cubicBezTo>
                <a:close/>
                <a:moveTo>
                  <a:pt x="112532" y="42869"/>
                </a:moveTo>
                <a:cubicBezTo>
                  <a:pt x="112532" y="38433"/>
                  <a:pt x="116133" y="34831"/>
                  <a:pt x="120570" y="34831"/>
                </a:cubicBezTo>
                <a:cubicBezTo>
                  <a:pt x="125006" y="34831"/>
                  <a:pt x="128608" y="38433"/>
                  <a:pt x="128608" y="42869"/>
                </a:cubicBezTo>
                <a:cubicBezTo>
                  <a:pt x="128608" y="47305"/>
                  <a:pt x="125006" y="50907"/>
                  <a:pt x="120570" y="50907"/>
                </a:cubicBezTo>
                <a:cubicBezTo>
                  <a:pt x="116133" y="50907"/>
                  <a:pt x="112532" y="47305"/>
                  <a:pt x="112532" y="42869"/>
                </a:cubicBezTo>
                <a:close/>
                <a:moveTo>
                  <a:pt x="21435" y="96456"/>
                </a:moveTo>
                <a:cubicBezTo>
                  <a:pt x="9612" y="96456"/>
                  <a:pt x="0" y="106068"/>
                  <a:pt x="0" y="117890"/>
                </a:cubicBezTo>
                <a:lnTo>
                  <a:pt x="0" y="139325"/>
                </a:lnTo>
                <a:cubicBezTo>
                  <a:pt x="0" y="151147"/>
                  <a:pt x="9612" y="160759"/>
                  <a:pt x="21435" y="160759"/>
                </a:cubicBezTo>
                <a:lnTo>
                  <a:pt x="128608" y="160759"/>
                </a:lnTo>
                <a:cubicBezTo>
                  <a:pt x="140430" y="160759"/>
                  <a:pt x="150042" y="151147"/>
                  <a:pt x="150042" y="139325"/>
                </a:cubicBezTo>
                <a:lnTo>
                  <a:pt x="150042" y="117890"/>
                </a:lnTo>
                <a:cubicBezTo>
                  <a:pt x="150042" y="106068"/>
                  <a:pt x="140430" y="96456"/>
                  <a:pt x="128608" y="96456"/>
                </a:cubicBezTo>
                <a:lnTo>
                  <a:pt x="21435" y="96456"/>
                </a:lnTo>
                <a:close/>
                <a:moveTo>
                  <a:pt x="93776" y="120570"/>
                </a:moveTo>
                <a:cubicBezTo>
                  <a:pt x="98213" y="120570"/>
                  <a:pt x="101814" y="124171"/>
                  <a:pt x="101814" y="128608"/>
                </a:cubicBezTo>
                <a:cubicBezTo>
                  <a:pt x="101814" y="133044"/>
                  <a:pt x="98213" y="136646"/>
                  <a:pt x="93776" y="136646"/>
                </a:cubicBezTo>
                <a:cubicBezTo>
                  <a:pt x="89340" y="136646"/>
                  <a:pt x="85738" y="133044"/>
                  <a:pt x="85738" y="128608"/>
                </a:cubicBezTo>
                <a:cubicBezTo>
                  <a:pt x="85738" y="124171"/>
                  <a:pt x="89340" y="120570"/>
                  <a:pt x="93776" y="120570"/>
                </a:cubicBezTo>
                <a:close/>
                <a:moveTo>
                  <a:pt x="112532" y="128608"/>
                </a:moveTo>
                <a:cubicBezTo>
                  <a:pt x="112532" y="124171"/>
                  <a:pt x="116133" y="120570"/>
                  <a:pt x="120570" y="120570"/>
                </a:cubicBezTo>
                <a:cubicBezTo>
                  <a:pt x="125006" y="120570"/>
                  <a:pt x="128608" y="124171"/>
                  <a:pt x="128608" y="128608"/>
                </a:cubicBezTo>
                <a:cubicBezTo>
                  <a:pt x="128608" y="133044"/>
                  <a:pt x="125006" y="136646"/>
                  <a:pt x="120570" y="136646"/>
                </a:cubicBezTo>
                <a:cubicBezTo>
                  <a:pt x="116133" y="136646"/>
                  <a:pt x="112532" y="133044"/>
                  <a:pt x="112532" y="128608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0" name="Text 78"/>
          <p:cNvSpPr/>
          <p:nvPr/>
        </p:nvSpPr>
        <p:spPr>
          <a:xfrm>
            <a:off x="5792915" y="6306921"/>
            <a:ext cx="63446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 API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692632" y="6032559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201994" y="111969"/>
                </a:moveTo>
                <a:cubicBezTo>
                  <a:pt x="207018" y="106945"/>
                  <a:pt x="207018" y="98787"/>
                  <a:pt x="201994" y="93763"/>
                </a:cubicBezTo>
                <a:lnTo>
                  <a:pt x="137691" y="29459"/>
                </a:lnTo>
                <a:cubicBezTo>
                  <a:pt x="132667" y="24435"/>
                  <a:pt x="124508" y="24435"/>
                  <a:pt x="119484" y="29459"/>
                </a:cubicBezTo>
                <a:cubicBezTo>
                  <a:pt x="114461" y="34483"/>
                  <a:pt x="114461" y="42641"/>
                  <a:pt x="119484" y="47665"/>
                </a:cubicBezTo>
                <a:lnTo>
                  <a:pt x="161845" y="90025"/>
                </a:lnTo>
                <a:lnTo>
                  <a:pt x="12861" y="90025"/>
                </a:lnTo>
                <a:cubicBezTo>
                  <a:pt x="5747" y="90025"/>
                  <a:pt x="0" y="95772"/>
                  <a:pt x="0" y="102886"/>
                </a:cubicBezTo>
                <a:cubicBezTo>
                  <a:pt x="0" y="110000"/>
                  <a:pt x="5747" y="115747"/>
                  <a:pt x="12861" y="115747"/>
                </a:cubicBezTo>
                <a:lnTo>
                  <a:pt x="161845" y="115747"/>
                </a:lnTo>
                <a:lnTo>
                  <a:pt x="119484" y="158107"/>
                </a:lnTo>
                <a:cubicBezTo>
                  <a:pt x="114461" y="163131"/>
                  <a:pt x="114461" y="171289"/>
                  <a:pt x="119484" y="176313"/>
                </a:cubicBezTo>
                <a:cubicBezTo>
                  <a:pt x="124508" y="181337"/>
                  <a:pt x="132667" y="181337"/>
                  <a:pt x="137691" y="176313"/>
                </a:cubicBezTo>
                <a:lnTo>
                  <a:pt x="201994" y="112009"/>
                </a:lnTo>
                <a:close/>
              </a:path>
            </a:pathLst>
          </a:custGeom>
          <a:solidFill>
            <a:srgbClr val="8F8F8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2" name="Shape 80"/>
          <p:cNvSpPr/>
          <p:nvPr/>
        </p:nvSpPr>
        <p:spPr>
          <a:xfrm>
            <a:off x="7309841" y="5758196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68592" y="0"/>
                </a:moveTo>
                <a:lnTo>
                  <a:pt x="411543" y="0"/>
                </a:lnTo>
                <a:cubicBezTo>
                  <a:pt x="449425" y="0"/>
                  <a:pt x="480135" y="30710"/>
                  <a:pt x="480135" y="68592"/>
                </a:cubicBezTo>
                <a:lnTo>
                  <a:pt x="480135" y="411543"/>
                </a:lnTo>
                <a:cubicBezTo>
                  <a:pt x="480135" y="449425"/>
                  <a:pt x="449425" y="480135"/>
                  <a:pt x="411543" y="480135"/>
                </a:cubicBezTo>
                <a:lnTo>
                  <a:pt x="68592" y="480135"/>
                </a:lnTo>
                <a:cubicBezTo>
                  <a:pt x="30710" y="480135"/>
                  <a:pt x="0" y="449425"/>
                  <a:pt x="0" y="411543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3" name="Shape 81"/>
          <p:cNvSpPr/>
          <p:nvPr/>
        </p:nvSpPr>
        <p:spPr>
          <a:xfrm>
            <a:off x="7464171" y="5912525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40190" y="18755"/>
                </a:moveTo>
                <a:cubicBezTo>
                  <a:pt x="40190" y="8406"/>
                  <a:pt x="48596" y="0"/>
                  <a:pt x="58945" y="0"/>
                </a:cubicBezTo>
                <a:lnTo>
                  <a:pt x="66983" y="0"/>
                </a:lnTo>
                <a:cubicBezTo>
                  <a:pt x="72911" y="0"/>
                  <a:pt x="77700" y="4789"/>
                  <a:pt x="77700" y="10717"/>
                </a:cubicBezTo>
                <a:lnTo>
                  <a:pt x="77700" y="160759"/>
                </a:lnTo>
                <a:cubicBezTo>
                  <a:pt x="77700" y="166688"/>
                  <a:pt x="72911" y="171477"/>
                  <a:pt x="66983" y="171477"/>
                </a:cubicBezTo>
                <a:lnTo>
                  <a:pt x="56266" y="171477"/>
                </a:lnTo>
                <a:cubicBezTo>
                  <a:pt x="46285" y="171477"/>
                  <a:pt x="37879" y="164645"/>
                  <a:pt x="35501" y="155401"/>
                </a:cubicBezTo>
                <a:cubicBezTo>
                  <a:pt x="35267" y="155401"/>
                  <a:pt x="35066" y="155401"/>
                  <a:pt x="34831" y="155401"/>
                </a:cubicBezTo>
                <a:cubicBezTo>
                  <a:pt x="20028" y="155401"/>
                  <a:pt x="8038" y="143411"/>
                  <a:pt x="8038" y="128608"/>
                </a:cubicBezTo>
                <a:cubicBezTo>
                  <a:pt x="8038" y="122579"/>
                  <a:pt x="10047" y="117020"/>
                  <a:pt x="13397" y="112532"/>
                </a:cubicBezTo>
                <a:cubicBezTo>
                  <a:pt x="6899" y="107642"/>
                  <a:pt x="2679" y="99872"/>
                  <a:pt x="2679" y="91097"/>
                </a:cubicBezTo>
                <a:cubicBezTo>
                  <a:pt x="2679" y="80748"/>
                  <a:pt x="8574" y="71739"/>
                  <a:pt x="17148" y="67285"/>
                </a:cubicBezTo>
                <a:cubicBezTo>
                  <a:pt x="14770" y="63266"/>
                  <a:pt x="13397" y="58577"/>
                  <a:pt x="13397" y="53586"/>
                </a:cubicBezTo>
                <a:cubicBezTo>
                  <a:pt x="13397" y="38783"/>
                  <a:pt x="25387" y="26793"/>
                  <a:pt x="40190" y="26793"/>
                </a:cubicBezTo>
                <a:lnTo>
                  <a:pt x="40190" y="18755"/>
                </a:lnTo>
                <a:close/>
                <a:moveTo>
                  <a:pt x="131287" y="18755"/>
                </a:moveTo>
                <a:lnTo>
                  <a:pt x="131287" y="26793"/>
                </a:lnTo>
                <a:cubicBezTo>
                  <a:pt x="146090" y="26793"/>
                  <a:pt x="158080" y="38783"/>
                  <a:pt x="158080" y="53586"/>
                </a:cubicBezTo>
                <a:cubicBezTo>
                  <a:pt x="158080" y="58610"/>
                  <a:pt x="156707" y="63299"/>
                  <a:pt x="154329" y="67285"/>
                </a:cubicBezTo>
                <a:cubicBezTo>
                  <a:pt x="162936" y="71739"/>
                  <a:pt x="168797" y="80715"/>
                  <a:pt x="168797" y="91097"/>
                </a:cubicBezTo>
                <a:cubicBezTo>
                  <a:pt x="168797" y="99872"/>
                  <a:pt x="164578" y="107642"/>
                  <a:pt x="158080" y="112532"/>
                </a:cubicBezTo>
                <a:cubicBezTo>
                  <a:pt x="161429" y="117020"/>
                  <a:pt x="163439" y="122579"/>
                  <a:pt x="163439" y="128608"/>
                </a:cubicBezTo>
                <a:cubicBezTo>
                  <a:pt x="163439" y="143411"/>
                  <a:pt x="151449" y="155401"/>
                  <a:pt x="136646" y="155401"/>
                </a:cubicBezTo>
                <a:cubicBezTo>
                  <a:pt x="136411" y="155401"/>
                  <a:pt x="136210" y="155401"/>
                  <a:pt x="135976" y="155401"/>
                </a:cubicBezTo>
                <a:cubicBezTo>
                  <a:pt x="133598" y="164645"/>
                  <a:pt x="125191" y="171477"/>
                  <a:pt x="115211" y="171477"/>
                </a:cubicBezTo>
                <a:lnTo>
                  <a:pt x="104494" y="171477"/>
                </a:lnTo>
                <a:cubicBezTo>
                  <a:pt x="98566" y="171477"/>
                  <a:pt x="93776" y="166688"/>
                  <a:pt x="93776" y="160759"/>
                </a:cubicBezTo>
                <a:lnTo>
                  <a:pt x="93776" y="10717"/>
                </a:lnTo>
                <a:cubicBezTo>
                  <a:pt x="93776" y="4789"/>
                  <a:pt x="98566" y="0"/>
                  <a:pt x="104494" y="0"/>
                </a:cubicBezTo>
                <a:lnTo>
                  <a:pt x="112532" y="0"/>
                </a:lnTo>
                <a:cubicBezTo>
                  <a:pt x="122881" y="0"/>
                  <a:pt x="131287" y="8406"/>
                  <a:pt x="131287" y="18755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4" name="Text 82"/>
          <p:cNvSpPr/>
          <p:nvPr/>
        </p:nvSpPr>
        <p:spPr>
          <a:xfrm>
            <a:off x="7164193" y="6306921"/>
            <a:ext cx="77164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Modèle ML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201521" y="6032559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201994" y="111969"/>
                </a:moveTo>
                <a:cubicBezTo>
                  <a:pt x="207018" y="106945"/>
                  <a:pt x="207018" y="98787"/>
                  <a:pt x="201994" y="93763"/>
                </a:cubicBezTo>
                <a:lnTo>
                  <a:pt x="137691" y="29459"/>
                </a:lnTo>
                <a:cubicBezTo>
                  <a:pt x="132667" y="24435"/>
                  <a:pt x="124508" y="24435"/>
                  <a:pt x="119484" y="29459"/>
                </a:cubicBezTo>
                <a:cubicBezTo>
                  <a:pt x="114461" y="34483"/>
                  <a:pt x="114461" y="42641"/>
                  <a:pt x="119484" y="47665"/>
                </a:cubicBezTo>
                <a:lnTo>
                  <a:pt x="161845" y="90025"/>
                </a:lnTo>
                <a:lnTo>
                  <a:pt x="12861" y="90025"/>
                </a:lnTo>
                <a:cubicBezTo>
                  <a:pt x="5747" y="90025"/>
                  <a:pt x="0" y="95772"/>
                  <a:pt x="0" y="102886"/>
                </a:cubicBezTo>
                <a:cubicBezTo>
                  <a:pt x="0" y="110000"/>
                  <a:pt x="5747" y="115747"/>
                  <a:pt x="12861" y="115747"/>
                </a:cubicBezTo>
                <a:lnTo>
                  <a:pt x="161845" y="115747"/>
                </a:lnTo>
                <a:lnTo>
                  <a:pt x="119484" y="158107"/>
                </a:lnTo>
                <a:cubicBezTo>
                  <a:pt x="114461" y="163131"/>
                  <a:pt x="114461" y="171289"/>
                  <a:pt x="119484" y="176313"/>
                </a:cubicBezTo>
                <a:cubicBezTo>
                  <a:pt x="124508" y="181337"/>
                  <a:pt x="132667" y="181337"/>
                  <a:pt x="137691" y="176313"/>
                </a:cubicBezTo>
                <a:lnTo>
                  <a:pt x="201994" y="112009"/>
                </a:lnTo>
                <a:close/>
              </a:path>
            </a:pathLst>
          </a:custGeom>
          <a:solidFill>
            <a:srgbClr val="8F8F8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6" name="Shape 84"/>
          <p:cNvSpPr/>
          <p:nvPr/>
        </p:nvSpPr>
        <p:spPr>
          <a:xfrm>
            <a:off x="8707377" y="5758196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68592" y="0"/>
                </a:moveTo>
                <a:lnTo>
                  <a:pt x="411543" y="0"/>
                </a:lnTo>
                <a:cubicBezTo>
                  <a:pt x="449425" y="0"/>
                  <a:pt x="480135" y="30710"/>
                  <a:pt x="480135" y="68592"/>
                </a:cubicBezTo>
                <a:lnTo>
                  <a:pt x="480135" y="411543"/>
                </a:lnTo>
                <a:cubicBezTo>
                  <a:pt x="480135" y="449425"/>
                  <a:pt x="449425" y="480135"/>
                  <a:pt x="411543" y="480135"/>
                </a:cubicBezTo>
                <a:lnTo>
                  <a:pt x="68592" y="480135"/>
                </a:lnTo>
                <a:cubicBezTo>
                  <a:pt x="30710" y="480135"/>
                  <a:pt x="0" y="449425"/>
                  <a:pt x="0" y="411543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7" name="Shape 85"/>
          <p:cNvSpPr/>
          <p:nvPr/>
        </p:nvSpPr>
        <p:spPr>
          <a:xfrm>
            <a:off x="8872424" y="5912525"/>
            <a:ext cx="150042" cy="171477"/>
          </a:xfrm>
          <a:custGeom>
            <a:avLst/>
            <a:gdLst/>
            <a:ahLst/>
            <a:cxnLst/>
            <a:rect l="l" t="t" r="r" b="b"/>
            <a:pathLst>
              <a:path w="150042" h="171477">
                <a:moveTo>
                  <a:pt x="150042" y="68926"/>
                </a:moveTo>
                <a:cubicBezTo>
                  <a:pt x="145085" y="72208"/>
                  <a:pt x="139392" y="74854"/>
                  <a:pt x="133464" y="76964"/>
                </a:cubicBezTo>
                <a:cubicBezTo>
                  <a:pt x="117723" y="82590"/>
                  <a:pt x="97059" y="85738"/>
                  <a:pt x="75021" y="85738"/>
                </a:cubicBezTo>
                <a:cubicBezTo>
                  <a:pt x="52984" y="85738"/>
                  <a:pt x="32286" y="82557"/>
                  <a:pt x="16578" y="76964"/>
                </a:cubicBezTo>
                <a:cubicBezTo>
                  <a:pt x="10684" y="74854"/>
                  <a:pt x="4957" y="72208"/>
                  <a:pt x="0" y="68926"/>
                </a:cubicBezTo>
                <a:lnTo>
                  <a:pt x="0" y="96456"/>
                </a:lnTo>
                <a:cubicBezTo>
                  <a:pt x="0" y="111259"/>
                  <a:pt x="33592" y="123249"/>
                  <a:pt x="75021" y="123249"/>
                </a:cubicBezTo>
                <a:cubicBezTo>
                  <a:pt x="116450" y="123249"/>
                  <a:pt x="150042" y="111259"/>
                  <a:pt x="150042" y="96456"/>
                </a:cubicBezTo>
                <a:lnTo>
                  <a:pt x="150042" y="68926"/>
                </a:lnTo>
                <a:close/>
                <a:moveTo>
                  <a:pt x="150042" y="42869"/>
                </a:moveTo>
                <a:lnTo>
                  <a:pt x="150042" y="26793"/>
                </a:lnTo>
                <a:cubicBezTo>
                  <a:pt x="150042" y="11990"/>
                  <a:pt x="116450" y="0"/>
                  <a:pt x="75021" y="0"/>
                </a:cubicBezTo>
                <a:cubicBezTo>
                  <a:pt x="33592" y="0"/>
                  <a:pt x="0" y="11990"/>
                  <a:pt x="0" y="26793"/>
                </a:cubicBezTo>
                <a:lnTo>
                  <a:pt x="0" y="42869"/>
                </a:lnTo>
                <a:cubicBezTo>
                  <a:pt x="0" y="57672"/>
                  <a:pt x="33592" y="69662"/>
                  <a:pt x="75021" y="69662"/>
                </a:cubicBezTo>
                <a:cubicBezTo>
                  <a:pt x="116450" y="69662"/>
                  <a:pt x="150042" y="57672"/>
                  <a:pt x="150042" y="42869"/>
                </a:cubicBezTo>
                <a:close/>
                <a:moveTo>
                  <a:pt x="133464" y="130550"/>
                </a:moveTo>
                <a:cubicBezTo>
                  <a:pt x="117756" y="136143"/>
                  <a:pt x="97092" y="139325"/>
                  <a:pt x="75021" y="139325"/>
                </a:cubicBezTo>
                <a:cubicBezTo>
                  <a:pt x="52950" y="139325"/>
                  <a:pt x="32286" y="136143"/>
                  <a:pt x="16578" y="130550"/>
                </a:cubicBezTo>
                <a:cubicBezTo>
                  <a:pt x="10684" y="128440"/>
                  <a:pt x="4957" y="125794"/>
                  <a:pt x="0" y="122512"/>
                </a:cubicBezTo>
                <a:lnTo>
                  <a:pt x="0" y="144684"/>
                </a:lnTo>
                <a:cubicBezTo>
                  <a:pt x="0" y="159487"/>
                  <a:pt x="33592" y="171477"/>
                  <a:pt x="75021" y="171477"/>
                </a:cubicBezTo>
                <a:cubicBezTo>
                  <a:pt x="116450" y="171477"/>
                  <a:pt x="150042" y="159487"/>
                  <a:pt x="150042" y="144684"/>
                </a:cubicBezTo>
                <a:lnTo>
                  <a:pt x="150042" y="122512"/>
                </a:lnTo>
                <a:cubicBezTo>
                  <a:pt x="145085" y="125794"/>
                  <a:pt x="139392" y="128440"/>
                  <a:pt x="133464" y="13055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8" name="Text 86"/>
          <p:cNvSpPr/>
          <p:nvPr/>
        </p:nvSpPr>
        <p:spPr>
          <a:xfrm>
            <a:off x="8673082" y="6306921"/>
            <a:ext cx="54872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7642" y="998218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Utilisateur (UI)</a:t>
            </a:r>
            <a:endParaRPr lang="en-US" sz="160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3014ADE-E839-AB2F-4D15-4DD2CEB8AE98}"/>
              </a:ext>
            </a:extLst>
          </p:cNvPr>
          <p:cNvGrpSpPr/>
          <p:nvPr/>
        </p:nvGrpSpPr>
        <p:grpSpPr>
          <a:xfrm>
            <a:off x="490336" y="2872746"/>
            <a:ext cx="3818222" cy="2160270"/>
            <a:chOff x="384810" y="1413510"/>
            <a:chExt cx="3818222" cy="2160270"/>
          </a:xfrm>
        </p:grpSpPr>
        <p:sp>
          <p:nvSpPr>
            <p:cNvPr id="4" name="Shape 2"/>
            <p:cNvSpPr/>
            <p:nvPr/>
          </p:nvSpPr>
          <p:spPr>
            <a:xfrm>
              <a:off x="384810" y="1413510"/>
              <a:ext cx="3818222" cy="2160270"/>
            </a:xfrm>
            <a:custGeom>
              <a:avLst/>
              <a:gdLst/>
              <a:ahLst/>
              <a:cxnLst/>
              <a:rect l="l" t="t" r="r" b="b"/>
              <a:pathLst>
                <a:path w="5589270" h="2160270">
                  <a:moveTo>
                    <a:pt x="114300" y="0"/>
                  </a:moveTo>
                  <a:lnTo>
                    <a:pt x="5474970" y="0"/>
                  </a:lnTo>
                  <a:cubicBezTo>
                    <a:pt x="5538096" y="0"/>
                    <a:pt x="5589270" y="51174"/>
                    <a:pt x="5589270" y="114300"/>
                  </a:cubicBezTo>
                  <a:lnTo>
                    <a:pt x="5589270" y="2045970"/>
                  </a:lnTo>
                  <a:cubicBezTo>
                    <a:pt x="5589270" y="2109096"/>
                    <a:pt x="5538096" y="2160270"/>
                    <a:pt x="5474970" y="2160270"/>
                  </a:cubicBezTo>
                  <a:lnTo>
                    <a:pt x="114300" y="2160270"/>
                  </a:lnTo>
                  <a:cubicBezTo>
                    <a:pt x="51174" y="2160270"/>
                    <a:pt x="0" y="2109096"/>
                    <a:pt x="0" y="204597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262626"/>
            </a:solidFill>
            <a:ln w="1016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5" name="Shape 3"/>
            <p:cNvSpPr/>
            <p:nvPr/>
          </p:nvSpPr>
          <p:spPr>
            <a:xfrm>
              <a:off x="579120" y="160781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6366F1">
                <a:alpha val="20000"/>
              </a:srgbClr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6" name="Shape 4"/>
            <p:cNvSpPr/>
            <p:nvPr/>
          </p:nvSpPr>
          <p:spPr>
            <a:xfrm>
              <a:off x="712470" y="174116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03361" y="3200"/>
                  </a:moveTo>
                  <a:cubicBezTo>
                    <a:pt x="98785" y="-1042"/>
                    <a:pt x="91715" y="-1042"/>
                    <a:pt x="87176" y="3200"/>
                  </a:cubicBezTo>
                  <a:lnTo>
                    <a:pt x="3832" y="80590"/>
                  </a:lnTo>
                  <a:cubicBezTo>
                    <a:pt x="260" y="83939"/>
                    <a:pt x="-930" y="89111"/>
                    <a:pt x="856" y="93650"/>
                  </a:cubicBezTo>
                  <a:cubicBezTo>
                    <a:pt x="2642" y="98189"/>
                    <a:pt x="6995" y="101203"/>
                    <a:pt x="11906" y="101203"/>
                  </a:cubicBezTo>
                  <a:lnTo>
                    <a:pt x="17859" y="101203"/>
                  </a:lnTo>
                  <a:lnTo>
                    <a:pt x="17859" y="166688"/>
                  </a:lnTo>
                  <a:cubicBezTo>
                    <a:pt x="17859" y="179822"/>
                    <a:pt x="28538" y="190500"/>
                    <a:pt x="41672" y="190500"/>
                  </a:cubicBezTo>
                  <a:lnTo>
                    <a:pt x="148828" y="190500"/>
                  </a:lnTo>
                  <a:cubicBezTo>
                    <a:pt x="161962" y="190500"/>
                    <a:pt x="172641" y="179822"/>
                    <a:pt x="172641" y="166688"/>
                  </a:cubicBezTo>
                  <a:lnTo>
                    <a:pt x="172641" y="101203"/>
                  </a:lnTo>
                  <a:lnTo>
                    <a:pt x="178594" y="101203"/>
                  </a:lnTo>
                  <a:cubicBezTo>
                    <a:pt x="183505" y="101203"/>
                    <a:pt x="187896" y="98189"/>
                    <a:pt x="189681" y="93650"/>
                  </a:cubicBezTo>
                  <a:cubicBezTo>
                    <a:pt x="191467" y="89111"/>
                    <a:pt x="190277" y="83902"/>
                    <a:pt x="186705" y="80590"/>
                  </a:cubicBezTo>
                  <a:lnTo>
                    <a:pt x="103361" y="3200"/>
                  </a:lnTo>
                  <a:close/>
                  <a:moveTo>
                    <a:pt x="89297" y="119063"/>
                  </a:moveTo>
                  <a:lnTo>
                    <a:pt x="101203" y="119063"/>
                  </a:lnTo>
                  <a:cubicBezTo>
                    <a:pt x="111063" y="119063"/>
                    <a:pt x="119063" y="127062"/>
                    <a:pt x="119063" y="136922"/>
                  </a:cubicBezTo>
                  <a:lnTo>
                    <a:pt x="119063" y="172641"/>
                  </a:lnTo>
                  <a:lnTo>
                    <a:pt x="71438" y="172641"/>
                  </a:lnTo>
                  <a:lnTo>
                    <a:pt x="71438" y="136922"/>
                  </a:lnTo>
                  <a:cubicBezTo>
                    <a:pt x="71438" y="127062"/>
                    <a:pt x="79437" y="119063"/>
                    <a:pt x="89297" y="119063"/>
                  </a:cubicBezTo>
                  <a:close/>
                </a:path>
              </a:pathLst>
            </a:custGeom>
            <a:solidFill>
              <a:srgbClr val="6366F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7" name="Text 5"/>
            <p:cNvSpPr/>
            <p:nvPr/>
          </p:nvSpPr>
          <p:spPr>
            <a:xfrm>
              <a:off x="1150620" y="1684018"/>
              <a:ext cx="164782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Page d'Accueil</a:t>
              </a:r>
              <a:endParaRPr lang="en-US" sz="16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82931" y="2221228"/>
              <a:ext cx="3411554" cy="1150620"/>
            </a:xfrm>
            <a:custGeom>
              <a:avLst/>
              <a:gdLst/>
              <a:ahLst/>
              <a:cxnLst/>
              <a:rect l="l" t="t" r="r" b="b"/>
              <a:pathLst>
                <a:path w="5198745" h="1150620">
                  <a:moveTo>
                    <a:pt x="76206" y="0"/>
                  </a:moveTo>
                  <a:lnTo>
                    <a:pt x="5122539" y="0"/>
                  </a:lnTo>
                  <a:cubicBezTo>
                    <a:pt x="5164627" y="0"/>
                    <a:pt x="5198745" y="34118"/>
                    <a:pt x="5198745" y="76206"/>
                  </a:cubicBezTo>
                  <a:lnTo>
                    <a:pt x="5198745" y="1074414"/>
                  </a:lnTo>
                  <a:cubicBezTo>
                    <a:pt x="5198745" y="1116502"/>
                    <a:pt x="5164627" y="1150620"/>
                    <a:pt x="5122539" y="1150620"/>
                  </a:cubicBezTo>
                  <a:lnTo>
                    <a:pt x="76206" y="1150620"/>
                  </a:lnTo>
                  <a:cubicBezTo>
                    <a:pt x="34118" y="1150620"/>
                    <a:pt x="0" y="1116502"/>
                    <a:pt x="0" y="1074414"/>
                  </a:cubicBezTo>
                  <a:lnTo>
                    <a:pt x="0" y="76206"/>
                  </a:lnTo>
                  <a:cubicBezTo>
                    <a:pt x="0" y="34147"/>
                    <a:pt x="34147" y="0"/>
                    <a:pt x="76206" y="0"/>
                  </a:cubicBezTo>
                  <a:close/>
                </a:path>
              </a:pathLst>
            </a:custGeom>
            <a:solidFill>
              <a:srgbClr val="191919"/>
            </a:solidFill>
            <a:ln w="1016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9" name="Shape 7"/>
            <p:cNvSpPr/>
            <p:nvPr/>
          </p:nvSpPr>
          <p:spPr>
            <a:xfrm>
              <a:off x="767715" y="2415546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29421" y="20866"/>
                  </a:moveTo>
                  <a:cubicBezTo>
                    <a:pt x="133677" y="23961"/>
                    <a:pt x="134630" y="29914"/>
                    <a:pt x="131534" y="34171"/>
                  </a:cubicBezTo>
                  <a:lnTo>
                    <a:pt x="55334" y="138946"/>
                  </a:lnTo>
                  <a:cubicBezTo>
                    <a:pt x="53697" y="141208"/>
                    <a:pt x="51167" y="142607"/>
                    <a:pt x="48369" y="142845"/>
                  </a:cubicBezTo>
                  <a:cubicBezTo>
                    <a:pt x="45571" y="143083"/>
                    <a:pt x="42863" y="142042"/>
                    <a:pt x="40898" y="140077"/>
                  </a:cubicBezTo>
                  <a:lnTo>
                    <a:pt x="2798" y="101977"/>
                  </a:lnTo>
                  <a:cubicBezTo>
                    <a:pt x="-923" y="98256"/>
                    <a:pt x="-923" y="92214"/>
                    <a:pt x="2798" y="88493"/>
                  </a:cubicBezTo>
                  <a:cubicBezTo>
                    <a:pt x="6519" y="84773"/>
                    <a:pt x="12561" y="84773"/>
                    <a:pt x="16282" y="88493"/>
                  </a:cubicBezTo>
                  <a:lnTo>
                    <a:pt x="46494" y="118705"/>
                  </a:lnTo>
                  <a:lnTo>
                    <a:pt x="116145" y="22949"/>
                  </a:lnTo>
                  <a:cubicBezTo>
                    <a:pt x="119241" y="18693"/>
                    <a:pt x="125194" y="17740"/>
                    <a:pt x="129451" y="20836"/>
                  </a:cubicBezTo>
                  <a:close/>
                </a:path>
              </a:pathLst>
            </a:custGeom>
            <a:solidFill>
              <a:srgbClr val="6366F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10" name="Text 8"/>
            <p:cNvSpPr/>
            <p:nvPr/>
          </p:nvSpPr>
          <p:spPr>
            <a:xfrm>
              <a:off x="986791" y="2377446"/>
              <a:ext cx="2654768" cy="2514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Présentation du projet et objectifs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767715" y="2720346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29421" y="20866"/>
                  </a:moveTo>
                  <a:cubicBezTo>
                    <a:pt x="133677" y="23961"/>
                    <a:pt x="134630" y="29914"/>
                    <a:pt x="131534" y="34171"/>
                  </a:cubicBezTo>
                  <a:lnTo>
                    <a:pt x="55334" y="138946"/>
                  </a:lnTo>
                  <a:cubicBezTo>
                    <a:pt x="53697" y="141208"/>
                    <a:pt x="51167" y="142607"/>
                    <a:pt x="48369" y="142845"/>
                  </a:cubicBezTo>
                  <a:cubicBezTo>
                    <a:pt x="45571" y="143083"/>
                    <a:pt x="42863" y="142042"/>
                    <a:pt x="40898" y="140077"/>
                  </a:cubicBezTo>
                  <a:lnTo>
                    <a:pt x="2798" y="101977"/>
                  </a:lnTo>
                  <a:cubicBezTo>
                    <a:pt x="-923" y="98256"/>
                    <a:pt x="-923" y="92214"/>
                    <a:pt x="2798" y="88493"/>
                  </a:cubicBezTo>
                  <a:cubicBezTo>
                    <a:pt x="6519" y="84773"/>
                    <a:pt x="12561" y="84773"/>
                    <a:pt x="16282" y="88493"/>
                  </a:cubicBezTo>
                  <a:lnTo>
                    <a:pt x="46494" y="118705"/>
                  </a:lnTo>
                  <a:lnTo>
                    <a:pt x="116145" y="22949"/>
                  </a:lnTo>
                  <a:cubicBezTo>
                    <a:pt x="119241" y="18693"/>
                    <a:pt x="125194" y="17740"/>
                    <a:pt x="129451" y="20836"/>
                  </a:cubicBezTo>
                  <a:close/>
                </a:path>
              </a:pathLst>
            </a:custGeom>
            <a:solidFill>
              <a:srgbClr val="6366F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13" name="Shape 11"/>
            <p:cNvSpPr/>
            <p:nvPr/>
          </p:nvSpPr>
          <p:spPr>
            <a:xfrm>
              <a:off x="767715" y="3025146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29421" y="20866"/>
                  </a:moveTo>
                  <a:cubicBezTo>
                    <a:pt x="133677" y="23961"/>
                    <a:pt x="134630" y="29914"/>
                    <a:pt x="131534" y="34171"/>
                  </a:cubicBezTo>
                  <a:lnTo>
                    <a:pt x="55334" y="138946"/>
                  </a:lnTo>
                  <a:cubicBezTo>
                    <a:pt x="53697" y="141208"/>
                    <a:pt x="51167" y="142607"/>
                    <a:pt x="48369" y="142845"/>
                  </a:cubicBezTo>
                  <a:cubicBezTo>
                    <a:pt x="45571" y="143083"/>
                    <a:pt x="42863" y="142042"/>
                    <a:pt x="40898" y="140077"/>
                  </a:cubicBezTo>
                  <a:lnTo>
                    <a:pt x="2798" y="101977"/>
                  </a:lnTo>
                  <a:cubicBezTo>
                    <a:pt x="-923" y="98256"/>
                    <a:pt x="-923" y="92214"/>
                    <a:pt x="2798" y="88493"/>
                  </a:cubicBezTo>
                  <a:cubicBezTo>
                    <a:pt x="6519" y="84773"/>
                    <a:pt x="12561" y="84773"/>
                    <a:pt x="16282" y="88493"/>
                  </a:cubicBezTo>
                  <a:lnTo>
                    <a:pt x="46494" y="118705"/>
                  </a:lnTo>
                  <a:lnTo>
                    <a:pt x="116145" y="22949"/>
                  </a:lnTo>
                  <a:cubicBezTo>
                    <a:pt x="119241" y="18693"/>
                    <a:pt x="125194" y="17740"/>
                    <a:pt x="129451" y="20836"/>
                  </a:cubicBezTo>
                  <a:close/>
                </a:path>
              </a:pathLst>
            </a:custGeom>
            <a:solidFill>
              <a:srgbClr val="6366F1"/>
            </a:solidFill>
            <a:ln/>
          </p:spPr>
          <p:txBody>
            <a:bodyPr/>
            <a:lstStyle/>
            <a:p>
              <a:endParaRPr lang="fr-MA"/>
            </a:p>
          </p:txBody>
        </p:sp>
      </p:grpSp>
      <p:sp>
        <p:nvSpPr>
          <p:cNvPr id="14" name="Text 12"/>
          <p:cNvSpPr/>
          <p:nvPr/>
        </p:nvSpPr>
        <p:spPr>
          <a:xfrm>
            <a:off x="1006591" y="4158533"/>
            <a:ext cx="471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Statistiques globales</a:t>
            </a:r>
            <a:endParaRPr lang="en-US" sz="16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8C19AE18-23D7-CB49-C9B1-9E1170266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137" y="472594"/>
            <a:ext cx="6365105" cy="6385406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1006590" y="4457518"/>
            <a:ext cx="471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Accès rapide à la prédiction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77238-908F-44BD-1D49-67EA0CAAC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17743FB-77D9-9D8B-B6E0-970ADAC5F009}"/>
              </a:ext>
            </a:extLst>
          </p:cNvPr>
          <p:cNvSpPr/>
          <p:nvPr/>
        </p:nvSpPr>
        <p:spPr>
          <a:xfrm>
            <a:off x="227898" y="93124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Utilisateur (UI)</a:t>
            </a:r>
            <a:endParaRPr lang="en-US" sz="16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B9F4069-316E-2C3A-E856-05742F11BFD5}"/>
              </a:ext>
            </a:extLst>
          </p:cNvPr>
          <p:cNvGrpSpPr/>
          <p:nvPr/>
        </p:nvGrpSpPr>
        <p:grpSpPr>
          <a:xfrm>
            <a:off x="192405" y="2107530"/>
            <a:ext cx="5589270" cy="2769870"/>
            <a:chOff x="387667" y="3728083"/>
            <a:chExt cx="5589270" cy="2769870"/>
          </a:xfrm>
        </p:grpSpPr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CFFB62F7-D36A-89EE-E918-9D4544D7456B}"/>
                </a:ext>
              </a:extLst>
            </p:cNvPr>
            <p:cNvSpPr/>
            <p:nvPr/>
          </p:nvSpPr>
          <p:spPr>
            <a:xfrm>
              <a:off x="387667" y="3728083"/>
              <a:ext cx="5589270" cy="2769870"/>
            </a:xfrm>
            <a:custGeom>
              <a:avLst/>
              <a:gdLst/>
              <a:ahLst/>
              <a:cxnLst/>
              <a:rect l="l" t="t" r="r" b="b"/>
              <a:pathLst>
                <a:path w="5589270" h="2769870">
                  <a:moveTo>
                    <a:pt x="114313" y="0"/>
                  </a:moveTo>
                  <a:lnTo>
                    <a:pt x="5474957" y="0"/>
                  </a:lnTo>
                  <a:cubicBezTo>
                    <a:pt x="5538091" y="0"/>
                    <a:pt x="5589270" y="51179"/>
                    <a:pt x="5589270" y="114313"/>
                  </a:cubicBezTo>
                  <a:lnTo>
                    <a:pt x="5589270" y="2655557"/>
                  </a:lnTo>
                  <a:cubicBezTo>
                    <a:pt x="5589270" y="2718691"/>
                    <a:pt x="5538091" y="2769870"/>
                    <a:pt x="5474957" y="2769870"/>
                  </a:cubicBezTo>
                  <a:lnTo>
                    <a:pt x="114313" y="2769870"/>
                  </a:lnTo>
                  <a:cubicBezTo>
                    <a:pt x="51179" y="2769870"/>
                    <a:pt x="0" y="2718691"/>
                    <a:pt x="0" y="2655557"/>
                  </a:cubicBezTo>
                  <a:lnTo>
                    <a:pt x="0" y="114313"/>
                  </a:lnTo>
                  <a:cubicBezTo>
                    <a:pt x="0" y="51222"/>
                    <a:pt x="51222" y="0"/>
                    <a:pt x="114313" y="0"/>
                  </a:cubicBezTo>
                  <a:close/>
                </a:path>
              </a:pathLst>
            </a:custGeom>
            <a:solidFill>
              <a:srgbClr val="262626"/>
            </a:solidFill>
            <a:ln w="1016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708BDF5A-A510-0D09-978C-8FB7C23B6092}"/>
                </a:ext>
              </a:extLst>
            </p:cNvPr>
            <p:cNvSpPr/>
            <p:nvPr/>
          </p:nvSpPr>
          <p:spPr>
            <a:xfrm>
              <a:off x="57912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0B981">
                <a:alpha val="20000"/>
              </a:srgbClr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037B9654-2FA1-CF14-EDEF-83F2C08F53D5}"/>
                </a:ext>
              </a:extLst>
            </p:cNvPr>
            <p:cNvSpPr/>
            <p:nvPr/>
          </p:nvSpPr>
          <p:spPr>
            <a:xfrm>
              <a:off x="688658" y="4095750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50602" y="47625"/>
                  </a:moveTo>
                  <a:cubicBezTo>
                    <a:pt x="50602" y="22983"/>
                    <a:pt x="70608" y="2977"/>
                    <a:pt x="95250" y="2977"/>
                  </a:cubicBezTo>
                  <a:cubicBezTo>
                    <a:pt x="119892" y="2977"/>
                    <a:pt x="139898" y="22983"/>
                    <a:pt x="139898" y="47625"/>
                  </a:cubicBezTo>
                  <a:cubicBezTo>
                    <a:pt x="139898" y="72267"/>
                    <a:pt x="119892" y="92273"/>
                    <a:pt x="95250" y="92273"/>
                  </a:cubicBezTo>
                  <a:cubicBezTo>
                    <a:pt x="70608" y="92273"/>
                    <a:pt x="50602" y="72267"/>
                    <a:pt x="50602" y="47625"/>
                  </a:cubicBezTo>
                  <a:close/>
                  <a:moveTo>
                    <a:pt x="17859" y="179450"/>
                  </a:moveTo>
                  <a:cubicBezTo>
                    <a:pt x="17859" y="142801"/>
                    <a:pt x="47551" y="113109"/>
                    <a:pt x="84200" y="113109"/>
                  </a:cubicBezTo>
                  <a:lnTo>
                    <a:pt x="106300" y="113109"/>
                  </a:lnTo>
                  <a:cubicBezTo>
                    <a:pt x="142949" y="113109"/>
                    <a:pt x="172641" y="142801"/>
                    <a:pt x="172641" y="179450"/>
                  </a:cubicBezTo>
                  <a:cubicBezTo>
                    <a:pt x="172641" y="185551"/>
                    <a:pt x="167692" y="190500"/>
                    <a:pt x="161590" y="190500"/>
                  </a:cubicBezTo>
                  <a:lnTo>
                    <a:pt x="28910" y="190500"/>
                  </a:lnTo>
                  <a:cubicBezTo>
                    <a:pt x="22808" y="190500"/>
                    <a:pt x="17859" y="185551"/>
                    <a:pt x="17859" y="179450"/>
                  </a:cubicBezTo>
                  <a:close/>
                  <a:moveTo>
                    <a:pt x="202406" y="35719"/>
                  </a:moveTo>
                  <a:cubicBezTo>
                    <a:pt x="207355" y="35719"/>
                    <a:pt x="211336" y="39700"/>
                    <a:pt x="211336" y="44648"/>
                  </a:cubicBezTo>
                  <a:lnTo>
                    <a:pt x="211336" y="62508"/>
                  </a:lnTo>
                  <a:lnTo>
                    <a:pt x="229195" y="62508"/>
                  </a:lnTo>
                  <a:cubicBezTo>
                    <a:pt x="234144" y="62508"/>
                    <a:pt x="238125" y="66489"/>
                    <a:pt x="238125" y="71438"/>
                  </a:cubicBezTo>
                  <a:cubicBezTo>
                    <a:pt x="238125" y="76386"/>
                    <a:pt x="234144" y="80367"/>
                    <a:pt x="229195" y="80367"/>
                  </a:cubicBezTo>
                  <a:lnTo>
                    <a:pt x="211336" y="80367"/>
                  </a:lnTo>
                  <a:lnTo>
                    <a:pt x="211336" y="98227"/>
                  </a:lnTo>
                  <a:cubicBezTo>
                    <a:pt x="211336" y="103175"/>
                    <a:pt x="207355" y="107156"/>
                    <a:pt x="202406" y="107156"/>
                  </a:cubicBezTo>
                  <a:cubicBezTo>
                    <a:pt x="197458" y="107156"/>
                    <a:pt x="193477" y="103175"/>
                    <a:pt x="193477" y="98227"/>
                  </a:cubicBezTo>
                  <a:lnTo>
                    <a:pt x="193477" y="80367"/>
                  </a:lnTo>
                  <a:lnTo>
                    <a:pt x="175617" y="80367"/>
                  </a:lnTo>
                  <a:cubicBezTo>
                    <a:pt x="170669" y="80367"/>
                    <a:pt x="166688" y="76386"/>
                    <a:pt x="166688" y="71438"/>
                  </a:cubicBezTo>
                  <a:cubicBezTo>
                    <a:pt x="166688" y="66489"/>
                    <a:pt x="170669" y="62508"/>
                    <a:pt x="175617" y="62508"/>
                  </a:cubicBezTo>
                  <a:lnTo>
                    <a:pt x="193477" y="62508"/>
                  </a:lnTo>
                  <a:lnTo>
                    <a:pt x="193477" y="44648"/>
                  </a:lnTo>
                  <a:cubicBezTo>
                    <a:pt x="193477" y="39700"/>
                    <a:pt x="197458" y="35719"/>
                    <a:pt x="202406" y="35719"/>
                  </a:cubicBezTo>
                  <a:close/>
                </a:path>
              </a:pathLst>
            </a:custGeom>
            <a:solidFill>
              <a:srgbClr val="10B98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9B542ED9-B1F4-F7FE-81F1-0AEDDCD38D03}"/>
                </a:ext>
              </a:extLst>
            </p:cNvPr>
            <p:cNvSpPr/>
            <p:nvPr/>
          </p:nvSpPr>
          <p:spPr>
            <a:xfrm>
              <a:off x="1150620" y="4038600"/>
              <a:ext cx="229552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Inscription Sécurisée</a:t>
              </a:r>
              <a:endParaRPr lang="en-US" sz="1600" dirty="0"/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C6BFEB03-EC12-63BE-48E4-5DDD6F7354BB}"/>
                </a:ext>
              </a:extLst>
            </p:cNvPr>
            <p:cNvSpPr/>
            <p:nvPr/>
          </p:nvSpPr>
          <p:spPr>
            <a:xfrm>
              <a:off x="582930" y="4575810"/>
              <a:ext cx="5198745" cy="1760220"/>
            </a:xfrm>
            <a:custGeom>
              <a:avLst/>
              <a:gdLst/>
              <a:ahLst/>
              <a:cxnLst/>
              <a:rect l="l" t="t" r="r" b="b"/>
              <a:pathLst>
                <a:path w="5198745" h="1760220">
                  <a:moveTo>
                    <a:pt x="76200" y="0"/>
                  </a:moveTo>
                  <a:lnTo>
                    <a:pt x="5122545" y="0"/>
                  </a:lnTo>
                  <a:cubicBezTo>
                    <a:pt x="5164629" y="0"/>
                    <a:pt x="5198745" y="34116"/>
                    <a:pt x="5198745" y="76200"/>
                  </a:cubicBezTo>
                  <a:lnTo>
                    <a:pt x="5198745" y="1684020"/>
                  </a:lnTo>
                  <a:cubicBezTo>
                    <a:pt x="5198745" y="1726104"/>
                    <a:pt x="5164629" y="1760220"/>
                    <a:pt x="5122545" y="1760220"/>
                  </a:cubicBezTo>
                  <a:lnTo>
                    <a:pt x="76200" y="1760220"/>
                  </a:lnTo>
                  <a:cubicBezTo>
                    <a:pt x="34116" y="1760220"/>
                    <a:pt x="0" y="1726104"/>
                    <a:pt x="0" y="168402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91919"/>
            </a:solidFill>
            <a:ln w="1016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05C7CB7A-4F96-D17E-EC44-65ADBDFDC37B}"/>
                </a:ext>
              </a:extLst>
            </p:cNvPr>
            <p:cNvSpPr/>
            <p:nvPr/>
          </p:nvSpPr>
          <p:spPr>
            <a:xfrm>
              <a:off x="796290" y="4865368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57150" y="42863"/>
                  </a:moveTo>
                  <a:lnTo>
                    <a:pt x="57150" y="71438"/>
                  </a:lnTo>
                  <a:lnTo>
                    <a:pt x="114300" y="71438"/>
                  </a:lnTo>
                  <a:lnTo>
                    <a:pt x="114300" y="42863"/>
                  </a:lnTo>
                  <a:cubicBezTo>
                    <a:pt x="114300" y="27102"/>
                    <a:pt x="101486" y="14288"/>
                    <a:pt x="85725" y="14288"/>
                  </a:cubicBezTo>
                  <a:cubicBezTo>
                    <a:pt x="69964" y="14288"/>
                    <a:pt x="57150" y="27102"/>
                    <a:pt x="57150" y="42863"/>
                  </a:cubicBezTo>
                  <a:close/>
                  <a:moveTo>
                    <a:pt x="28575" y="71438"/>
                  </a:moveTo>
                  <a:lnTo>
                    <a:pt x="28575" y="42863"/>
                  </a:lnTo>
                  <a:cubicBezTo>
                    <a:pt x="28575" y="11296"/>
                    <a:pt x="54159" y="-14287"/>
                    <a:pt x="85725" y="-14287"/>
                  </a:cubicBezTo>
                  <a:cubicBezTo>
                    <a:pt x="117291" y="-14287"/>
                    <a:pt x="142875" y="11296"/>
                    <a:pt x="142875" y="42863"/>
                  </a:cubicBezTo>
                  <a:lnTo>
                    <a:pt x="142875" y="71438"/>
                  </a:lnTo>
                  <a:cubicBezTo>
                    <a:pt x="158636" y="71438"/>
                    <a:pt x="171450" y="84252"/>
                    <a:pt x="171450" y="100013"/>
                  </a:cubicBezTo>
                  <a:lnTo>
                    <a:pt x="171450" y="200025"/>
                  </a:lnTo>
                  <a:cubicBezTo>
                    <a:pt x="171450" y="215786"/>
                    <a:pt x="158636" y="228600"/>
                    <a:pt x="142875" y="228600"/>
                  </a:cubicBezTo>
                  <a:lnTo>
                    <a:pt x="28575" y="228600"/>
                  </a:lnTo>
                  <a:cubicBezTo>
                    <a:pt x="12814" y="228600"/>
                    <a:pt x="0" y="215786"/>
                    <a:pt x="0" y="200025"/>
                  </a:cubicBezTo>
                  <a:lnTo>
                    <a:pt x="0" y="100013"/>
                  </a:lnTo>
                  <a:cubicBezTo>
                    <a:pt x="0" y="84252"/>
                    <a:pt x="12814" y="71438"/>
                    <a:pt x="28575" y="71438"/>
                  </a:cubicBezTo>
                  <a:close/>
                </a:path>
              </a:pathLst>
            </a:custGeom>
            <a:solidFill>
              <a:srgbClr val="10B98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7C57AE00-C8F5-E3B8-7CDF-0F1828CA8861}"/>
                </a:ext>
              </a:extLst>
            </p:cNvPr>
            <p:cNvSpPr/>
            <p:nvPr/>
          </p:nvSpPr>
          <p:spPr>
            <a:xfrm>
              <a:off x="1139190" y="4732018"/>
              <a:ext cx="2667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SHA-256</a:t>
              </a:r>
              <a:endParaRPr lang="en-US" sz="16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E1C778D0-3945-FC7D-BB4E-8AD0E60A7016}"/>
                </a:ext>
              </a:extLst>
            </p:cNvPr>
            <p:cNvSpPr/>
            <p:nvPr/>
          </p:nvSpPr>
          <p:spPr>
            <a:xfrm>
              <a:off x="1139190" y="4998718"/>
              <a:ext cx="26574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8F8F8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Hachage sécurisé des mots de passe</a:t>
              </a:r>
              <a:endParaRPr lang="en-US" sz="16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F902CB12-6DAC-4065-B0DB-32833960F08B}"/>
                </a:ext>
              </a:extLst>
            </p:cNvPr>
            <p:cNvSpPr/>
            <p:nvPr/>
          </p:nvSpPr>
          <p:spPr>
            <a:xfrm>
              <a:off x="767715" y="5379718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29421" y="20866"/>
                  </a:moveTo>
                  <a:cubicBezTo>
                    <a:pt x="133677" y="23961"/>
                    <a:pt x="134630" y="29914"/>
                    <a:pt x="131534" y="34171"/>
                  </a:cubicBezTo>
                  <a:lnTo>
                    <a:pt x="55334" y="138946"/>
                  </a:lnTo>
                  <a:cubicBezTo>
                    <a:pt x="53697" y="141208"/>
                    <a:pt x="51167" y="142607"/>
                    <a:pt x="48369" y="142845"/>
                  </a:cubicBezTo>
                  <a:cubicBezTo>
                    <a:pt x="45571" y="143083"/>
                    <a:pt x="42863" y="142042"/>
                    <a:pt x="40898" y="140077"/>
                  </a:cubicBezTo>
                  <a:lnTo>
                    <a:pt x="2798" y="101977"/>
                  </a:lnTo>
                  <a:cubicBezTo>
                    <a:pt x="-923" y="98256"/>
                    <a:pt x="-923" y="92214"/>
                    <a:pt x="2798" y="88493"/>
                  </a:cubicBezTo>
                  <a:cubicBezTo>
                    <a:pt x="6519" y="84773"/>
                    <a:pt x="12561" y="84773"/>
                    <a:pt x="16282" y="88493"/>
                  </a:cubicBezTo>
                  <a:lnTo>
                    <a:pt x="46494" y="118705"/>
                  </a:lnTo>
                  <a:lnTo>
                    <a:pt x="116145" y="22949"/>
                  </a:lnTo>
                  <a:cubicBezTo>
                    <a:pt x="119241" y="18693"/>
                    <a:pt x="125194" y="17740"/>
                    <a:pt x="129451" y="20836"/>
                  </a:cubicBezTo>
                  <a:close/>
                </a:path>
              </a:pathLst>
            </a:custGeom>
            <a:solidFill>
              <a:srgbClr val="10B98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D050479C-A1D4-D4D3-B6F1-77D757B04BE9}"/>
                </a:ext>
              </a:extLst>
            </p:cNvPr>
            <p:cNvSpPr/>
            <p:nvPr/>
          </p:nvSpPr>
          <p:spPr>
            <a:xfrm>
              <a:off x="986790" y="5341618"/>
              <a:ext cx="47148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Validation des entrées</a:t>
              </a:r>
              <a:endParaRPr lang="en-US" sz="1600" dirty="0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4D6E3F36-4321-B6CC-934C-E9B31F7B4689}"/>
                </a:ext>
              </a:extLst>
            </p:cNvPr>
            <p:cNvSpPr/>
            <p:nvPr/>
          </p:nvSpPr>
          <p:spPr>
            <a:xfrm>
              <a:off x="767715" y="5684518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29421" y="20866"/>
                  </a:moveTo>
                  <a:cubicBezTo>
                    <a:pt x="133677" y="23961"/>
                    <a:pt x="134630" y="29914"/>
                    <a:pt x="131534" y="34171"/>
                  </a:cubicBezTo>
                  <a:lnTo>
                    <a:pt x="55334" y="138946"/>
                  </a:lnTo>
                  <a:cubicBezTo>
                    <a:pt x="53697" y="141208"/>
                    <a:pt x="51167" y="142607"/>
                    <a:pt x="48369" y="142845"/>
                  </a:cubicBezTo>
                  <a:cubicBezTo>
                    <a:pt x="45571" y="143083"/>
                    <a:pt x="42863" y="142042"/>
                    <a:pt x="40898" y="140077"/>
                  </a:cubicBezTo>
                  <a:lnTo>
                    <a:pt x="2798" y="101977"/>
                  </a:lnTo>
                  <a:cubicBezTo>
                    <a:pt x="-923" y="98256"/>
                    <a:pt x="-923" y="92214"/>
                    <a:pt x="2798" y="88493"/>
                  </a:cubicBezTo>
                  <a:cubicBezTo>
                    <a:pt x="6519" y="84773"/>
                    <a:pt x="12561" y="84773"/>
                    <a:pt x="16282" y="88493"/>
                  </a:cubicBezTo>
                  <a:lnTo>
                    <a:pt x="46494" y="118705"/>
                  </a:lnTo>
                  <a:lnTo>
                    <a:pt x="116145" y="22949"/>
                  </a:lnTo>
                  <a:cubicBezTo>
                    <a:pt x="119241" y="18693"/>
                    <a:pt x="125194" y="17740"/>
                    <a:pt x="129451" y="20836"/>
                  </a:cubicBezTo>
                  <a:close/>
                </a:path>
              </a:pathLst>
            </a:custGeom>
            <a:solidFill>
              <a:srgbClr val="10B98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40D14735-2D51-0DFB-8AF3-A8740E90B766}"/>
                </a:ext>
              </a:extLst>
            </p:cNvPr>
            <p:cNvSpPr/>
            <p:nvPr/>
          </p:nvSpPr>
          <p:spPr>
            <a:xfrm>
              <a:off x="986790" y="5646418"/>
              <a:ext cx="47148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Protection contre les injections SQL</a:t>
              </a:r>
              <a:endParaRPr lang="en-US" sz="1600" dirty="0"/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635ACFFF-7A25-6C41-9982-46CDA6FF190D}"/>
                </a:ext>
              </a:extLst>
            </p:cNvPr>
            <p:cNvSpPr/>
            <p:nvPr/>
          </p:nvSpPr>
          <p:spPr>
            <a:xfrm>
              <a:off x="767715" y="5989318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29421" y="20866"/>
                  </a:moveTo>
                  <a:cubicBezTo>
                    <a:pt x="133677" y="23961"/>
                    <a:pt x="134630" y="29914"/>
                    <a:pt x="131534" y="34171"/>
                  </a:cubicBezTo>
                  <a:lnTo>
                    <a:pt x="55334" y="138946"/>
                  </a:lnTo>
                  <a:cubicBezTo>
                    <a:pt x="53697" y="141208"/>
                    <a:pt x="51167" y="142607"/>
                    <a:pt x="48369" y="142845"/>
                  </a:cubicBezTo>
                  <a:cubicBezTo>
                    <a:pt x="45571" y="143083"/>
                    <a:pt x="42863" y="142042"/>
                    <a:pt x="40898" y="140077"/>
                  </a:cubicBezTo>
                  <a:lnTo>
                    <a:pt x="2798" y="101977"/>
                  </a:lnTo>
                  <a:cubicBezTo>
                    <a:pt x="-923" y="98256"/>
                    <a:pt x="-923" y="92214"/>
                    <a:pt x="2798" y="88493"/>
                  </a:cubicBezTo>
                  <a:cubicBezTo>
                    <a:pt x="6519" y="84773"/>
                    <a:pt x="12561" y="84773"/>
                    <a:pt x="16282" y="88493"/>
                  </a:cubicBezTo>
                  <a:lnTo>
                    <a:pt x="46494" y="118705"/>
                  </a:lnTo>
                  <a:lnTo>
                    <a:pt x="116145" y="22949"/>
                  </a:lnTo>
                  <a:cubicBezTo>
                    <a:pt x="119241" y="18693"/>
                    <a:pt x="125194" y="17740"/>
                    <a:pt x="129451" y="20836"/>
                  </a:cubicBezTo>
                  <a:close/>
                </a:path>
              </a:pathLst>
            </a:custGeom>
            <a:solidFill>
              <a:srgbClr val="10B98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414E64D1-05DE-1506-F108-5B6FED1F3A91}"/>
                </a:ext>
              </a:extLst>
            </p:cNvPr>
            <p:cNvSpPr/>
            <p:nvPr/>
          </p:nvSpPr>
          <p:spPr>
            <a:xfrm>
              <a:off x="986790" y="5951218"/>
              <a:ext cx="47148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Sessions utilisateurs sécurisées</a:t>
              </a:r>
              <a:endParaRPr lang="en-US" sz="1600" dirty="0"/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F627155D-680E-2B60-57D3-E2A93B9E9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097" y="786971"/>
            <a:ext cx="4505954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5456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6BFCB-B450-CBA8-8D31-19FE20529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CA52591-1FDE-3CB9-7BBD-2549117AC502}"/>
              </a:ext>
            </a:extLst>
          </p:cNvPr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Utilisateur (UI)</a:t>
            </a:r>
            <a:endParaRPr lang="en-US" sz="16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EEE865E-4A10-AD9F-D085-553C9457EABF}"/>
              </a:ext>
            </a:extLst>
          </p:cNvPr>
          <p:cNvGrpSpPr/>
          <p:nvPr/>
        </p:nvGrpSpPr>
        <p:grpSpPr>
          <a:xfrm>
            <a:off x="182279" y="1354455"/>
            <a:ext cx="5589270" cy="5122545"/>
            <a:chOff x="6214110" y="1413510"/>
            <a:chExt cx="5589270" cy="5122545"/>
          </a:xfrm>
        </p:grpSpPr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33D6431A-ADC7-1EB1-70F7-2BCB59EA12E9}"/>
                </a:ext>
              </a:extLst>
            </p:cNvPr>
            <p:cNvSpPr/>
            <p:nvPr/>
          </p:nvSpPr>
          <p:spPr>
            <a:xfrm>
              <a:off x="6214110" y="1413510"/>
              <a:ext cx="5589270" cy="5122545"/>
            </a:xfrm>
            <a:custGeom>
              <a:avLst/>
              <a:gdLst/>
              <a:ahLst/>
              <a:cxnLst/>
              <a:rect l="l" t="t" r="r" b="b"/>
              <a:pathLst>
                <a:path w="5589270" h="5122545">
                  <a:moveTo>
                    <a:pt x="114284" y="0"/>
                  </a:moveTo>
                  <a:lnTo>
                    <a:pt x="5474986" y="0"/>
                  </a:lnTo>
                  <a:cubicBezTo>
                    <a:pt x="5538103" y="0"/>
                    <a:pt x="5589270" y="51167"/>
                    <a:pt x="5589270" y="114284"/>
                  </a:cubicBezTo>
                  <a:lnTo>
                    <a:pt x="5589270" y="5008261"/>
                  </a:lnTo>
                  <a:cubicBezTo>
                    <a:pt x="5589270" y="5071378"/>
                    <a:pt x="5538103" y="5122545"/>
                    <a:pt x="5474986" y="5122545"/>
                  </a:cubicBezTo>
                  <a:lnTo>
                    <a:pt x="114284" y="5122545"/>
                  </a:lnTo>
                  <a:cubicBezTo>
                    <a:pt x="51167" y="5122545"/>
                    <a:pt x="0" y="5071378"/>
                    <a:pt x="0" y="5008261"/>
                  </a:cubicBezTo>
                  <a:lnTo>
                    <a:pt x="0" y="114284"/>
                  </a:lnTo>
                  <a:cubicBezTo>
                    <a:pt x="0" y="51209"/>
                    <a:pt x="51209" y="0"/>
                    <a:pt x="114284" y="0"/>
                  </a:cubicBezTo>
                  <a:close/>
                </a:path>
              </a:pathLst>
            </a:custGeom>
            <a:solidFill>
              <a:srgbClr val="262626"/>
            </a:solidFill>
            <a:ln w="1016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22E98CE5-A791-F797-7482-99F0D80977BB}"/>
                </a:ext>
              </a:extLst>
            </p:cNvPr>
            <p:cNvSpPr/>
            <p:nvPr/>
          </p:nvSpPr>
          <p:spPr>
            <a:xfrm>
              <a:off x="6408420" y="160781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F59E0B">
                <a:alpha val="20000"/>
              </a:srgbClr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EE470183-2C01-9459-8B33-EC05E8B2309C}"/>
                </a:ext>
              </a:extLst>
            </p:cNvPr>
            <p:cNvSpPr/>
            <p:nvPr/>
          </p:nvSpPr>
          <p:spPr>
            <a:xfrm>
              <a:off x="6541770" y="174116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75468" y="8074"/>
                  </a:moveTo>
                  <a:cubicBezTo>
                    <a:pt x="167320" y="-74"/>
                    <a:pt x="154149" y="-74"/>
                    <a:pt x="146000" y="8074"/>
                  </a:cubicBezTo>
                  <a:lnTo>
                    <a:pt x="136922" y="17152"/>
                  </a:lnTo>
                  <a:lnTo>
                    <a:pt x="173348" y="53578"/>
                  </a:lnTo>
                  <a:lnTo>
                    <a:pt x="182426" y="44500"/>
                  </a:lnTo>
                  <a:cubicBezTo>
                    <a:pt x="190574" y="36351"/>
                    <a:pt x="190574" y="23180"/>
                    <a:pt x="182426" y="15032"/>
                  </a:cubicBezTo>
                  <a:lnTo>
                    <a:pt x="175468" y="8074"/>
                  </a:lnTo>
                  <a:close/>
                  <a:moveTo>
                    <a:pt x="64145" y="89929"/>
                  </a:moveTo>
                  <a:cubicBezTo>
                    <a:pt x="61875" y="92199"/>
                    <a:pt x="60127" y="94990"/>
                    <a:pt x="59122" y="98078"/>
                  </a:cubicBezTo>
                  <a:lnTo>
                    <a:pt x="48109" y="131118"/>
                  </a:lnTo>
                  <a:cubicBezTo>
                    <a:pt x="47030" y="134317"/>
                    <a:pt x="47885" y="137852"/>
                    <a:pt x="50267" y="140271"/>
                  </a:cubicBezTo>
                  <a:cubicBezTo>
                    <a:pt x="52648" y="142689"/>
                    <a:pt x="56183" y="143508"/>
                    <a:pt x="59420" y="142429"/>
                  </a:cubicBezTo>
                  <a:lnTo>
                    <a:pt x="92459" y="131415"/>
                  </a:lnTo>
                  <a:cubicBezTo>
                    <a:pt x="95510" y="130411"/>
                    <a:pt x="98301" y="128662"/>
                    <a:pt x="100608" y="126392"/>
                  </a:cubicBezTo>
                  <a:lnTo>
                    <a:pt x="160734" y="66191"/>
                  </a:lnTo>
                  <a:lnTo>
                    <a:pt x="124309" y="29766"/>
                  </a:lnTo>
                  <a:lnTo>
                    <a:pt x="64145" y="89929"/>
                  </a:lnTo>
                  <a:close/>
                  <a:moveTo>
                    <a:pt x="35719" y="23812"/>
                  </a:moveTo>
                  <a:cubicBezTo>
                    <a:pt x="15999" y="23812"/>
                    <a:pt x="0" y="39812"/>
                    <a:pt x="0" y="59531"/>
                  </a:cubicBezTo>
                  <a:lnTo>
                    <a:pt x="0" y="154781"/>
                  </a:lnTo>
                  <a:cubicBezTo>
                    <a:pt x="0" y="174501"/>
                    <a:pt x="15999" y="190500"/>
                    <a:pt x="35719" y="190500"/>
                  </a:cubicBezTo>
                  <a:lnTo>
                    <a:pt x="130969" y="190500"/>
                  </a:lnTo>
                  <a:cubicBezTo>
                    <a:pt x="150688" y="190500"/>
                    <a:pt x="166688" y="174501"/>
                    <a:pt x="166688" y="154781"/>
                  </a:cubicBezTo>
                  <a:lnTo>
                    <a:pt x="166688" y="119063"/>
                  </a:lnTo>
                  <a:cubicBezTo>
                    <a:pt x="166688" y="112477"/>
                    <a:pt x="161367" y="107156"/>
                    <a:pt x="154781" y="107156"/>
                  </a:cubicBezTo>
                  <a:cubicBezTo>
                    <a:pt x="148196" y="107156"/>
                    <a:pt x="142875" y="112477"/>
                    <a:pt x="142875" y="119063"/>
                  </a:cubicBezTo>
                  <a:lnTo>
                    <a:pt x="142875" y="154781"/>
                  </a:lnTo>
                  <a:cubicBezTo>
                    <a:pt x="142875" y="161367"/>
                    <a:pt x="137554" y="166688"/>
                    <a:pt x="130969" y="166688"/>
                  </a:cubicBezTo>
                  <a:lnTo>
                    <a:pt x="35719" y="166688"/>
                  </a:lnTo>
                  <a:cubicBezTo>
                    <a:pt x="29133" y="166688"/>
                    <a:pt x="23812" y="161367"/>
                    <a:pt x="23812" y="154781"/>
                  </a:cubicBezTo>
                  <a:lnTo>
                    <a:pt x="23812" y="59531"/>
                  </a:lnTo>
                  <a:cubicBezTo>
                    <a:pt x="23812" y="52946"/>
                    <a:pt x="29133" y="47625"/>
                    <a:pt x="35719" y="47625"/>
                  </a:cubicBezTo>
                  <a:lnTo>
                    <a:pt x="71438" y="47625"/>
                  </a:lnTo>
                  <a:cubicBezTo>
                    <a:pt x="78023" y="47625"/>
                    <a:pt x="83344" y="42304"/>
                    <a:pt x="83344" y="35719"/>
                  </a:cubicBezTo>
                  <a:cubicBezTo>
                    <a:pt x="83344" y="29133"/>
                    <a:pt x="78023" y="23812"/>
                    <a:pt x="71438" y="23812"/>
                  </a:cubicBezTo>
                  <a:lnTo>
                    <a:pt x="35719" y="23812"/>
                  </a:lnTo>
                  <a:close/>
                </a:path>
              </a:pathLst>
            </a:custGeom>
            <a:solidFill>
              <a:srgbClr val="F59E0B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C3A82E98-DF90-0B2A-C58B-B0FEC0B42B54}"/>
                </a:ext>
              </a:extLst>
            </p:cNvPr>
            <p:cNvSpPr/>
            <p:nvPr/>
          </p:nvSpPr>
          <p:spPr>
            <a:xfrm>
              <a:off x="6979920" y="1684018"/>
              <a:ext cx="22479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Formulaire de Saisie</a:t>
              </a:r>
              <a:endParaRPr lang="en-US" sz="1600" dirty="0"/>
            </a:p>
          </p:txBody>
        </p:sp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64E9F197-9699-9B43-4B14-5C2869FA601C}"/>
                </a:ext>
              </a:extLst>
            </p:cNvPr>
            <p:cNvSpPr/>
            <p:nvPr/>
          </p:nvSpPr>
          <p:spPr>
            <a:xfrm>
              <a:off x="6412230" y="2289810"/>
              <a:ext cx="5198745" cy="1950720"/>
            </a:xfrm>
            <a:custGeom>
              <a:avLst/>
              <a:gdLst/>
              <a:ahLst/>
              <a:cxnLst/>
              <a:rect l="l" t="t" r="r" b="b"/>
              <a:pathLst>
                <a:path w="5198745" h="1950720">
                  <a:moveTo>
                    <a:pt x="76195" y="0"/>
                  </a:moveTo>
                  <a:lnTo>
                    <a:pt x="5122550" y="0"/>
                  </a:lnTo>
                  <a:cubicBezTo>
                    <a:pt x="5164631" y="0"/>
                    <a:pt x="5198745" y="34114"/>
                    <a:pt x="5198745" y="76195"/>
                  </a:cubicBezTo>
                  <a:lnTo>
                    <a:pt x="5198745" y="1874525"/>
                  </a:lnTo>
                  <a:cubicBezTo>
                    <a:pt x="5198745" y="1916606"/>
                    <a:pt x="5164631" y="1950720"/>
                    <a:pt x="5122550" y="1950720"/>
                  </a:cubicBezTo>
                  <a:lnTo>
                    <a:pt x="76195" y="1950720"/>
                  </a:lnTo>
                  <a:cubicBezTo>
                    <a:pt x="34114" y="1950720"/>
                    <a:pt x="0" y="1916606"/>
                    <a:pt x="0" y="1874525"/>
                  </a:cubicBezTo>
                  <a:lnTo>
                    <a:pt x="0" y="76195"/>
                  </a:lnTo>
                  <a:cubicBezTo>
                    <a:pt x="0" y="34142"/>
                    <a:pt x="34142" y="0"/>
                    <a:pt x="76195" y="0"/>
                  </a:cubicBezTo>
                  <a:close/>
                </a:path>
              </a:pathLst>
            </a:custGeom>
            <a:solidFill>
              <a:srgbClr val="191919"/>
            </a:solidFill>
            <a:ln w="1016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460BE2B2-F68D-1329-44EA-EB35A74FBDF3}"/>
                </a:ext>
              </a:extLst>
            </p:cNvPr>
            <p:cNvSpPr/>
            <p:nvPr/>
          </p:nvSpPr>
          <p:spPr>
            <a:xfrm>
              <a:off x="6568440" y="2446018"/>
              <a:ext cx="49625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F59E0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15 Variables Dynamiques</a:t>
              </a:r>
              <a:endParaRPr lang="en-US" sz="1600" dirty="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DC9F64BA-0CCE-1B00-FCBF-7D71D5E9EED6}"/>
                </a:ext>
              </a:extLst>
            </p:cNvPr>
            <p:cNvSpPr/>
            <p:nvPr/>
          </p:nvSpPr>
          <p:spPr>
            <a:xfrm>
              <a:off x="6568440" y="2788918"/>
              <a:ext cx="2400300" cy="381000"/>
            </a:xfrm>
            <a:custGeom>
              <a:avLst/>
              <a:gdLst/>
              <a:ahLst/>
              <a:cxnLst/>
              <a:rect l="l" t="t" r="r" b="b"/>
              <a:pathLst>
                <a:path w="2400300" h="381000">
                  <a:moveTo>
                    <a:pt x="76200" y="0"/>
                  </a:moveTo>
                  <a:lnTo>
                    <a:pt x="2324100" y="0"/>
                  </a:lnTo>
                  <a:cubicBezTo>
                    <a:pt x="2366156" y="0"/>
                    <a:pt x="2400300" y="34144"/>
                    <a:pt x="2400300" y="76200"/>
                  </a:cubicBezTo>
                  <a:lnTo>
                    <a:pt x="2400300" y="304800"/>
                  </a:lnTo>
                  <a:cubicBezTo>
                    <a:pt x="2400300" y="346856"/>
                    <a:pt x="2366156" y="381000"/>
                    <a:pt x="23241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262626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A2D427CB-0C8A-D1E8-F95B-B21355B45BBB}"/>
                </a:ext>
              </a:extLst>
            </p:cNvPr>
            <p:cNvSpPr/>
            <p:nvPr/>
          </p:nvSpPr>
          <p:spPr>
            <a:xfrm>
              <a:off x="6654165" y="2903218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14288" y="58281"/>
                  </a:moveTo>
                  <a:lnTo>
                    <a:pt x="76557" y="83909"/>
                  </a:lnTo>
                  <a:cubicBezTo>
                    <a:pt x="79474" y="85100"/>
                    <a:pt x="82570" y="85725"/>
                    <a:pt x="85725" y="85725"/>
                  </a:cubicBezTo>
                  <a:cubicBezTo>
                    <a:pt x="88880" y="85725"/>
                    <a:pt x="91976" y="85100"/>
                    <a:pt x="94893" y="83909"/>
                  </a:cubicBezTo>
                  <a:lnTo>
                    <a:pt x="167045" y="54203"/>
                  </a:lnTo>
                  <a:cubicBezTo>
                    <a:pt x="169724" y="53102"/>
                    <a:pt x="171450" y="50512"/>
                    <a:pt x="171450" y="47625"/>
                  </a:cubicBezTo>
                  <a:cubicBezTo>
                    <a:pt x="171450" y="44738"/>
                    <a:pt x="169724" y="42148"/>
                    <a:pt x="167045" y="41047"/>
                  </a:cubicBezTo>
                  <a:lnTo>
                    <a:pt x="94893" y="11341"/>
                  </a:lnTo>
                  <a:cubicBezTo>
                    <a:pt x="91976" y="10150"/>
                    <a:pt x="88880" y="9525"/>
                    <a:pt x="85725" y="9525"/>
                  </a:cubicBezTo>
                  <a:cubicBezTo>
                    <a:pt x="82570" y="9525"/>
                    <a:pt x="79474" y="10150"/>
                    <a:pt x="76557" y="11341"/>
                  </a:cubicBezTo>
                  <a:lnTo>
                    <a:pt x="4405" y="41047"/>
                  </a:lnTo>
                  <a:cubicBezTo>
                    <a:pt x="1726" y="42148"/>
                    <a:pt x="0" y="44738"/>
                    <a:pt x="0" y="47625"/>
                  </a:cubicBezTo>
                  <a:lnTo>
                    <a:pt x="0" y="135731"/>
                  </a:lnTo>
                  <a:cubicBezTo>
                    <a:pt x="0" y="139690"/>
                    <a:pt x="3185" y="142875"/>
                    <a:pt x="7144" y="142875"/>
                  </a:cubicBezTo>
                  <a:cubicBezTo>
                    <a:pt x="11103" y="142875"/>
                    <a:pt x="14288" y="139690"/>
                    <a:pt x="14288" y="135731"/>
                  </a:cubicBezTo>
                  <a:lnTo>
                    <a:pt x="14288" y="58281"/>
                  </a:lnTo>
                  <a:close/>
                  <a:moveTo>
                    <a:pt x="28575" y="79623"/>
                  </a:moveTo>
                  <a:lnTo>
                    <a:pt x="28575" y="114300"/>
                  </a:lnTo>
                  <a:cubicBezTo>
                    <a:pt x="28575" y="130076"/>
                    <a:pt x="54173" y="142875"/>
                    <a:pt x="85725" y="142875"/>
                  </a:cubicBezTo>
                  <a:cubicBezTo>
                    <a:pt x="117277" y="142875"/>
                    <a:pt x="142875" y="130076"/>
                    <a:pt x="142875" y="114300"/>
                  </a:cubicBezTo>
                  <a:lnTo>
                    <a:pt x="142875" y="79593"/>
                  </a:lnTo>
                  <a:lnTo>
                    <a:pt x="100340" y="97125"/>
                  </a:lnTo>
                  <a:cubicBezTo>
                    <a:pt x="95696" y="99030"/>
                    <a:pt x="90755" y="100012"/>
                    <a:pt x="85725" y="100012"/>
                  </a:cubicBezTo>
                  <a:cubicBezTo>
                    <a:pt x="80695" y="100012"/>
                    <a:pt x="75754" y="99030"/>
                    <a:pt x="71110" y="97125"/>
                  </a:cubicBezTo>
                  <a:lnTo>
                    <a:pt x="28575" y="79593"/>
                  </a:lnTo>
                  <a:close/>
                </a:path>
              </a:pathLst>
            </a:custGeom>
            <a:solidFill>
              <a:srgbClr val="6366F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727C17B8-E567-2095-02DC-69AB3A127F02}"/>
                </a:ext>
              </a:extLst>
            </p:cNvPr>
            <p:cNvSpPr/>
            <p:nvPr/>
          </p:nvSpPr>
          <p:spPr>
            <a:xfrm>
              <a:off x="6892290" y="2865118"/>
              <a:ext cx="207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Unités validées S2</a:t>
              </a:r>
              <a:endParaRPr lang="en-US" sz="1600" dirty="0"/>
            </a:p>
          </p:txBody>
        </p:sp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52D09F40-3F4A-1C46-3546-B86731EF60E8}"/>
                </a:ext>
              </a:extLst>
            </p:cNvPr>
            <p:cNvSpPr/>
            <p:nvPr/>
          </p:nvSpPr>
          <p:spPr>
            <a:xfrm>
              <a:off x="9048750" y="2788918"/>
              <a:ext cx="2400300" cy="381000"/>
            </a:xfrm>
            <a:custGeom>
              <a:avLst/>
              <a:gdLst/>
              <a:ahLst/>
              <a:cxnLst/>
              <a:rect l="l" t="t" r="r" b="b"/>
              <a:pathLst>
                <a:path w="2400300" h="381000">
                  <a:moveTo>
                    <a:pt x="76200" y="0"/>
                  </a:moveTo>
                  <a:lnTo>
                    <a:pt x="2324100" y="0"/>
                  </a:lnTo>
                  <a:cubicBezTo>
                    <a:pt x="2366156" y="0"/>
                    <a:pt x="2400300" y="34144"/>
                    <a:pt x="2400300" y="76200"/>
                  </a:cubicBezTo>
                  <a:lnTo>
                    <a:pt x="2400300" y="304800"/>
                  </a:lnTo>
                  <a:cubicBezTo>
                    <a:pt x="2400300" y="346856"/>
                    <a:pt x="2366156" y="381000"/>
                    <a:pt x="23241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262626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39" name="Shape 37">
              <a:extLst>
                <a:ext uri="{FF2B5EF4-FFF2-40B4-BE49-F238E27FC236}">
                  <a16:creationId xmlns:a16="http://schemas.microsoft.com/office/drawing/2014/main" id="{1B906929-A251-86A5-8567-87530A2306EA}"/>
                </a:ext>
              </a:extLst>
            </p:cNvPr>
            <p:cNvSpPr/>
            <p:nvPr/>
          </p:nvSpPr>
          <p:spPr>
            <a:xfrm>
              <a:off x="9144000" y="2903218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9050" y="19050"/>
                  </a:moveTo>
                  <a:cubicBezTo>
                    <a:pt x="19050" y="13781"/>
                    <a:pt x="14794" y="9525"/>
                    <a:pt x="9525" y="9525"/>
                  </a:cubicBezTo>
                  <a:cubicBezTo>
                    <a:pt x="4256" y="9525"/>
                    <a:pt x="0" y="13781"/>
                    <a:pt x="0" y="19050"/>
                  </a:cubicBezTo>
                  <a:lnTo>
                    <a:pt x="0" y="119062"/>
                  </a:lnTo>
                  <a:cubicBezTo>
                    <a:pt x="0" y="132219"/>
                    <a:pt x="10656" y="142875"/>
                    <a:pt x="23813" y="142875"/>
                  </a:cubicBezTo>
                  <a:lnTo>
                    <a:pt x="142875" y="142875"/>
                  </a:lnTo>
                  <a:cubicBezTo>
                    <a:pt x="148144" y="142875"/>
                    <a:pt x="152400" y="138619"/>
                    <a:pt x="152400" y="133350"/>
                  </a:cubicBezTo>
                  <a:cubicBezTo>
                    <a:pt x="152400" y="128081"/>
                    <a:pt x="148144" y="123825"/>
                    <a:pt x="142875" y="123825"/>
                  </a:cubicBezTo>
                  <a:lnTo>
                    <a:pt x="23813" y="123825"/>
                  </a:lnTo>
                  <a:cubicBezTo>
                    <a:pt x="21193" y="123825"/>
                    <a:pt x="19050" y="121682"/>
                    <a:pt x="19050" y="119062"/>
                  </a:cubicBezTo>
                  <a:lnTo>
                    <a:pt x="19050" y="19050"/>
                  </a:lnTo>
                  <a:close/>
                  <a:moveTo>
                    <a:pt x="140077" y="44827"/>
                  </a:moveTo>
                  <a:cubicBezTo>
                    <a:pt x="143798" y="41106"/>
                    <a:pt x="143798" y="35064"/>
                    <a:pt x="140077" y="31343"/>
                  </a:cubicBezTo>
                  <a:cubicBezTo>
                    <a:pt x="136356" y="27622"/>
                    <a:pt x="130314" y="27622"/>
                    <a:pt x="126593" y="31343"/>
                  </a:cubicBezTo>
                  <a:lnTo>
                    <a:pt x="95250" y="62716"/>
                  </a:lnTo>
                  <a:lnTo>
                    <a:pt x="78165" y="45660"/>
                  </a:lnTo>
                  <a:cubicBezTo>
                    <a:pt x="74444" y="41940"/>
                    <a:pt x="68401" y="41940"/>
                    <a:pt x="64681" y="45660"/>
                  </a:cubicBezTo>
                  <a:lnTo>
                    <a:pt x="36106" y="74235"/>
                  </a:lnTo>
                  <a:cubicBezTo>
                    <a:pt x="32385" y="77956"/>
                    <a:pt x="32385" y="83999"/>
                    <a:pt x="36106" y="87719"/>
                  </a:cubicBezTo>
                  <a:cubicBezTo>
                    <a:pt x="39826" y="91440"/>
                    <a:pt x="45869" y="91440"/>
                    <a:pt x="49590" y="87719"/>
                  </a:cubicBezTo>
                  <a:lnTo>
                    <a:pt x="71438" y="65871"/>
                  </a:lnTo>
                  <a:lnTo>
                    <a:pt x="88523" y="82957"/>
                  </a:lnTo>
                  <a:cubicBezTo>
                    <a:pt x="92244" y="86678"/>
                    <a:pt x="98286" y="86678"/>
                    <a:pt x="102007" y="82957"/>
                  </a:cubicBezTo>
                  <a:lnTo>
                    <a:pt x="140107" y="44857"/>
                  </a:lnTo>
                  <a:close/>
                </a:path>
              </a:pathLst>
            </a:custGeom>
            <a:solidFill>
              <a:srgbClr val="6366F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E337D5A4-4E0E-341B-AF9F-DA0F24EDB083}"/>
                </a:ext>
              </a:extLst>
            </p:cNvPr>
            <p:cNvSpPr/>
            <p:nvPr/>
          </p:nvSpPr>
          <p:spPr>
            <a:xfrm>
              <a:off x="9372600" y="2865118"/>
              <a:ext cx="207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Notes S2</a:t>
              </a:r>
              <a:endParaRPr lang="en-US" sz="1600" dirty="0"/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1264541B-4ECF-E802-1FCD-7F9DB9889E1B}"/>
                </a:ext>
              </a:extLst>
            </p:cNvPr>
            <p:cNvSpPr/>
            <p:nvPr/>
          </p:nvSpPr>
          <p:spPr>
            <a:xfrm>
              <a:off x="6568440" y="3246118"/>
              <a:ext cx="2400300" cy="381000"/>
            </a:xfrm>
            <a:custGeom>
              <a:avLst/>
              <a:gdLst/>
              <a:ahLst/>
              <a:cxnLst/>
              <a:rect l="l" t="t" r="r" b="b"/>
              <a:pathLst>
                <a:path w="2400300" h="381000">
                  <a:moveTo>
                    <a:pt x="76200" y="0"/>
                  </a:moveTo>
                  <a:lnTo>
                    <a:pt x="2324100" y="0"/>
                  </a:lnTo>
                  <a:cubicBezTo>
                    <a:pt x="2366156" y="0"/>
                    <a:pt x="2400300" y="34144"/>
                    <a:pt x="2400300" y="76200"/>
                  </a:cubicBezTo>
                  <a:lnTo>
                    <a:pt x="2400300" y="304800"/>
                  </a:lnTo>
                  <a:cubicBezTo>
                    <a:pt x="2400300" y="346856"/>
                    <a:pt x="2366156" y="381000"/>
                    <a:pt x="23241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262626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1394E4DA-68AD-3E8A-A842-28F0AC5EAD85}"/>
                </a:ext>
              </a:extLst>
            </p:cNvPr>
            <p:cNvSpPr/>
            <p:nvPr/>
          </p:nvSpPr>
          <p:spPr>
            <a:xfrm>
              <a:off x="6663690" y="3360418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24897"/>
                  </a:moveTo>
                  <a:lnTo>
                    <a:pt x="0" y="32593"/>
                  </a:lnTo>
                  <a:cubicBezTo>
                    <a:pt x="0" y="25688"/>
                    <a:pt x="7174" y="21104"/>
                    <a:pt x="13781" y="23068"/>
                  </a:cubicBezTo>
                  <a:cubicBezTo>
                    <a:pt x="39886" y="30867"/>
                    <a:pt x="58341" y="24705"/>
                    <a:pt x="76914" y="18514"/>
                  </a:cubicBezTo>
                  <a:cubicBezTo>
                    <a:pt x="96113" y="12115"/>
                    <a:pt x="115431" y="5685"/>
                    <a:pt x="143381" y="14615"/>
                  </a:cubicBezTo>
                  <a:cubicBezTo>
                    <a:pt x="148888" y="16371"/>
                    <a:pt x="152400" y="21699"/>
                    <a:pt x="152400" y="27503"/>
                  </a:cubicBezTo>
                  <a:lnTo>
                    <a:pt x="152400" y="119807"/>
                  </a:lnTo>
                  <a:cubicBezTo>
                    <a:pt x="152400" y="126712"/>
                    <a:pt x="145226" y="131296"/>
                    <a:pt x="138648" y="129332"/>
                  </a:cubicBezTo>
                  <a:cubicBezTo>
                    <a:pt x="112544" y="121533"/>
                    <a:pt x="94059" y="127695"/>
                    <a:pt x="75515" y="133886"/>
                  </a:cubicBezTo>
                  <a:cubicBezTo>
                    <a:pt x="56317" y="140285"/>
                    <a:pt x="36999" y="146715"/>
                    <a:pt x="9049" y="137785"/>
                  </a:cubicBezTo>
                  <a:cubicBezTo>
                    <a:pt x="3542" y="136029"/>
                    <a:pt x="30" y="130701"/>
                    <a:pt x="30" y="124897"/>
                  </a:cubicBezTo>
                  <a:close/>
                  <a:moveTo>
                    <a:pt x="100013" y="76200"/>
                  </a:moveTo>
                  <a:cubicBezTo>
                    <a:pt x="100013" y="60424"/>
                    <a:pt x="89356" y="47625"/>
                    <a:pt x="76200" y="47625"/>
                  </a:cubicBezTo>
                  <a:cubicBezTo>
                    <a:pt x="63044" y="47625"/>
                    <a:pt x="52388" y="60424"/>
                    <a:pt x="52388" y="76200"/>
                  </a:cubicBezTo>
                  <a:cubicBezTo>
                    <a:pt x="52388" y="91976"/>
                    <a:pt x="63044" y="104775"/>
                    <a:pt x="76200" y="104775"/>
                  </a:cubicBezTo>
                  <a:cubicBezTo>
                    <a:pt x="89356" y="104775"/>
                    <a:pt x="100013" y="91976"/>
                    <a:pt x="100013" y="76200"/>
                  </a:cubicBezTo>
                  <a:close/>
                  <a:moveTo>
                    <a:pt x="35719" y="123111"/>
                  </a:moveTo>
                  <a:cubicBezTo>
                    <a:pt x="37028" y="123111"/>
                    <a:pt x="38070" y="121980"/>
                    <a:pt x="37862" y="120700"/>
                  </a:cubicBezTo>
                  <a:cubicBezTo>
                    <a:pt x="36493" y="112425"/>
                    <a:pt x="29825" y="105966"/>
                    <a:pt x="21431" y="104924"/>
                  </a:cubicBezTo>
                  <a:cubicBezTo>
                    <a:pt x="20122" y="104775"/>
                    <a:pt x="19050" y="105847"/>
                    <a:pt x="19050" y="107156"/>
                  </a:cubicBezTo>
                  <a:lnTo>
                    <a:pt x="19050" y="119033"/>
                  </a:lnTo>
                  <a:cubicBezTo>
                    <a:pt x="19050" y="120104"/>
                    <a:pt x="19764" y="121057"/>
                    <a:pt x="20836" y="121325"/>
                  </a:cubicBezTo>
                  <a:cubicBezTo>
                    <a:pt x="26164" y="122575"/>
                    <a:pt x="31046" y="123140"/>
                    <a:pt x="35719" y="123140"/>
                  </a:cubicBezTo>
                  <a:close/>
                  <a:moveTo>
                    <a:pt x="130522" y="107900"/>
                  </a:moveTo>
                  <a:cubicBezTo>
                    <a:pt x="132011" y="108139"/>
                    <a:pt x="133350" y="107007"/>
                    <a:pt x="133350" y="105519"/>
                  </a:cubicBezTo>
                  <a:lnTo>
                    <a:pt x="133350" y="92839"/>
                  </a:lnTo>
                  <a:cubicBezTo>
                    <a:pt x="133350" y="91529"/>
                    <a:pt x="132278" y="90428"/>
                    <a:pt x="130969" y="90607"/>
                  </a:cubicBezTo>
                  <a:cubicBezTo>
                    <a:pt x="123468" y="91529"/>
                    <a:pt x="117306" y="96828"/>
                    <a:pt x="115133" y="103882"/>
                  </a:cubicBezTo>
                  <a:cubicBezTo>
                    <a:pt x="114717" y="105281"/>
                    <a:pt x="115818" y="106591"/>
                    <a:pt x="117277" y="106620"/>
                  </a:cubicBezTo>
                  <a:cubicBezTo>
                    <a:pt x="121503" y="106740"/>
                    <a:pt x="125909" y="107126"/>
                    <a:pt x="130493" y="107900"/>
                  </a:cubicBezTo>
                  <a:close/>
                  <a:moveTo>
                    <a:pt x="133350" y="45244"/>
                  </a:moveTo>
                  <a:lnTo>
                    <a:pt x="133350" y="33367"/>
                  </a:lnTo>
                  <a:cubicBezTo>
                    <a:pt x="133350" y="32296"/>
                    <a:pt x="132606" y="31343"/>
                    <a:pt x="131564" y="31075"/>
                  </a:cubicBezTo>
                  <a:cubicBezTo>
                    <a:pt x="126236" y="29825"/>
                    <a:pt x="121354" y="29260"/>
                    <a:pt x="116681" y="29260"/>
                  </a:cubicBezTo>
                  <a:cubicBezTo>
                    <a:pt x="115372" y="29260"/>
                    <a:pt x="114330" y="30391"/>
                    <a:pt x="114538" y="31671"/>
                  </a:cubicBezTo>
                  <a:cubicBezTo>
                    <a:pt x="115907" y="39945"/>
                    <a:pt x="122575" y="46405"/>
                    <a:pt x="130969" y="47446"/>
                  </a:cubicBezTo>
                  <a:cubicBezTo>
                    <a:pt x="132278" y="47595"/>
                    <a:pt x="133350" y="46524"/>
                    <a:pt x="133350" y="45214"/>
                  </a:cubicBezTo>
                  <a:close/>
                  <a:moveTo>
                    <a:pt x="37267" y="48488"/>
                  </a:moveTo>
                  <a:cubicBezTo>
                    <a:pt x="37683" y="47089"/>
                    <a:pt x="36582" y="45780"/>
                    <a:pt x="35123" y="45750"/>
                  </a:cubicBezTo>
                  <a:cubicBezTo>
                    <a:pt x="30897" y="45631"/>
                    <a:pt x="26491" y="45244"/>
                    <a:pt x="21908" y="44470"/>
                  </a:cubicBezTo>
                  <a:cubicBezTo>
                    <a:pt x="20419" y="44232"/>
                    <a:pt x="19080" y="45363"/>
                    <a:pt x="19080" y="46851"/>
                  </a:cubicBezTo>
                  <a:lnTo>
                    <a:pt x="19050" y="59531"/>
                  </a:lnTo>
                  <a:cubicBezTo>
                    <a:pt x="19050" y="60841"/>
                    <a:pt x="20122" y="61942"/>
                    <a:pt x="21431" y="61764"/>
                  </a:cubicBezTo>
                  <a:cubicBezTo>
                    <a:pt x="28932" y="60841"/>
                    <a:pt x="35094" y="55543"/>
                    <a:pt x="37267" y="48488"/>
                  </a:cubicBezTo>
                  <a:close/>
                </a:path>
              </a:pathLst>
            </a:custGeom>
            <a:solidFill>
              <a:srgbClr val="6366F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43" name="Text 41">
              <a:extLst>
                <a:ext uri="{FF2B5EF4-FFF2-40B4-BE49-F238E27FC236}">
                  <a16:creationId xmlns:a16="http://schemas.microsoft.com/office/drawing/2014/main" id="{119D0CBA-0047-83F1-5ECC-3A7976A76E04}"/>
                </a:ext>
              </a:extLst>
            </p:cNvPr>
            <p:cNvSpPr/>
            <p:nvPr/>
          </p:nvSpPr>
          <p:spPr>
            <a:xfrm>
              <a:off x="6892290" y="3322318"/>
              <a:ext cx="207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Bourse</a:t>
              </a:r>
              <a:endParaRPr lang="en-US" sz="1600" dirty="0"/>
            </a:p>
          </p:txBody>
        </p:sp>
        <p:sp>
          <p:nvSpPr>
            <p:cNvPr id="44" name="Shape 42">
              <a:extLst>
                <a:ext uri="{FF2B5EF4-FFF2-40B4-BE49-F238E27FC236}">
                  <a16:creationId xmlns:a16="http://schemas.microsoft.com/office/drawing/2014/main" id="{DB1BF664-F653-7DB5-FC1D-B6CC1C0D53F3}"/>
                </a:ext>
              </a:extLst>
            </p:cNvPr>
            <p:cNvSpPr/>
            <p:nvPr/>
          </p:nvSpPr>
          <p:spPr>
            <a:xfrm>
              <a:off x="9048750" y="3246118"/>
              <a:ext cx="2400300" cy="381000"/>
            </a:xfrm>
            <a:custGeom>
              <a:avLst/>
              <a:gdLst/>
              <a:ahLst/>
              <a:cxnLst/>
              <a:rect l="l" t="t" r="r" b="b"/>
              <a:pathLst>
                <a:path w="2400300" h="381000">
                  <a:moveTo>
                    <a:pt x="76200" y="0"/>
                  </a:moveTo>
                  <a:lnTo>
                    <a:pt x="2324100" y="0"/>
                  </a:lnTo>
                  <a:cubicBezTo>
                    <a:pt x="2366156" y="0"/>
                    <a:pt x="2400300" y="34144"/>
                    <a:pt x="2400300" y="76200"/>
                  </a:cubicBezTo>
                  <a:lnTo>
                    <a:pt x="2400300" y="304800"/>
                  </a:lnTo>
                  <a:cubicBezTo>
                    <a:pt x="2400300" y="346856"/>
                    <a:pt x="2366156" y="381000"/>
                    <a:pt x="23241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262626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45" name="Shape 43">
              <a:extLst>
                <a:ext uri="{FF2B5EF4-FFF2-40B4-BE49-F238E27FC236}">
                  <a16:creationId xmlns:a16="http://schemas.microsoft.com/office/drawing/2014/main" id="{DE9CFBEB-8AFD-2EF9-D769-094CDB2C2BBE}"/>
                </a:ext>
              </a:extLst>
            </p:cNvPr>
            <p:cNvSpPr/>
            <p:nvPr/>
          </p:nvSpPr>
          <p:spPr>
            <a:xfrm>
              <a:off x="9163050" y="3360418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4167" y="655"/>
                  </a:moveTo>
                  <a:cubicBezTo>
                    <a:pt x="6697" y="-506"/>
                    <a:pt x="9674" y="-89"/>
                    <a:pt x="11787" y="1726"/>
                  </a:cubicBezTo>
                  <a:lnTo>
                    <a:pt x="23813" y="12025"/>
                  </a:lnTo>
                  <a:lnTo>
                    <a:pt x="35838" y="1726"/>
                  </a:lnTo>
                  <a:cubicBezTo>
                    <a:pt x="38517" y="-566"/>
                    <a:pt x="42476" y="-566"/>
                    <a:pt x="45125" y="1726"/>
                  </a:cubicBezTo>
                  <a:lnTo>
                    <a:pt x="57150" y="12025"/>
                  </a:lnTo>
                  <a:lnTo>
                    <a:pt x="69175" y="1726"/>
                  </a:lnTo>
                  <a:cubicBezTo>
                    <a:pt x="71854" y="-566"/>
                    <a:pt x="75783" y="-566"/>
                    <a:pt x="78462" y="1726"/>
                  </a:cubicBezTo>
                  <a:lnTo>
                    <a:pt x="90488" y="12025"/>
                  </a:lnTo>
                  <a:lnTo>
                    <a:pt x="102513" y="1726"/>
                  </a:lnTo>
                  <a:cubicBezTo>
                    <a:pt x="104626" y="-89"/>
                    <a:pt x="107603" y="-506"/>
                    <a:pt x="110133" y="655"/>
                  </a:cubicBezTo>
                  <a:cubicBezTo>
                    <a:pt x="112663" y="1816"/>
                    <a:pt x="114300" y="4346"/>
                    <a:pt x="114300" y="7144"/>
                  </a:cubicBezTo>
                  <a:lnTo>
                    <a:pt x="114300" y="145256"/>
                  </a:lnTo>
                  <a:cubicBezTo>
                    <a:pt x="114300" y="148054"/>
                    <a:pt x="112663" y="150584"/>
                    <a:pt x="110133" y="151745"/>
                  </a:cubicBezTo>
                  <a:cubicBezTo>
                    <a:pt x="107603" y="152906"/>
                    <a:pt x="104626" y="152489"/>
                    <a:pt x="102513" y="150674"/>
                  </a:cubicBezTo>
                  <a:lnTo>
                    <a:pt x="90488" y="140375"/>
                  </a:lnTo>
                  <a:lnTo>
                    <a:pt x="78462" y="150674"/>
                  </a:lnTo>
                  <a:cubicBezTo>
                    <a:pt x="75783" y="152966"/>
                    <a:pt x="71854" y="152966"/>
                    <a:pt x="69175" y="150674"/>
                  </a:cubicBezTo>
                  <a:lnTo>
                    <a:pt x="57150" y="140375"/>
                  </a:lnTo>
                  <a:lnTo>
                    <a:pt x="45125" y="150674"/>
                  </a:lnTo>
                  <a:cubicBezTo>
                    <a:pt x="42446" y="152966"/>
                    <a:pt x="38487" y="152966"/>
                    <a:pt x="35838" y="150674"/>
                  </a:cubicBezTo>
                  <a:lnTo>
                    <a:pt x="23813" y="140375"/>
                  </a:lnTo>
                  <a:lnTo>
                    <a:pt x="11787" y="150674"/>
                  </a:lnTo>
                  <a:cubicBezTo>
                    <a:pt x="9674" y="152489"/>
                    <a:pt x="6697" y="152906"/>
                    <a:pt x="4167" y="151745"/>
                  </a:cubicBezTo>
                  <a:cubicBezTo>
                    <a:pt x="1637" y="150584"/>
                    <a:pt x="0" y="148054"/>
                    <a:pt x="0" y="145256"/>
                  </a:cubicBezTo>
                  <a:lnTo>
                    <a:pt x="0" y="7144"/>
                  </a:lnTo>
                  <a:cubicBezTo>
                    <a:pt x="0" y="4346"/>
                    <a:pt x="1637" y="1816"/>
                    <a:pt x="4167" y="655"/>
                  </a:cubicBezTo>
                  <a:close/>
                  <a:moveTo>
                    <a:pt x="30956" y="40481"/>
                  </a:moveTo>
                  <a:cubicBezTo>
                    <a:pt x="26997" y="40481"/>
                    <a:pt x="23813" y="43666"/>
                    <a:pt x="23813" y="47625"/>
                  </a:cubicBezTo>
                  <a:cubicBezTo>
                    <a:pt x="23813" y="51584"/>
                    <a:pt x="26997" y="54769"/>
                    <a:pt x="30956" y="54769"/>
                  </a:cubicBezTo>
                  <a:lnTo>
                    <a:pt x="83344" y="54769"/>
                  </a:lnTo>
                  <a:cubicBezTo>
                    <a:pt x="87303" y="54769"/>
                    <a:pt x="90488" y="51584"/>
                    <a:pt x="90488" y="47625"/>
                  </a:cubicBezTo>
                  <a:cubicBezTo>
                    <a:pt x="90488" y="43666"/>
                    <a:pt x="87303" y="40481"/>
                    <a:pt x="83344" y="40481"/>
                  </a:cubicBezTo>
                  <a:lnTo>
                    <a:pt x="30956" y="40481"/>
                  </a:lnTo>
                  <a:close/>
                  <a:moveTo>
                    <a:pt x="23813" y="104775"/>
                  </a:moveTo>
                  <a:cubicBezTo>
                    <a:pt x="23813" y="108734"/>
                    <a:pt x="26997" y="111919"/>
                    <a:pt x="30956" y="111919"/>
                  </a:cubicBezTo>
                  <a:lnTo>
                    <a:pt x="83344" y="111919"/>
                  </a:lnTo>
                  <a:cubicBezTo>
                    <a:pt x="87303" y="111919"/>
                    <a:pt x="90488" y="108734"/>
                    <a:pt x="90488" y="104775"/>
                  </a:cubicBezTo>
                  <a:cubicBezTo>
                    <a:pt x="90488" y="100816"/>
                    <a:pt x="87303" y="97631"/>
                    <a:pt x="83344" y="97631"/>
                  </a:cubicBezTo>
                  <a:lnTo>
                    <a:pt x="30956" y="97631"/>
                  </a:lnTo>
                  <a:cubicBezTo>
                    <a:pt x="26997" y="97631"/>
                    <a:pt x="23813" y="100816"/>
                    <a:pt x="23813" y="104775"/>
                  </a:cubicBezTo>
                  <a:close/>
                  <a:moveTo>
                    <a:pt x="30956" y="69056"/>
                  </a:moveTo>
                  <a:cubicBezTo>
                    <a:pt x="26997" y="69056"/>
                    <a:pt x="23813" y="72241"/>
                    <a:pt x="23813" y="76200"/>
                  </a:cubicBezTo>
                  <a:cubicBezTo>
                    <a:pt x="23813" y="80159"/>
                    <a:pt x="26997" y="83344"/>
                    <a:pt x="30956" y="83344"/>
                  </a:cubicBezTo>
                  <a:lnTo>
                    <a:pt x="83344" y="83344"/>
                  </a:lnTo>
                  <a:cubicBezTo>
                    <a:pt x="87303" y="83344"/>
                    <a:pt x="90488" y="80159"/>
                    <a:pt x="90488" y="76200"/>
                  </a:cubicBezTo>
                  <a:cubicBezTo>
                    <a:pt x="90488" y="72241"/>
                    <a:pt x="87303" y="69056"/>
                    <a:pt x="83344" y="69056"/>
                  </a:cubicBezTo>
                  <a:lnTo>
                    <a:pt x="30956" y="69056"/>
                  </a:lnTo>
                  <a:close/>
                </a:path>
              </a:pathLst>
            </a:custGeom>
            <a:solidFill>
              <a:srgbClr val="6366F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46" name="Text 44">
              <a:extLst>
                <a:ext uri="{FF2B5EF4-FFF2-40B4-BE49-F238E27FC236}">
                  <a16:creationId xmlns:a16="http://schemas.microsoft.com/office/drawing/2014/main" id="{961FC5A6-6EE1-2EF2-A28E-FDA91BF9937C}"/>
                </a:ext>
              </a:extLst>
            </p:cNvPr>
            <p:cNvSpPr/>
            <p:nvPr/>
          </p:nvSpPr>
          <p:spPr>
            <a:xfrm>
              <a:off x="9372600" y="3322318"/>
              <a:ext cx="207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Frais à jour</a:t>
              </a:r>
              <a:endParaRPr lang="en-US" sz="1600" dirty="0"/>
            </a:p>
          </p:txBody>
        </p:sp>
        <p:sp>
          <p:nvSpPr>
            <p:cNvPr id="47" name="Shape 45">
              <a:extLst>
                <a:ext uri="{FF2B5EF4-FFF2-40B4-BE49-F238E27FC236}">
                  <a16:creationId xmlns:a16="http://schemas.microsoft.com/office/drawing/2014/main" id="{1AB77DAC-2D6C-41EF-31BE-F4998BD06A67}"/>
                </a:ext>
              </a:extLst>
            </p:cNvPr>
            <p:cNvSpPr/>
            <p:nvPr/>
          </p:nvSpPr>
          <p:spPr>
            <a:xfrm>
              <a:off x="6568440" y="3703318"/>
              <a:ext cx="2400300" cy="381000"/>
            </a:xfrm>
            <a:custGeom>
              <a:avLst/>
              <a:gdLst/>
              <a:ahLst/>
              <a:cxnLst/>
              <a:rect l="l" t="t" r="r" b="b"/>
              <a:pathLst>
                <a:path w="2400300" h="381000">
                  <a:moveTo>
                    <a:pt x="76200" y="0"/>
                  </a:moveTo>
                  <a:lnTo>
                    <a:pt x="2324100" y="0"/>
                  </a:lnTo>
                  <a:cubicBezTo>
                    <a:pt x="2366156" y="0"/>
                    <a:pt x="2400300" y="34144"/>
                    <a:pt x="2400300" y="76200"/>
                  </a:cubicBezTo>
                  <a:lnTo>
                    <a:pt x="2400300" y="304800"/>
                  </a:lnTo>
                  <a:cubicBezTo>
                    <a:pt x="2400300" y="346856"/>
                    <a:pt x="2366156" y="381000"/>
                    <a:pt x="23241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262626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48" name="Shape 46">
              <a:extLst>
                <a:ext uri="{FF2B5EF4-FFF2-40B4-BE49-F238E27FC236}">
                  <a16:creationId xmlns:a16="http://schemas.microsoft.com/office/drawing/2014/main" id="{83DD2F03-C44E-DA93-5781-266C83F22CA9}"/>
                </a:ext>
              </a:extLst>
            </p:cNvPr>
            <p:cNvSpPr/>
            <p:nvPr/>
          </p:nvSpPr>
          <p:spPr>
            <a:xfrm>
              <a:off x="6673215" y="3817618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cubicBezTo>
                    <a:pt x="0" y="67000"/>
                    <a:pt x="7469" y="59531"/>
                    <a:pt x="16669" y="59531"/>
                  </a:cubicBezTo>
                  <a:cubicBezTo>
                    <a:pt x="25868" y="59531"/>
                    <a:pt x="33338" y="67000"/>
                    <a:pt x="33338" y="76200"/>
                  </a:cubicBezTo>
                  <a:cubicBezTo>
                    <a:pt x="33338" y="85400"/>
                    <a:pt x="25868" y="92869"/>
                    <a:pt x="16669" y="92869"/>
                  </a:cubicBezTo>
                  <a:cubicBezTo>
                    <a:pt x="7469" y="92869"/>
                    <a:pt x="0" y="85400"/>
                    <a:pt x="0" y="76200"/>
                  </a:cubicBezTo>
                  <a:close/>
                  <a:moveTo>
                    <a:pt x="50006" y="76200"/>
                  </a:moveTo>
                  <a:cubicBezTo>
                    <a:pt x="50006" y="67000"/>
                    <a:pt x="57475" y="59531"/>
                    <a:pt x="66675" y="59531"/>
                  </a:cubicBezTo>
                  <a:cubicBezTo>
                    <a:pt x="75875" y="59531"/>
                    <a:pt x="83344" y="67000"/>
                    <a:pt x="83344" y="76200"/>
                  </a:cubicBezTo>
                  <a:cubicBezTo>
                    <a:pt x="83344" y="85400"/>
                    <a:pt x="75875" y="92869"/>
                    <a:pt x="66675" y="92869"/>
                  </a:cubicBezTo>
                  <a:cubicBezTo>
                    <a:pt x="57475" y="92869"/>
                    <a:pt x="50006" y="85400"/>
                    <a:pt x="50006" y="76200"/>
                  </a:cubicBezTo>
                  <a:close/>
                  <a:moveTo>
                    <a:pt x="116681" y="59531"/>
                  </a:moveTo>
                  <a:cubicBezTo>
                    <a:pt x="125881" y="59531"/>
                    <a:pt x="133350" y="67000"/>
                    <a:pt x="133350" y="76200"/>
                  </a:cubicBezTo>
                  <a:cubicBezTo>
                    <a:pt x="133350" y="85400"/>
                    <a:pt x="125881" y="92869"/>
                    <a:pt x="116681" y="92869"/>
                  </a:cubicBezTo>
                  <a:cubicBezTo>
                    <a:pt x="107482" y="92869"/>
                    <a:pt x="100013" y="85400"/>
                    <a:pt x="100013" y="76200"/>
                  </a:cubicBezTo>
                  <a:cubicBezTo>
                    <a:pt x="100013" y="67000"/>
                    <a:pt x="107482" y="59531"/>
                    <a:pt x="116681" y="59531"/>
                  </a:cubicBezTo>
                  <a:close/>
                </a:path>
              </a:pathLst>
            </a:custGeom>
            <a:solidFill>
              <a:srgbClr val="8F8F8F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49" name="Text 47">
              <a:extLst>
                <a:ext uri="{FF2B5EF4-FFF2-40B4-BE49-F238E27FC236}">
                  <a16:creationId xmlns:a16="http://schemas.microsoft.com/office/drawing/2014/main" id="{FBEE77DC-871E-1BB3-A5C9-8699D1DA653C}"/>
                </a:ext>
              </a:extLst>
            </p:cNvPr>
            <p:cNvSpPr/>
            <p:nvPr/>
          </p:nvSpPr>
          <p:spPr>
            <a:xfrm>
              <a:off x="6892290" y="3779518"/>
              <a:ext cx="207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+ 11 autres</a:t>
              </a:r>
              <a:endParaRPr lang="en-US" sz="1600" dirty="0"/>
            </a:p>
          </p:txBody>
        </p:sp>
        <p:sp>
          <p:nvSpPr>
            <p:cNvPr id="50" name="Shape 48">
              <a:extLst>
                <a:ext uri="{FF2B5EF4-FFF2-40B4-BE49-F238E27FC236}">
                  <a16:creationId xmlns:a16="http://schemas.microsoft.com/office/drawing/2014/main" id="{7E4B51B9-75FC-320F-7B96-33723106714C}"/>
                </a:ext>
              </a:extLst>
            </p:cNvPr>
            <p:cNvSpPr/>
            <p:nvPr/>
          </p:nvSpPr>
          <p:spPr>
            <a:xfrm>
              <a:off x="6412230" y="4362456"/>
              <a:ext cx="5198745" cy="1903095"/>
            </a:xfrm>
            <a:custGeom>
              <a:avLst/>
              <a:gdLst/>
              <a:ahLst/>
              <a:cxnLst/>
              <a:rect l="l" t="t" r="r" b="b"/>
              <a:pathLst>
                <a:path w="5198745" h="1903095">
                  <a:moveTo>
                    <a:pt x="76200" y="0"/>
                  </a:moveTo>
                  <a:lnTo>
                    <a:pt x="5122545" y="0"/>
                  </a:lnTo>
                  <a:cubicBezTo>
                    <a:pt x="5164629" y="0"/>
                    <a:pt x="5198745" y="34116"/>
                    <a:pt x="5198745" y="76200"/>
                  </a:cubicBezTo>
                  <a:lnTo>
                    <a:pt x="5198745" y="1826895"/>
                  </a:lnTo>
                  <a:cubicBezTo>
                    <a:pt x="5198745" y="1868979"/>
                    <a:pt x="5164629" y="1903095"/>
                    <a:pt x="5122545" y="1903095"/>
                  </a:cubicBezTo>
                  <a:lnTo>
                    <a:pt x="76200" y="1903095"/>
                  </a:lnTo>
                  <a:cubicBezTo>
                    <a:pt x="34116" y="1903095"/>
                    <a:pt x="0" y="1868979"/>
                    <a:pt x="0" y="1826895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91919"/>
            </a:solidFill>
            <a:ln w="1016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032585FD-3B14-9BFD-B07C-992F9393B47C}"/>
                </a:ext>
              </a:extLst>
            </p:cNvPr>
            <p:cNvSpPr/>
            <p:nvPr/>
          </p:nvSpPr>
          <p:spPr>
            <a:xfrm>
              <a:off x="6568440" y="4518664"/>
              <a:ext cx="49625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10B981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Résultat de Prédiction</a:t>
              </a:r>
              <a:endParaRPr lang="en-US" sz="1600" dirty="0"/>
            </a:p>
          </p:txBody>
        </p:sp>
        <p:sp>
          <p:nvSpPr>
            <p:cNvPr id="52" name="Shape 50">
              <a:extLst>
                <a:ext uri="{FF2B5EF4-FFF2-40B4-BE49-F238E27FC236}">
                  <a16:creationId xmlns:a16="http://schemas.microsoft.com/office/drawing/2014/main" id="{FFE366E8-6C09-7764-BF81-F3DE5E88E7A2}"/>
                </a:ext>
              </a:extLst>
            </p:cNvPr>
            <p:cNvSpPr/>
            <p:nvPr/>
          </p:nvSpPr>
          <p:spPr>
            <a:xfrm>
              <a:off x="6576060" y="4869184"/>
              <a:ext cx="4872990" cy="1234440"/>
            </a:xfrm>
            <a:custGeom>
              <a:avLst/>
              <a:gdLst/>
              <a:ahLst/>
              <a:cxnLst/>
              <a:rect l="l" t="t" r="r" b="b"/>
              <a:pathLst>
                <a:path w="4872990" h="1234440">
                  <a:moveTo>
                    <a:pt x="114297" y="0"/>
                  </a:moveTo>
                  <a:lnTo>
                    <a:pt x="4758693" y="0"/>
                  </a:lnTo>
                  <a:cubicBezTo>
                    <a:pt x="4821818" y="0"/>
                    <a:pt x="4872990" y="51172"/>
                    <a:pt x="4872990" y="114297"/>
                  </a:cubicBezTo>
                  <a:lnTo>
                    <a:pt x="4872990" y="1120143"/>
                  </a:lnTo>
                  <a:cubicBezTo>
                    <a:pt x="4872990" y="1183268"/>
                    <a:pt x="4821818" y="1234440"/>
                    <a:pt x="4758693" y="1234440"/>
                  </a:cubicBezTo>
                  <a:lnTo>
                    <a:pt x="114297" y="1234440"/>
                  </a:lnTo>
                  <a:cubicBezTo>
                    <a:pt x="51172" y="1234440"/>
                    <a:pt x="0" y="1183268"/>
                    <a:pt x="0" y="1120143"/>
                  </a:cubicBezTo>
                  <a:lnTo>
                    <a:pt x="0" y="114297"/>
                  </a:lnTo>
                  <a:cubicBezTo>
                    <a:pt x="0" y="51215"/>
                    <a:pt x="51215" y="0"/>
                    <a:pt x="114297" y="0"/>
                  </a:cubicBezTo>
                  <a:close/>
                </a:path>
              </a:pathLst>
            </a:custGeom>
            <a:solidFill>
              <a:srgbClr val="10B981">
                <a:alpha val="10196"/>
              </a:srgbClr>
            </a:solidFill>
            <a:ln w="2032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D22EB4A3-1BE7-E2B7-1895-5010202F8E9B}"/>
                </a:ext>
              </a:extLst>
            </p:cNvPr>
            <p:cNvSpPr/>
            <p:nvPr/>
          </p:nvSpPr>
          <p:spPr>
            <a:xfrm>
              <a:off x="6693218" y="5029200"/>
              <a:ext cx="46386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dirty="0">
                  <a:solidFill>
                    <a:srgbClr val="EFEFE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Prédiction : </a:t>
              </a:r>
              <a:r>
                <a:rPr lang="en-US" sz="1350" b="1" dirty="0">
                  <a:solidFill>
                    <a:srgbClr val="10B981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Diplômé</a:t>
              </a:r>
              <a:endParaRPr lang="en-US" sz="1600" dirty="0"/>
            </a:p>
          </p:txBody>
        </p:sp>
        <p:sp>
          <p:nvSpPr>
            <p:cNvPr id="54" name="Shape 52">
              <a:extLst>
                <a:ext uri="{FF2B5EF4-FFF2-40B4-BE49-F238E27FC236}">
                  <a16:creationId xmlns:a16="http://schemas.microsoft.com/office/drawing/2014/main" id="{BEBBD50A-DA02-68FD-7FBC-CCD0DE24B440}"/>
                </a:ext>
              </a:extLst>
            </p:cNvPr>
            <p:cNvSpPr/>
            <p:nvPr/>
          </p:nvSpPr>
          <p:spPr>
            <a:xfrm>
              <a:off x="6736080" y="5429250"/>
              <a:ext cx="4105275" cy="152400"/>
            </a:xfrm>
            <a:custGeom>
              <a:avLst/>
              <a:gdLst/>
              <a:ahLst/>
              <a:cxnLst/>
              <a:rect l="l" t="t" r="r" b="b"/>
              <a:pathLst>
                <a:path w="4105275" h="152400">
                  <a:moveTo>
                    <a:pt x="76200" y="0"/>
                  </a:moveTo>
                  <a:lnTo>
                    <a:pt x="4029075" y="0"/>
                  </a:lnTo>
                  <a:cubicBezTo>
                    <a:pt x="4071131" y="0"/>
                    <a:pt x="4105275" y="34144"/>
                    <a:pt x="4105275" y="76200"/>
                  </a:cubicBezTo>
                  <a:lnTo>
                    <a:pt x="4105275" y="76200"/>
                  </a:lnTo>
                  <a:cubicBezTo>
                    <a:pt x="4105275" y="118256"/>
                    <a:pt x="4071131" y="152400"/>
                    <a:pt x="4029075" y="152400"/>
                  </a:cubicBezTo>
                  <a:lnTo>
                    <a:pt x="76200" y="152400"/>
                  </a:lnTo>
                  <a:cubicBezTo>
                    <a:pt x="34144" y="152400"/>
                    <a:pt x="0" y="118256"/>
                    <a:pt x="0" y="762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262626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2B590D52-50A1-8509-EFBA-2193FA8D9B13}"/>
                </a:ext>
              </a:extLst>
            </p:cNvPr>
            <p:cNvSpPr/>
            <p:nvPr/>
          </p:nvSpPr>
          <p:spPr>
            <a:xfrm>
              <a:off x="6736080" y="5429250"/>
              <a:ext cx="3571875" cy="152400"/>
            </a:xfrm>
            <a:custGeom>
              <a:avLst/>
              <a:gdLst/>
              <a:ahLst/>
              <a:cxnLst/>
              <a:rect l="l" t="t" r="r" b="b"/>
              <a:pathLst>
                <a:path w="3571875" h="152400">
                  <a:moveTo>
                    <a:pt x="76200" y="0"/>
                  </a:moveTo>
                  <a:lnTo>
                    <a:pt x="3495675" y="0"/>
                  </a:lnTo>
                  <a:cubicBezTo>
                    <a:pt x="3537731" y="0"/>
                    <a:pt x="3571875" y="34144"/>
                    <a:pt x="3571875" y="76200"/>
                  </a:cubicBezTo>
                  <a:lnTo>
                    <a:pt x="3571875" y="76200"/>
                  </a:lnTo>
                  <a:cubicBezTo>
                    <a:pt x="3571875" y="118256"/>
                    <a:pt x="3537731" y="152400"/>
                    <a:pt x="3495675" y="152400"/>
                  </a:cubicBezTo>
                  <a:lnTo>
                    <a:pt x="76200" y="152400"/>
                  </a:lnTo>
                  <a:cubicBezTo>
                    <a:pt x="34144" y="152400"/>
                    <a:pt x="0" y="118256"/>
                    <a:pt x="0" y="762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0B98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56" name="Text 54">
              <a:extLst>
                <a:ext uri="{FF2B5EF4-FFF2-40B4-BE49-F238E27FC236}">
                  <a16:creationId xmlns:a16="http://schemas.microsoft.com/office/drawing/2014/main" id="{612D483C-986C-D270-28AD-E6B2FA2DA027}"/>
                </a:ext>
              </a:extLst>
            </p:cNvPr>
            <p:cNvSpPr/>
            <p:nvPr/>
          </p:nvSpPr>
          <p:spPr>
            <a:xfrm>
              <a:off x="10871954" y="5372100"/>
              <a:ext cx="45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0B981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87%</a:t>
              </a:r>
              <a:endParaRPr lang="en-US" sz="1600" dirty="0"/>
            </a:p>
          </p:txBody>
        </p:sp>
        <p:sp>
          <p:nvSpPr>
            <p:cNvPr id="57" name="Text 55">
              <a:extLst>
                <a:ext uri="{FF2B5EF4-FFF2-40B4-BE49-F238E27FC236}">
                  <a16:creationId xmlns:a16="http://schemas.microsoft.com/office/drawing/2014/main" id="{C29FFB63-6E35-8C2C-F254-FB5EAEBD1A08}"/>
                </a:ext>
              </a:extLst>
            </p:cNvPr>
            <p:cNvSpPr/>
            <p:nvPr/>
          </p:nvSpPr>
          <p:spPr>
            <a:xfrm>
              <a:off x="6697980" y="5715000"/>
              <a:ext cx="46291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8F8F8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Indice de confiance</a:t>
              </a:r>
              <a:endParaRPr lang="en-US" sz="1600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B2DAF06-B46B-F33B-B369-7E478D7BE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3152"/>
            <a:ext cx="5735438" cy="656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06589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9175" y="701432"/>
            <a:ext cx="11675155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du Profil &amp; Historique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2867" y="1369639"/>
            <a:ext cx="5609612" cy="5480401"/>
          </a:xfrm>
          <a:custGeom>
            <a:avLst/>
            <a:gdLst/>
            <a:ahLst/>
            <a:cxnLst/>
            <a:rect l="l" t="t" r="r" b="b"/>
            <a:pathLst>
              <a:path w="5609612" h="5480401">
                <a:moveTo>
                  <a:pt x="110759" y="0"/>
                </a:moveTo>
                <a:lnTo>
                  <a:pt x="5498853" y="0"/>
                </a:lnTo>
                <a:cubicBezTo>
                  <a:pt x="5560024" y="0"/>
                  <a:pt x="5609612" y="49588"/>
                  <a:pt x="5609612" y="110759"/>
                </a:cubicBezTo>
                <a:lnTo>
                  <a:pt x="5609612" y="5369642"/>
                </a:lnTo>
                <a:cubicBezTo>
                  <a:pt x="5609612" y="5430812"/>
                  <a:pt x="5560024" y="5480401"/>
                  <a:pt x="5498853" y="5480401"/>
                </a:cubicBezTo>
                <a:lnTo>
                  <a:pt x="110759" y="5480401"/>
                </a:lnTo>
                <a:cubicBezTo>
                  <a:pt x="49588" y="5480401"/>
                  <a:pt x="0" y="5430812"/>
                  <a:pt x="0" y="5369642"/>
                </a:cubicBezTo>
                <a:lnTo>
                  <a:pt x="0" y="110759"/>
                </a:lnTo>
                <a:cubicBezTo>
                  <a:pt x="0" y="49629"/>
                  <a:pt x="49629" y="0"/>
                  <a:pt x="11075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561146" y="1557916"/>
            <a:ext cx="443010" cy="443010"/>
          </a:xfrm>
          <a:custGeom>
            <a:avLst/>
            <a:gdLst/>
            <a:ahLst/>
            <a:cxnLst/>
            <a:rect l="l" t="t" r="r" b="b"/>
            <a:pathLst>
              <a:path w="443010" h="443010">
                <a:moveTo>
                  <a:pt x="73836" y="0"/>
                </a:moveTo>
                <a:lnTo>
                  <a:pt x="369173" y="0"/>
                </a:lnTo>
                <a:cubicBezTo>
                  <a:pt x="409925" y="0"/>
                  <a:pt x="443010" y="33085"/>
                  <a:pt x="443010" y="73836"/>
                </a:cubicBezTo>
                <a:lnTo>
                  <a:pt x="443010" y="369173"/>
                </a:lnTo>
                <a:cubicBezTo>
                  <a:pt x="443010" y="409925"/>
                  <a:pt x="409925" y="443010"/>
                  <a:pt x="369173" y="443010"/>
                </a:cubicBezTo>
                <a:lnTo>
                  <a:pt x="73836" y="443010"/>
                </a:lnTo>
                <a:cubicBezTo>
                  <a:pt x="33085" y="443010"/>
                  <a:pt x="0" y="409925"/>
                  <a:pt x="0" y="369173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690357" y="1687127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23073" y="23073"/>
                </a:moveTo>
                <a:cubicBezTo>
                  <a:pt x="23073" y="16692"/>
                  <a:pt x="17918" y="11537"/>
                  <a:pt x="11537" y="11537"/>
                </a:cubicBezTo>
                <a:cubicBezTo>
                  <a:pt x="5155" y="11537"/>
                  <a:pt x="0" y="16692"/>
                  <a:pt x="0" y="23073"/>
                </a:cubicBezTo>
                <a:lnTo>
                  <a:pt x="0" y="144209"/>
                </a:lnTo>
                <a:cubicBezTo>
                  <a:pt x="0" y="160144"/>
                  <a:pt x="12907" y="173051"/>
                  <a:pt x="28842" y="173051"/>
                </a:cubicBezTo>
                <a:lnTo>
                  <a:pt x="173051" y="173051"/>
                </a:lnTo>
                <a:cubicBezTo>
                  <a:pt x="179432" y="173051"/>
                  <a:pt x="184587" y="167895"/>
                  <a:pt x="184587" y="161514"/>
                </a:cubicBezTo>
                <a:cubicBezTo>
                  <a:pt x="184587" y="155133"/>
                  <a:pt x="179432" y="149977"/>
                  <a:pt x="173051" y="149977"/>
                </a:cubicBezTo>
                <a:lnTo>
                  <a:pt x="28842" y="149977"/>
                </a:lnTo>
                <a:cubicBezTo>
                  <a:pt x="25669" y="149977"/>
                  <a:pt x="23073" y="147382"/>
                  <a:pt x="23073" y="144209"/>
                </a:cubicBezTo>
                <a:lnTo>
                  <a:pt x="23073" y="23073"/>
                </a:lnTo>
                <a:close/>
                <a:moveTo>
                  <a:pt x="169662" y="54295"/>
                </a:moveTo>
                <a:cubicBezTo>
                  <a:pt x="174168" y="49788"/>
                  <a:pt x="174168" y="42470"/>
                  <a:pt x="169662" y="37963"/>
                </a:cubicBezTo>
                <a:cubicBezTo>
                  <a:pt x="165155" y="33456"/>
                  <a:pt x="157837" y="33456"/>
                  <a:pt x="153330" y="37963"/>
                </a:cubicBezTo>
                <a:lnTo>
                  <a:pt x="115367" y="75962"/>
                </a:lnTo>
                <a:lnTo>
                  <a:pt x="94673" y="55304"/>
                </a:lnTo>
                <a:cubicBezTo>
                  <a:pt x="90167" y="50798"/>
                  <a:pt x="82848" y="50798"/>
                  <a:pt x="78342" y="55304"/>
                </a:cubicBezTo>
                <a:lnTo>
                  <a:pt x="43731" y="89914"/>
                </a:lnTo>
                <a:cubicBezTo>
                  <a:pt x="39225" y="94421"/>
                  <a:pt x="39225" y="101739"/>
                  <a:pt x="43731" y="106246"/>
                </a:cubicBezTo>
                <a:cubicBezTo>
                  <a:pt x="48238" y="110752"/>
                  <a:pt x="55556" y="110752"/>
                  <a:pt x="60063" y="106246"/>
                </a:cubicBezTo>
                <a:lnTo>
                  <a:pt x="86525" y="79784"/>
                </a:lnTo>
                <a:lnTo>
                  <a:pt x="107219" y="100478"/>
                </a:lnTo>
                <a:cubicBezTo>
                  <a:pt x="111726" y="104984"/>
                  <a:pt x="119044" y="104984"/>
                  <a:pt x="123551" y="100478"/>
                </a:cubicBezTo>
                <a:lnTo>
                  <a:pt x="169698" y="54331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1114908" y="1631751"/>
            <a:ext cx="2307343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Utilisateur</a:t>
            </a:r>
            <a:endParaRPr lang="en-US" sz="1600" dirty="0"/>
          </a:p>
        </p:txBody>
      </p:sp>
      <p:pic>
        <p:nvPicPr>
          <p:cNvPr id="8" name="Image 0" descr="https://kimi-img.moonshot.cn/pub/slides/26-02-16-22:14:05-d69icbeuvali1hjolqsg.png"/>
          <p:cNvPicPr>
            <a:picLocks noChangeAspect="1"/>
          </p:cNvPicPr>
          <p:nvPr/>
        </p:nvPicPr>
        <p:blipFill>
          <a:blip r:embed="rId3"/>
          <a:srcRect t="16" b="16"/>
          <a:stretch/>
        </p:blipFill>
        <p:spPr>
          <a:xfrm>
            <a:off x="561146" y="2148596"/>
            <a:ext cx="5039237" cy="4513163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6209867" y="1369639"/>
            <a:ext cx="5609612" cy="3496086"/>
          </a:xfrm>
          <a:custGeom>
            <a:avLst/>
            <a:gdLst/>
            <a:ahLst/>
            <a:cxnLst/>
            <a:rect l="l" t="t" r="r" b="b"/>
            <a:pathLst>
              <a:path w="5609612" h="3496086">
                <a:moveTo>
                  <a:pt x="110756" y="0"/>
                </a:moveTo>
                <a:lnTo>
                  <a:pt x="5498856" y="0"/>
                </a:lnTo>
                <a:cubicBezTo>
                  <a:pt x="5560025" y="0"/>
                  <a:pt x="5609612" y="49587"/>
                  <a:pt x="5609612" y="110756"/>
                </a:cubicBezTo>
                <a:lnTo>
                  <a:pt x="5609612" y="3385330"/>
                </a:lnTo>
                <a:cubicBezTo>
                  <a:pt x="5609612" y="3446499"/>
                  <a:pt x="5560025" y="3496086"/>
                  <a:pt x="5498856" y="3496086"/>
                </a:cubicBezTo>
                <a:lnTo>
                  <a:pt x="110756" y="3496086"/>
                </a:lnTo>
                <a:cubicBezTo>
                  <a:pt x="49587" y="3496086"/>
                  <a:pt x="0" y="3446499"/>
                  <a:pt x="0" y="3385330"/>
                </a:cubicBezTo>
                <a:lnTo>
                  <a:pt x="0" y="110756"/>
                </a:lnTo>
                <a:cubicBezTo>
                  <a:pt x="0" y="49628"/>
                  <a:pt x="49628" y="0"/>
                  <a:pt x="11075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Shape 7"/>
          <p:cNvSpPr/>
          <p:nvPr/>
        </p:nvSpPr>
        <p:spPr>
          <a:xfrm>
            <a:off x="6398146" y="1557916"/>
            <a:ext cx="443010" cy="443010"/>
          </a:xfrm>
          <a:custGeom>
            <a:avLst/>
            <a:gdLst/>
            <a:ahLst/>
            <a:cxnLst/>
            <a:rect l="l" t="t" r="r" b="b"/>
            <a:pathLst>
              <a:path w="443010" h="443010">
                <a:moveTo>
                  <a:pt x="73836" y="0"/>
                </a:moveTo>
                <a:lnTo>
                  <a:pt x="369173" y="0"/>
                </a:lnTo>
                <a:cubicBezTo>
                  <a:pt x="409925" y="0"/>
                  <a:pt x="443010" y="33085"/>
                  <a:pt x="443010" y="73836"/>
                </a:cubicBezTo>
                <a:lnTo>
                  <a:pt x="443010" y="369173"/>
                </a:lnTo>
                <a:cubicBezTo>
                  <a:pt x="443010" y="409925"/>
                  <a:pt x="409925" y="443010"/>
                  <a:pt x="369173" y="443010"/>
                </a:cubicBezTo>
                <a:lnTo>
                  <a:pt x="73836" y="443010"/>
                </a:lnTo>
                <a:cubicBezTo>
                  <a:pt x="33085" y="443010"/>
                  <a:pt x="0" y="409925"/>
                  <a:pt x="0" y="369173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Shape 8"/>
          <p:cNvSpPr/>
          <p:nvPr/>
        </p:nvSpPr>
        <p:spPr>
          <a:xfrm>
            <a:off x="6515821" y="1687127"/>
            <a:ext cx="207661" cy="184587"/>
          </a:xfrm>
          <a:custGeom>
            <a:avLst/>
            <a:gdLst/>
            <a:ahLst/>
            <a:cxnLst/>
            <a:rect l="l" t="t" r="r" b="b"/>
            <a:pathLst>
              <a:path w="207661" h="184587">
                <a:moveTo>
                  <a:pt x="103830" y="23073"/>
                </a:moveTo>
                <a:cubicBezTo>
                  <a:pt x="142046" y="23073"/>
                  <a:pt x="173051" y="54078"/>
                  <a:pt x="173051" y="92294"/>
                </a:cubicBezTo>
                <a:cubicBezTo>
                  <a:pt x="173051" y="130509"/>
                  <a:pt x="142046" y="161514"/>
                  <a:pt x="103830" y="161514"/>
                </a:cubicBezTo>
                <a:cubicBezTo>
                  <a:pt x="80324" y="161514"/>
                  <a:pt x="59522" y="149797"/>
                  <a:pt x="47012" y="131843"/>
                </a:cubicBezTo>
                <a:cubicBezTo>
                  <a:pt x="43371" y="126615"/>
                  <a:pt x="36160" y="125354"/>
                  <a:pt x="30933" y="128995"/>
                </a:cubicBezTo>
                <a:cubicBezTo>
                  <a:pt x="25705" y="132636"/>
                  <a:pt x="24443" y="139847"/>
                  <a:pt x="28085" y="145074"/>
                </a:cubicBezTo>
                <a:cubicBezTo>
                  <a:pt x="44741" y="168941"/>
                  <a:pt x="72465" y="184587"/>
                  <a:pt x="103830" y="184587"/>
                </a:cubicBezTo>
                <a:cubicBezTo>
                  <a:pt x="154808" y="184587"/>
                  <a:pt x="196124" y="143272"/>
                  <a:pt x="196124" y="92294"/>
                </a:cubicBezTo>
                <a:cubicBezTo>
                  <a:pt x="196124" y="41316"/>
                  <a:pt x="154808" y="0"/>
                  <a:pt x="103830" y="0"/>
                </a:cubicBezTo>
                <a:cubicBezTo>
                  <a:pt x="72934" y="0"/>
                  <a:pt x="45606" y="15178"/>
                  <a:pt x="28842" y="38468"/>
                </a:cubicBezTo>
                <a:lnTo>
                  <a:pt x="28842" y="28842"/>
                </a:lnTo>
                <a:cubicBezTo>
                  <a:pt x="28842" y="22461"/>
                  <a:pt x="23686" y="17305"/>
                  <a:pt x="17305" y="17305"/>
                </a:cubicBezTo>
                <a:cubicBezTo>
                  <a:pt x="10924" y="17305"/>
                  <a:pt x="5768" y="22461"/>
                  <a:pt x="5768" y="28842"/>
                </a:cubicBezTo>
                <a:lnTo>
                  <a:pt x="5768" y="69220"/>
                </a:lnTo>
                <a:cubicBezTo>
                  <a:pt x="5768" y="75602"/>
                  <a:pt x="10924" y="80757"/>
                  <a:pt x="17305" y="80757"/>
                </a:cubicBezTo>
                <a:lnTo>
                  <a:pt x="26174" y="80757"/>
                </a:lnTo>
                <a:cubicBezTo>
                  <a:pt x="26354" y="80757"/>
                  <a:pt x="26534" y="80757"/>
                  <a:pt x="26715" y="80757"/>
                </a:cubicBezTo>
                <a:lnTo>
                  <a:pt x="57720" y="80757"/>
                </a:lnTo>
                <a:cubicBezTo>
                  <a:pt x="64101" y="80757"/>
                  <a:pt x="69256" y="75602"/>
                  <a:pt x="69256" y="69220"/>
                </a:cubicBezTo>
                <a:cubicBezTo>
                  <a:pt x="69256" y="62839"/>
                  <a:pt x="64101" y="57684"/>
                  <a:pt x="57720" y="57684"/>
                </a:cubicBezTo>
                <a:lnTo>
                  <a:pt x="43912" y="57684"/>
                </a:lnTo>
                <a:cubicBezTo>
                  <a:pt x="55845" y="36990"/>
                  <a:pt x="78233" y="23073"/>
                  <a:pt x="103830" y="23073"/>
                </a:cubicBezTo>
                <a:close/>
                <a:moveTo>
                  <a:pt x="112483" y="54799"/>
                </a:moveTo>
                <a:cubicBezTo>
                  <a:pt x="112483" y="50004"/>
                  <a:pt x="108625" y="46147"/>
                  <a:pt x="103830" y="46147"/>
                </a:cubicBezTo>
                <a:cubicBezTo>
                  <a:pt x="99035" y="46147"/>
                  <a:pt x="95178" y="50004"/>
                  <a:pt x="95178" y="54799"/>
                </a:cubicBezTo>
                <a:lnTo>
                  <a:pt x="95178" y="92294"/>
                </a:lnTo>
                <a:cubicBezTo>
                  <a:pt x="95178" y="94601"/>
                  <a:pt x="96079" y="96800"/>
                  <a:pt x="97702" y="98423"/>
                </a:cubicBezTo>
                <a:lnTo>
                  <a:pt x="123659" y="124380"/>
                </a:lnTo>
                <a:cubicBezTo>
                  <a:pt x="127048" y="127769"/>
                  <a:pt x="132528" y="127769"/>
                  <a:pt x="135881" y="124380"/>
                </a:cubicBezTo>
                <a:cubicBezTo>
                  <a:pt x="139234" y="120991"/>
                  <a:pt x="139270" y="115511"/>
                  <a:pt x="135881" y="112158"/>
                </a:cubicBezTo>
                <a:lnTo>
                  <a:pt x="112447" y="88725"/>
                </a:lnTo>
                <a:lnTo>
                  <a:pt x="112447" y="54799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2" name="Text 9"/>
          <p:cNvSpPr/>
          <p:nvPr/>
        </p:nvSpPr>
        <p:spPr>
          <a:xfrm>
            <a:off x="6951909" y="1631751"/>
            <a:ext cx="2778041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Historique des Prédictions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1838" y="2152288"/>
            <a:ext cx="5221979" cy="2517773"/>
          </a:xfrm>
          <a:custGeom>
            <a:avLst/>
            <a:gdLst/>
            <a:ahLst/>
            <a:cxnLst/>
            <a:rect l="l" t="t" r="r" b="b"/>
            <a:pathLst>
              <a:path w="5221979" h="2517773">
                <a:moveTo>
                  <a:pt x="73846" y="0"/>
                </a:moveTo>
                <a:lnTo>
                  <a:pt x="5148132" y="0"/>
                </a:lnTo>
                <a:cubicBezTo>
                  <a:pt x="5188916" y="0"/>
                  <a:pt x="5221979" y="33062"/>
                  <a:pt x="5221979" y="73846"/>
                </a:cubicBezTo>
                <a:lnTo>
                  <a:pt x="5221979" y="2443926"/>
                </a:lnTo>
                <a:cubicBezTo>
                  <a:pt x="5221979" y="2484710"/>
                  <a:pt x="5188916" y="2517773"/>
                  <a:pt x="5148132" y="2517773"/>
                </a:cubicBezTo>
                <a:lnTo>
                  <a:pt x="73846" y="2517773"/>
                </a:lnTo>
                <a:cubicBezTo>
                  <a:pt x="33062" y="2517773"/>
                  <a:pt x="0" y="2484710"/>
                  <a:pt x="0" y="2443926"/>
                </a:cubicBezTo>
                <a:lnTo>
                  <a:pt x="0" y="73846"/>
                </a:lnTo>
                <a:cubicBezTo>
                  <a:pt x="0" y="33089"/>
                  <a:pt x="33089" y="0"/>
                  <a:pt x="7384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Shape 11"/>
          <p:cNvSpPr/>
          <p:nvPr/>
        </p:nvSpPr>
        <p:spPr>
          <a:xfrm>
            <a:off x="6553200" y="2303657"/>
            <a:ext cx="4919255" cy="664515"/>
          </a:xfrm>
          <a:custGeom>
            <a:avLst/>
            <a:gdLst/>
            <a:ahLst/>
            <a:cxnLst/>
            <a:rect l="l" t="t" r="r" b="b"/>
            <a:pathLst>
              <a:path w="4919255" h="664515">
                <a:moveTo>
                  <a:pt x="73834" y="0"/>
                </a:moveTo>
                <a:lnTo>
                  <a:pt x="4845421" y="0"/>
                </a:lnTo>
                <a:cubicBezTo>
                  <a:pt x="4886198" y="0"/>
                  <a:pt x="4919255" y="33057"/>
                  <a:pt x="4919255" y="73834"/>
                </a:cubicBezTo>
                <a:lnTo>
                  <a:pt x="4919255" y="590681"/>
                </a:lnTo>
                <a:cubicBezTo>
                  <a:pt x="4919255" y="631458"/>
                  <a:pt x="4886198" y="664515"/>
                  <a:pt x="4845421" y="664515"/>
                </a:cubicBezTo>
                <a:lnTo>
                  <a:pt x="73834" y="664515"/>
                </a:lnTo>
                <a:cubicBezTo>
                  <a:pt x="33084" y="664515"/>
                  <a:pt x="0" y="631431"/>
                  <a:pt x="0" y="590681"/>
                </a:cubicBezTo>
                <a:lnTo>
                  <a:pt x="0" y="73834"/>
                </a:lnTo>
                <a:cubicBezTo>
                  <a:pt x="0" y="33084"/>
                  <a:pt x="33084" y="0"/>
                  <a:pt x="73834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Text 12"/>
          <p:cNvSpPr/>
          <p:nvPr/>
        </p:nvSpPr>
        <p:spPr>
          <a:xfrm>
            <a:off x="6663953" y="2414409"/>
            <a:ext cx="1338259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Étudiant #1245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63953" y="2635914"/>
            <a:ext cx="1338259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15/01/2026 - 14:32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132351" y="2488244"/>
            <a:ext cx="1227506" cy="295340"/>
          </a:xfrm>
          <a:custGeom>
            <a:avLst/>
            <a:gdLst/>
            <a:ahLst/>
            <a:cxnLst/>
            <a:rect l="l" t="t" r="r" b="b"/>
            <a:pathLst>
              <a:path w="1227506" h="295340">
                <a:moveTo>
                  <a:pt x="147670" y="0"/>
                </a:moveTo>
                <a:lnTo>
                  <a:pt x="1079836" y="0"/>
                </a:lnTo>
                <a:cubicBezTo>
                  <a:pt x="1161392" y="0"/>
                  <a:pt x="1227506" y="66114"/>
                  <a:pt x="1227506" y="147670"/>
                </a:cubicBezTo>
                <a:lnTo>
                  <a:pt x="1227506" y="147670"/>
                </a:lnTo>
                <a:cubicBezTo>
                  <a:pt x="1227506" y="229226"/>
                  <a:pt x="1161392" y="295340"/>
                  <a:pt x="1079836" y="295340"/>
                </a:cubicBezTo>
                <a:lnTo>
                  <a:pt x="147670" y="295340"/>
                </a:lnTo>
                <a:cubicBezTo>
                  <a:pt x="66169" y="295340"/>
                  <a:pt x="0" y="229171"/>
                  <a:pt x="0" y="147670"/>
                </a:cubicBezTo>
                <a:lnTo>
                  <a:pt x="0" y="147670"/>
                </a:lnTo>
                <a:cubicBezTo>
                  <a:pt x="0" y="66169"/>
                  <a:pt x="66169" y="0"/>
                  <a:pt x="14767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8" name="Text 15"/>
          <p:cNvSpPr/>
          <p:nvPr/>
        </p:nvSpPr>
        <p:spPr>
          <a:xfrm>
            <a:off x="10132351" y="2488244"/>
            <a:ext cx="1301341" cy="295340"/>
          </a:xfrm>
          <a:prstGeom prst="rect">
            <a:avLst/>
          </a:prstGeom>
          <a:noFill/>
          <a:ln/>
        </p:spPr>
        <p:txBody>
          <a:bodyPr wrap="square" lIns="110752" tIns="36917" rIns="110752" bIns="36917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Diplômé - 92%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553200" y="3078924"/>
            <a:ext cx="4919255" cy="664515"/>
          </a:xfrm>
          <a:custGeom>
            <a:avLst/>
            <a:gdLst/>
            <a:ahLst/>
            <a:cxnLst/>
            <a:rect l="l" t="t" r="r" b="b"/>
            <a:pathLst>
              <a:path w="4919255" h="664515">
                <a:moveTo>
                  <a:pt x="73834" y="0"/>
                </a:moveTo>
                <a:lnTo>
                  <a:pt x="4845421" y="0"/>
                </a:lnTo>
                <a:cubicBezTo>
                  <a:pt x="4886198" y="0"/>
                  <a:pt x="4919255" y="33057"/>
                  <a:pt x="4919255" y="73834"/>
                </a:cubicBezTo>
                <a:lnTo>
                  <a:pt x="4919255" y="590681"/>
                </a:lnTo>
                <a:cubicBezTo>
                  <a:pt x="4919255" y="631458"/>
                  <a:pt x="4886198" y="664515"/>
                  <a:pt x="4845421" y="664515"/>
                </a:cubicBezTo>
                <a:lnTo>
                  <a:pt x="73834" y="664515"/>
                </a:lnTo>
                <a:cubicBezTo>
                  <a:pt x="33084" y="664515"/>
                  <a:pt x="0" y="631431"/>
                  <a:pt x="0" y="590681"/>
                </a:cubicBezTo>
                <a:lnTo>
                  <a:pt x="0" y="73834"/>
                </a:lnTo>
                <a:cubicBezTo>
                  <a:pt x="0" y="33084"/>
                  <a:pt x="33084" y="0"/>
                  <a:pt x="73834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Text 17"/>
          <p:cNvSpPr/>
          <p:nvPr/>
        </p:nvSpPr>
        <p:spPr>
          <a:xfrm>
            <a:off x="6663953" y="3189676"/>
            <a:ext cx="1347488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Étudiant #1246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63953" y="3411181"/>
            <a:ext cx="1347488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15/01/2026 - 14:45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093588" y="3263511"/>
            <a:ext cx="1273653" cy="295340"/>
          </a:xfrm>
          <a:custGeom>
            <a:avLst/>
            <a:gdLst/>
            <a:ahLst/>
            <a:cxnLst/>
            <a:rect l="l" t="t" r="r" b="b"/>
            <a:pathLst>
              <a:path w="1273653" h="295340">
                <a:moveTo>
                  <a:pt x="147670" y="0"/>
                </a:moveTo>
                <a:lnTo>
                  <a:pt x="1125983" y="0"/>
                </a:lnTo>
                <a:cubicBezTo>
                  <a:pt x="1207539" y="0"/>
                  <a:pt x="1273653" y="66114"/>
                  <a:pt x="1273653" y="147670"/>
                </a:cubicBezTo>
                <a:lnTo>
                  <a:pt x="1273653" y="147670"/>
                </a:lnTo>
                <a:cubicBezTo>
                  <a:pt x="1273653" y="229226"/>
                  <a:pt x="1207539" y="295340"/>
                  <a:pt x="1125983" y="295340"/>
                </a:cubicBezTo>
                <a:lnTo>
                  <a:pt x="147670" y="295340"/>
                </a:lnTo>
                <a:cubicBezTo>
                  <a:pt x="66169" y="295340"/>
                  <a:pt x="0" y="229171"/>
                  <a:pt x="0" y="147670"/>
                </a:cubicBezTo>
                <a:lnTo>
                  <a:pt x="0" y="147670"/>
                </a:lnTo>
                <a:cubicBezTo>
                  <a:pt x="0" y="66169"/>
                  <a:pt x="66169" y="0"/>
                  <a:pt x="14767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0"/>
          <p:cNvSpPr/>
          <p:nvPr/>
        </p:nvSpPr>
        <p:spPr>
          <a:xfrm>
            <a:off x="10093588" y="3263511"/>
            <a:ext cx="1347488" cy="295340"/>
          </a:xfrm>
          <a:prstGeom prst="rect">
            <a:avLst/>
          </a:prstGeom>
          <a:noFill/>
          <a:ln/>
        </p:spPr>
        <p:txBody>
          <a:bodyPr wrap="square" lIns="110752" tIns="36917" rIns="110752" bIns="36917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Abandon - 78%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553200" y="3854191"/>
            <a:ext cx="4919255" cy="664515"/>
          </a:xfrm>
          <a:custGeom>
            <a:avLst/>
            <a:gdLst/>
            <a:ahLst/>
            <a:cxnLst/>
            <a:rect l="l" t="t" r="r" b="b"/>
            <a:pathLst>
              <a:path w="4919255" h="664515">
                <a:moveTo>
                  <a:pt x="73834" y="0"/>
                </a:moveTo>
                <a:lnTo>
                  <a:pt x="4845421" y="0"/>
                </a:lnTo>
                <a:cubicBezTo>
                  <a:pt x="4886198" y="0"/>
                  <a:pt x="4919255" y="33057"/>
                  <a:pt x="4919255" y="73834"/>
                </a:cubicBezTo>
                <a:lnTo>
                  <a:pt x="4919255" y="590681"/>
                </a:lnTo>
                <a:cubicBezTo>
                  <a:pt x="4919255" y="631458"/>
                  <a:pt x="4886198" y="664515"/>
                  <a:pt x="4845421" y="664515"/>
                </a:cubicBezTo>
                <a:lnTo>
                  <a:pt x="73834" y="664515"/>
                </a:lnTo>
                <a:cubicBezTo>
                  <a:pt x="33084" y="664515"/>
                  <a:pt x="0" y="631431"/>
                  <a:pt x="0" y="590681"/>
                </a:cubicBezTo>
                <a:lnTo>
                  <a:pt x="0" y="73834"/>
                </a:lnTo>
                <a:cubicBezTo>
                  <a:pt x="0" y="33084"/>
                  <a:pt x="33084" y="0"/>
                  <a:pt x="73834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Text 22"/>
          <p:cNvSpPr/>
          <p:nvPr/>
        </p:nvSpPr>
        <p:spPr>
          <a:xfrm>
            <a:off x="6663953" y="3964943"/>
            <a:ext cx="1319800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Étudiant #1247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663953" y="4186448"/>
            <a:ext cx="1319800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15/01/2026 - 15:10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0137657" y="4038778"/>
            <a:ext cx="1227506" cy="295340"/>
          </a:xfrm>
          <a:custGeom>
            <a:avLst/>
            <a:gdLst/>
            <a:ahLst/>
            <a:cxnLst/>
            <a:rect l="l" t="t" r="r" b="b"/>
            <a:pathLst>
              <a:path w="1227506" h="295340">
                <a:moveTo>
                  <a:pt x="147670" y="0"/>
                </a:moveTo>
                <a:lnTo>
                  <a:pt x="1079836" y="0"/>
                </a:lnTo>
                <a:cubicBezTo>
                  <a:pt x="1161392" y="0"/>
                  <a:pt x="1227506" y="66114"/>
                  <a:pt x="1227506" y="147670"/>
                </a:cubicBezTo>
                <a:lnTo>
                  <a:pt x="1227506" y="147670"/>
                </a:lnTo>
                <a:cubicBezTo>
                  <a:pt x="1227506" y="229226"/>
                  <a:pt x="1161392" y="295340"/>
                  <a:pt x="1079836" y="295340"/>
                </a:cubicBezTo>
                <a:lnTo>
                  <a:pt x="147670" y="295340"/>
                </a:lnTo>
                <a:cubicBezTo>
                  <a:pt x="66169" y="295340"/>
                  <a:pt x="0" y="229171"/>
                  <a:pt x="0" y="147670"/>
                </a:cubicBezTo>
                <a:lnTo>
                  <a:pt x="0" y="147670"/>
                </a:lnTo>
                <a:cubicBezTo>
                  <a:pt x="0" y="66169"/>
                  <a:pt x="66169" y="0"/>
                  <a:pt x="14767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8" name="Text 25"/>
          <p:cNvSpPr/>
          <p:nvPr/>
        </p:nvSpPr>
        <p:spPr>
          <a:xfrm>
            <a:off x="10137657" y="4038778"/>
            <a:ext cx="1301341" cy="295340"/>
          </a:xfrm>
          <a:prstGeom prst="rect">
            <a:avLst/>
          </a:prstGeom>
          <a:noFill/>
          <a:ln/>
        </p:spPr>
        <p:txBody>
          <a:bodyPr wrap="square" lIns="110752" tIns="36917" rIns="110752" bIns="36917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Enrolled - 65%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209867" y="5054006"/>
            <a:ext cx="5609612" cy="1797882"/>
          </a:xfrm>
          <a:custGeom>
            <a:avLst/>
            <a:gdLst/>
            <a:ahLst/>
            <a:cxnLst/>
            <a:rect l="l" t="t" r="r" b="b"/>
            <a:pathLst>
              <a:path w="5609612" h="1797882">
                <a:moveTo>
                  <a:pt x="110750" y="0"/>
                </a:moveTo>
                <a:lnTo>
                  <a:pt x="5498863" y="0"/>
                </a:lnTo>
                <a:cubicBezTo>
                  <a:pt x="5560028" y="0"/>
                  <a:pt x="5609612" y="49584"/>
                  <a:pt x="5609612" y="110750"/>
                </a:cubicBezTo>
                <a:lnTo>
                  <a:pt x="5609612" y="1687132"/>
                </a:lnTo>
                <a:cubicBezTo>
                  <a:pt x="5609612" y="1748297"/>
                  <a:pt x="5560028" y="1797882"/>
                  <a:pt x="5498863" y="1797882"/>
                </a:cubicBezTo>
                <a:lnTo>
                  <a:pt x="110750" y="1797882"/>
                </a:lnTo>
                <a:cubicBezTo>
                  <a:pt x="49584" y="1797882"/>
                  <a:pt x="0" y="1748297"/>
                  <a:pt x="0" y="1687132"/>
                </a:cubicBezTo>
                <a:lnTo>
                  <a:pt x="0" y="110750"/>
                </a:lnTo>
                <a:cubicBezTo>
                  <a:pt x="0" y="49584"/>
                  <a:pt x="49584" y="0"/>
                  <a:pt x="11075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0" name="Shape 27"/>
          <p:cNvSpPr/>
          <p:nvPr/>
        </p:nvSpPr>
        <p:spPr>
          <a:xfrm>
            <a:off x="6398146" y="5242283"/>
            <a:ext cx="443010" cy="443010"/>
          </a:xfrm>
          <a:custGeom>
            <a:avLst/>
            <a:gdLst/>
            <a:ahLst/>
            <a:cxnLst/>
            <a:rect l="l" t="t" r="r" b="b"/>
            <a:pathLst>
              <a:path w="443010" h="443010">
                <a:moveTo>
                  <a:pt x="73836" y="0"/>
                </a:moveTo>
                <a:lnTo>
                  <a:pt x="369173" y="0"/>
                </a:lnTo>
                <a:cubicBezTo>
                  <a:pt x="409925" y="0"/>
                  <a:pt x="443010" y="33085"/>
                  <a:pt x="443010" y="73836"/>
                </a:cubicBezTo>
                <a:lnTo>
                  <a:pt x="443010" y="369173"/>
                </a:lnTo>
                <a:cubicBezTo>
                  <a:pt x="443010" y="409925"/>
                  <a:pt x="409925" y="443010"/>
                  <a:pt x="369173" y="443010"/>
                </a:cubicBezTo>
                <a:lnTo>
                  <a:pt x="73836" y="443010"/>
                </a:lnTo>
                <a:cubicBezTo>
                  <a:pt x="33085" y="443010"/>
                  <a:pt x="0" y="409925"/>
                  <a:pt x="0" y="369173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1" name="Shape 28"/>
          <p:cNvSpPr/>
          <p:nvPr/>
        </p:nvSpPr>
        <p:spPr>
          <a:xfrm>
            <a:off x="6515821" y="5371494"/>
            <a:ext cx="207661" cy="184587"/>
          </a:xfrm>
          <a:custGeom>
            <a:avLst/>
            <a:gdLst/>
            <a:ahLst/>
            <a:cxnLst/>
            <a:rect l="l" t="t" r="r" b="b"/>
            <a:pathLst>
              <a:path w="207661" h="184587">
                <a:moveTo>
                  <a:pt x="184732" y="86525"/>
                </a:moveTo>
                <a:lnTo>
                  <a:pt x="121280" y="86525"/>
                </a:lnTo>
                <a:cubicBezTo>
                  <a:pt x="114898" y="86525"/>
                  <a:pt x="109743" y="81370"/>
                  <a:pt x="109743" y="74989"/>
                </a:cubicBezTo>
                <a:lnTo>
                  <a:pt x="109743" y="11537"/>
                </a:lnTo>
                <a:cubicBezTo>
                  <a:pt x="109743" y="5155"/>
                  <a:pt x="114935" y="-72"/>
                  <a:pt x="121244" y="757"/>
                </a:cubicBezTo>
                <a:cubicBezTo>
                  <a:pt x="159820" y="5877"/>
                  <a:pt x="190392" y="36449"/>
                  <a:pt x="195511" y="75025"/>
                </a:cubicBezTo>
                <a:cubicBezTo>
                  <a:pt x="196340" y="81334"/>
                  <a:pt x="191113" y="86525"/>
                  <a:pt x="184732" y="86525"/>
                </a:cubicBezTo>
                <a:close/>
                <a:moveTo>
                  <a:pt x="80252" y="13411"/>
                </a:moveTo>
                <a:cubicBezTo>
                  <a:pt x="86778" y="12041"/>
                  <a:pt x="92438" y="17377"/>
                  <a:pt x="92438" y="24047"/>
                </a:cubicBezTo>
                <a:lnTo>
                  <a:pt x="92438" y="95178"/>
                </a:lnTo>
                <a:cubicBezTo>
                  <a:pt x="92438" y="97197"/>
                  <a:pt x="93159" y="99144"/>
                  <a:pt x="94421" y="100694"/>
                </a:cubicBezTo>
                <a:lnTo>
                  <a:pt x="142046" y="158161"/>
                </a:lnTo>
                <a:cubicBezTo>
                  <a:pt x="146264" y="163245"/>
                  <a:pt x="145363" y="170924"/>
                  <a:pt x="139558" y="174060"/>
                </a:cubicBezTo>
                <a:cubicBezTo>
                  <a:pt x="127264" y="180766"/>
                  <a:pt x="113168" y="184587"/>
                  <a:pt x="98206" y="184587"/>
                </a:cubicBezTo>
                <a:cubicBezTo>
                  <a:pt x="50437" y="184587"/>
                  <a:pt x="11681" y="145831"/>
                  <a:pt x="11681" y="98062"/>
                </a:cubicBezTo>
                <a:cubicBezTo>
                  <a:pt x="11681" y="56422"/>
                  <a:pt x="41063" y="21667"/>
                  <a:pt x="80252" y="13411"/>
                </a:cubicBezTo>
                <a:close/>
                <a:moveTo>
                  <a:pt x="172258" y="103830"/>
                </a:moveTo>
                <a:lnTo>
                  <a:pt x="195331" y="103830"/>
                </a:lnTo>
                <a:cubicBezTo>
                  <a:pt x="202001" y="103830"/>
                  <a:pt x="207336" y="109491"/>
                  <a:pt x="205966" y="116016"/>
                </a:cubicBezTo>
                <a:cubicBezTo>
                  <a:pt x="202289" y="133465"/>
                  <a:pt x="193348" y="148968"/>
                  <a:pt x="180874" y="160793"/>
                </a:cubicBezTo>
                <a:cubicBezTo>
                  <a:pt x="176440" y="165011"/>
                  <a:pt x="169482" y="164110"/>
                  <a:pt x="165588" y="159387"/>
                </a:cubicBezTo>
                <a:lnTo>
                  <a:pt x="135160" y="122722"/>
                </a:lnTo>
                <a:cubicBezTo>
                  <a:pt x="128923" y="115187"/>
                  <a:pt x="134295" y="103830"/>
                  <a:pt x="144029" y="103830"/>
                </a:cubicBezTo>
                <a:lnTo>
                  <a:pt x="172222" y="10383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2" name="Text 29"/>
          <p:cNvSpPr/>
          <p:nvPr/>
        </p:nvSpPr>
        <p:spPr>
          <a:xfrm>
            <a:off x="6951909" y="5316118"/>
            <a:ext cx="2233508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Statistiques Globales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401838" y="5836655"/>
            <a:ext cx="1659441" cy="819568"/>
          </a:xfrm>
          <a:custGeom>
            <a:avLst/>
            <a:gdLst/>
            <a:ahLst/>
            <a:cxnLst/>
            <a:rect l="l" t="t" r="r" b="b"/>
            <a:pathLst>
              <a:path w="1659441" h="819568">
                <a:moveTo>
                  <a:pt x="73835" y="0"/>
                </a:moveTo>
                <a:lnTo>
                  <a:pt x="1585606" y="0"/>
                </a:lnTo>
                <a:cubicBezTo>
                  <a:pt x="1626384" y="0"/>
                  <a:pt x="1659441" y="33057"/>
                  <a:pt x="1659441" y="73835"/>
                </a:cubicBezTo>
                <a:lnTo>
                  <a:pt x="1659441" y="745733"/>
                </a:lnTo>
                <a:cubicBezTo>
                  <a:pt x="1659441" y="786511"/>
                  <a:pt x="1626384" y="819568"/>
                  <a:pt x="1585606" y="819568"/>
                </a:cubicBezTo>
                <a:lnTo>
                  <a:pt x="73835" y="819568"/>
                </a:lnTo>
                <a:cubicBezTo>
                  <a:pt x="33057" y="819568"/>
                  <a:pt x="0" y="786511"/>
                  <a:pt x="0" y="745733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4" name="Text 31"/>
          <p:cNvSpPr/>
          <p:nvPr/>
        </p:nvSpPr>
        <p:spPr>
          <a:xfrm>
            <a:off x="6447063" y="5951097"/>
            <a:ext cx="1568993" cy="33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47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479365" y="6320272"/>
            <a:ext cx="1504388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prédictions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182646" y="5836655"/>
            <a:ext cx="1659441" cy="819568"/>
          </a:xfrm>
          <a:custGeom>
            <a:avLst/>
            <a:gdLst/>
            <a:ahLst/>
            <a:cxnLst/>
            <a:rect l="l" t="t" r="r" b="b"/>
            <a:pathLst>
              <a:path w="1659441" h="819568">
                <a:moveTo>
                  <a:pt x="73835" y="0"/>
                </a:moveTo>
                <a:lnTo>
                  <a:pt x="1585606" y="0"/>
                </a:lnTo>
                <a:cubicBezTo>
                  <a:pt x="1626384" y="0"/>
                  <a:pt x="1659441" y="33057"/>
                  <a:pt x="1659441" y="73835"/>
                </a:cubicBezTo>
                <a:lnTo>
                  <a:pt x="1659441" y="745733"/>
                </a:lnTo>
                <a:cubicBezTo>
                  <a:pt x="1659441" y="786511"/>
                  <a:pt x="1626384" y="819568"/>
                  <a:pt x="1585606" y="819568"/>
                </a:cubicBezTo>
                <a:lnTo>
                  <a:pt x="73835" y="819568"/>
                </a:lnTo>
                <a:cubicBezTo>
                  <a:pt x="33057" y="819568"/>
                  <a:pt x="0" y="786511"/>
                  <a:pt x="0" y="745733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7" name="Text 34"/>
          <p:cNvSpPr/>
          <p:nvPr/>
        </p:nvSpPr>
        <p:spPr>
          <a:xfrm>
            <a:off x="8227869" y="5951097"/>
            <a:ext cx="1568993" cy="33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260172" y="6320272"/>
            <a:ext cx="1504388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Précision moyenne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9963454" y="5836655"/>
            <a:ext cx="1659441" cy="819568"/>
          </a:xfrm>
          <a:custGeom>
            <a:avLst/>
            <a:gdLst/>
            <a:ahLst/>
            <a:cxnLst/>
            <a:rect l="l" t="t" r="r" b="b"/>
            <a:pathLst>
              <a:path w="1659441" h="819568">
                <a:moveTo>
                  <a:pt x="73835" y="0"/>
                </a:moveTo>
                <a:lnTo>
                  <a:pt x="1585606" y="0"/>
                </a:lnTo>
                <a:cubicBezTo>
                  <a:pt x="1626384" y="0"/>
                  <a:pt x="1659441" y="33057"/>
                  <a:pt x="1659441" y="73835"/>
                </a:cubicBezTo>
                <a:lnTo>
                  <a:pt x="1659441" y="745733"/>
                </a:lnTo>
                <a:cubicBezTo>
                  <a:pt x="1659441" y="786511"/>
                  <a:pt x="1626384" y="819568"/>
                  <a:pt x="1585606" y="819568"/>
                </a:cubicBezTo>
                <a:lnTo>
                  <a:pt x="73835" y="819568"/>
                </a:lnTo>
                <a:cubicBezTo>
                  <a:pt x="33057" y="819568"/>
                  <a:pt x="0" y="786511"/>
                  <a:pt x="0" y="745733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0" name="Text 37"/>
          <p:cNvSpPr/>
          <p:nvPr/>
        </p:nvSpPr>
        <p:spPr>
          <a:xfrm>
            <a:off x="10008677" y="5951097"/>
            <a:ext cx="1568993" cy="33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0040980" y="6320272"/>
            <a:ext cx="1504388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Cette semaine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8062" y="680317"/>
            <a:ext cx="11690714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8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Tests, Conclusion &amp; Perspectives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1642" y="1328409"/>
            <a:ext cx="3695196" cy="5288571"/>
          </a:xfrm>
          <a:custGeom>
            <a:avLst/>
            <a:gdLst/>
            <a:ahLst/>
            <a:cxnLst/>
            <a:rect l="l" t="t" r="r" b="b"/>
            <a:pathLst>
              <a:path w="3695196" h="5288571">
                <a:moveTo>
                  <a:pt x="107419" y="0"/>
                </a:moveTo>
                <a:lnTo>
                  <a:pt x="3587777" y="0"/>
                </a:lnTo>
                <a:cubicBezTo>
                  <a:pt x="3647103" y="0"/>
                  <a:pt x="3695196" y="48093"/>
                  <a:pt x="3695196" y="107419"/>
                </a:cubicBezTo>
                <a:lnTo>
                  <a:pt x="3695196" y="5181152"/>
                </a:lnTo>
                <a:cubicBezTo>
                  <a:pt x="3695196" y="5240478"/>
                  <a:pt x="3647103" y="5288571"/>
                  <a:pt x="3587777" y="5288571"/>
                </a:cubicBezTo>
                <a:lnTo>
                  <a:pt x="107419" y="5288571"/>
                </a:lnTo>
                <a:cubicBezTo>
                  <a:pt x="48093" y="5288571"/>
                  <a:pt x="0" y="5240478"/>
                  <a:pt x="0" y="5181152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544254" y="1511019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71614" y="0"/>
                </a:moveTo>
                <a:lnTo>
                  <a:pt x="358060" y="0"/>
                </a:lnTo>
                <a:cubicBezTo>
                  <a:pt x="397585" y="0"/>
                  <a:pt x="429674" y="32089"/>
                  <a:pt x="429674" y="71614"/>
                </a:cubicBezTo>
                <a:lnTo>
                  <a:pt x="429674" y="358060"/>
                </a:lnTo>
                <a:cubicBezTo>
                  <a:pt x="429674" y="397611"/>
                  <a:pt x="397611" y="429674"/>
                  <a:pt x="358060" y="429674"/>
                </a:cubicBezTo>
                <a:lnTo>
                  <a:pt x="71614" y="429674"/>
                </a:lnTo>
                <a:cubicBezTo>
                  <a:pt x="32089" y="429674"/>
                  <a:pt x="0" y="397585"/>
                  <a:pt x="0" y="358060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669575" y="1636340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119797" y="3287"/>
                </a:moveTo>
                <a:cubicBezTo>
                  <a:pt x="115426" y="-1084"/>
                  <a:pt x="108328" y="-1084"/>
                  <a:pt x="103957" y="3287"/>
                </a:cubicBezTo>
                <a:cubicBezTo>
                  <a:pt x="99586" y="7658"/>
                  <a:pt x="99586" y="14756"/>
                  <a:pt x="103957" y="19127"/>
                </a:cubicBezTo>
                <a:lnTo>
                  <a:pt x="107244" y="22379"/>
                </a:lnTo>
                <a:lnTo>
                  <a:pt x="9826" y="119797"/>
                </a:lnTo>
                <a:cubicBezTo>
                  <a:pt x="3532" y="126091"/>
                  <a:pt x="0" y="134623"/>
                  <a:pt x="0" y="143539"/>
                </a:cubicBezTo>
                <a:lnTo>
                  <a:pt x="0" y="145463"/>
                </a:lnTo>
                <a:cubicBezTo>
                  <a:pt x="0" y="163995"/>
                  <a:pt x="15036" y="179031"/>
                  <a:pt x="33568" y="179031"/>
                </a:cubicBezTo>
                <a:lnTo>
                  <a:pt x="35491" y="179031"/>
                </a:lnTo>
                <a:cubicBezTo>
                  <a:pt x="44408" y="179031"/>
                  <a:pt x="52940" y="175499"/>
                  <a:pt x="59234" y="169205"/>
                </a:cubicBezTo>
                <a:lnTo>
                  <a:pt x="156652" y="71787"/>
                </a:lnTo>
                <a:lnTo>
                  <a:pt x="159939" y="75074"/>
                </a:lnTo>
                <a:cubicBezTo>
                  <a:pt x="164310" y="79445"/>
                  <a:pt x="171408" y="79445"/>
                  <a:pt x="175779" y="75074"/>
                </a:cubicBezTo>
                <a:cubicBezTo>
                  <a:pt x="180150" y="70703"/>
                  <a:pt x="180150" y="63605"/>
                  <a:pt x="175779" y="59234"/>
                </a:cubicBezTo>
                <a:lnTo>
                  <a:pt x="119832" y="3287"/>
                </a:lnTo>
                <a:close/>
                <a:moveTo>
                  <a:pt x="71787" y="89515"/>
                </a:moveTo>
                <a:lnTo>
                  <a:pt x="123084" y="38219"/>
                </a:lnTo>
                <a:lnTo>
                  <a:pt x="140812" y="55947"/>
                </a:lnTo>
                <a:lnTo>
                  <a:pt x="107244" y="89515"/>
                </a:lnTo>
                <a:lnTo>
                  <a:pt x="71752" y="89515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1081346" y="1582631"/>
            <a:ext cx="635559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7834" y="2336358"/>
            <a:ext cx="3328183" cy="1045540"/>
          </a:xfrm>
          <a:custGeom>
            <a:avLst/>
            <a:gdLst/>
            <a:ahLst/>
            <a:cxnLst/>
            <a:rect l="l" t="t" r="r" b="b"/>
            <a:pathLst>
              <a:path w="3328183" h="1045540">
                <a:moveTo>
                  <a:pt x="71609" y="0"/>
                </a:moveTo>
                <a:lnTo>
                  <a:pt x="3256574" y="0"/>
                </a:lnTo>
                <a:cubicBezTo>
                  <a:pt x="3296123" y="0"/>
                  <a:pt x="3328183" y="32060"/>
                  <a:pt x="3328183" y="71609"/>
                </a:cubicBezTo>
                <a:lnTo>
                  <a:pt x="3328183" y="973931"/>
                </a:lnTo>
                <a:cubicBezTo>
                  <a:pt x="3328183" y="1013480"/>
                  <a:pt x="3296123" y="1045540"/>
                  <a:pt x="3256574" y="1045540"/>
                </a:cubicBezTo>
                <a:lnTo>
                  <a:pt x="71609" y="1045540"/>
                </a:lnTo>
                <a:cubicBezTo>
                  <a:pt x="32060" y="1045540"/>
                  <a:pt x="0" y="1013480"/>
                  <a:pt x="0" y="973931"/>
                </a:cubicBezTo>
                <a:lnTo>
                  <a:pt x="0" y="71609"/>
                </a:lnTo>
                <a:cubicBezTo>
                  <a:pt x="0" y="32060"/>
                  <a:pt x="32060" y="0"/>
                  <a:pt x="7160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694640" y="2483161"/>
            <a:ext cx="310618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Validation sur Profils Réels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640" y="2769611"/>
            <a:ext cx="3106185" cy="46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Tests effectués sur des </a:t>
            </a:r>
            <a:r>
              <a:rPr lang="en-US" sz="1128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profils étudiants réels</a:t>
            </a:r>
            <a:r>
              <a:rPr lang="en-US" sz="112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pour valider la robustesse du système.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7834" y="3496474"/>
            <a:ext cx="3328183" cy="1278280"/>
          </a:xfrm>
          <a:custGeom>
            <a:avLst/>
            <a:gdLst/>
            <a:ahLst/>
            <a:cxnLst/>
            <a:rect l="l" t="t" r="r" b="b"/>
            <a:pathLst>
              <a:path w="3328183" h="1278280">
                <a:moveTo>
                  <a:pt x="71609" y="0"/>
                </a:moveTo>
                <a:lnTo>
                  <a:pt x="3256574" y="0"/>
                </a:lnTo>
                <a:cubicBezTo>
                  <a:pt x="3296123" y="0"/>
                  <a:pt x="3328183" y="32061"/>
                  <a:pt x="3328183" y="71609"/>
                </a:cubicBezTo>
                <a:lnTo>
                  <a:pt x="3328183" y="1206671"/>
                </a:lnTo>
                <a:cubicBezTo>
                  <a:pt x="3328183" y="1246220"/>
                  <a:pt x="3296123" y="1278280"/>
                  <a:pt x="3256574" y="1278280"/>
                </a:cubicBezTo>
                <a:lnTo>
                  <a:pt x="71609" y="1278280"/>
                </a:lnTo>
                <a:cubicBezTo>
                  <a:pt x="32061" y="1278280"/>
                  <a:pt x="0" y="1246220"/>
                  <a:pt x="0" y="1206671"/>
                </a:cubicBezTo>
                <a:lnTo>
                  <a:pt x="0" y="71609"/>
                </a:lnTo>
                <a:cubicBezTo>
                  <a:pt x="0" y="32061"/>
                  <a:pt x="32061" y="0"/>
                  <a:pt x="7160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694640" y="3643278"/>
            <a:ext cx="310618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Stabilité du Tunnel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640" y="3929727"/>
            <a:ext cx="3106185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 </a:t>
            </a:r>
            <a:r>
              <a:rPr lang="en-US" sz="1128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tunnel de prédiction</a:t>
            </a:r>
            <a:r>
              <a:rPr lang="en-US" sz="112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démontre une stabilité remarquable avec des résultats cohérents.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7834" y="4889330"/>
            <a:ext cx="3328183" cy="1296183"/>
          </a:xfrm>
          <a:custGeom>
            <a:avLst/>
            <a:gdLst/>
            <a:ahLst/>
            <a:cxnLst/>
            <a:rect l="l" t="t" r="r" b="b"/>
            <a:pathLst>
              <a:path w="3328183" h="1296183">
                <a:moveTo>
                  <a:pt x="71614" y="0"/>
                </a:moveTo>
                <a:lnTo>
                  <a:pt x="3256569" y="0"/>
                </a:lnTo>
                <a:cubicBezTo>
                  <a:pt x="3296121" y="0"/>
                  <a:pt x="3328183" y="32063"/>
                  <a:pt x="3328183" y="71614"/>
                </a:cubicBezTo>
                <a:lnTo>
                  <a:pt x="3328183" y="1224569"/>
                </a:lnTo>
                <a:cubicBezTo>
                  <a:pt x="3328183" y="1264121"/>
                  <a:pt x="3296121" y="1296183"/>
                  <a:pt x="3256569" y="1296183"/>
                </a:cubicBezTo>
                <a:lnTo>
                  <a:pt x="71614" y="1296183"/>
                </a:lnTo>
                <a:cubicBezTo>
                  <a:pt x="32063" y="1296183"/>
                  <a:pt x="0" y="1264121"/>
                  <a:pt x="0" y="1224569"/>
                </a:cubicBezTo>
                <a:lnTo>
                  <a:pt x="0" y="71614"/>
                </a:lnTo>
                <a:cubicBezTo>
                  <a:pt x="0" y="32089"/>
                  <a:pt x="32089" y="0"/>
                  <a:pt x="71614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694640" y="5036143"/>
            <a:ext cx="310618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Scénarios de Test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1494" y="5358398"/>
            <a:ext cx="125322" cy="143225"/>
          </a:xfrm>
          <a:custGeom>
            <a:avLst/>
            <a:gdLst/>
            <a:ahLst/>
            <a:cxnLst/>
            <a:rect l="l" t="t" r="r" b="b"/>
            <a:pathLst>
              <a:path w="125322" h="143225">
                <a:moveTo>
                  <a:pt x="121629" y="19609"/>
                </a:moveTo>
                <a:cubicBezTo>
                  <a:pt x="125629" y="22519"/>
                  <a:pt x="126524" y="28113"/>
                  <a:pt x="123615" y="32114"/>
                </a:cubicBezTo>
                <a:lnTo>
                  <a:pt x="52003" y="130581"/>
                </a:lnTo>
                <a:cubicBezTo>
                  <a:pt x="50464" y="132707"/>
                  <a:pt x="48087" y="134021"/>
                  <a:pt x="45457" y="134245"/>
                </a:cubicBezTo>
                <a:cubicBezTo>
                  <a:pt x="42828" y="134469"/>
                  <a:pt x="40282" y="133490"/>
                  <a:pt x="38436" y="131644"/>
                </a:cubicBezTo>
                <a:lnTo>
                  <a:pt x="2630" y="95837"/>
                </a:lnTo>
                <a:cubicBezTo>
                  <a:pt x="-867" y="92341"/>
                  <a:pt x="-867" y="86662"/>
                  <a:pt x="2630" y="83165"/>
                </a:cubicBezTo>
                <a:cubicBezTo>
                  <a:pt x="6126" y="79669"/>
                  <a:pt x="11805" y="79669"/>
                  <a:pt x="15302" y="83165"/>
                </a:cubicBezTo>
                <a:lnTo>
                  <a:pt x="43695" y="111559"/>
                </a:lnTo>
                <a:lnTo>
                  <a:pt x="109153" y="21568"/>
                </a:lnTo>
                <a:cubicBezTo>
                  <a:pt x="112062" y="17567"/>
                  <a:pt x="117657" y="16672"/>
                  <a:pt x="121657" y="19581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924146" y="5322592"/>
            <a:ext cx="287667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Étudiants à risque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1494" y="5609041"/>
            <a:ext cx="125322" cy="143225"/>
          </a:xfrm>
          <a:custGeom>
            <a:avLst/>
            <a:gdLst/>
            <a:ahLst/>
            <a:cxnLst/>
            <a:rect l="l" t="t" r="r" b="b"/>
            <a:pathLst>
              <a:path w="125322" h="143225">
                <a:moveTo>
                  <a:pt x="121629" y="19609"/>
                </a:moveTo>
                <a:cubicBezTo>
                  <a:pt x="125629" y="22519"/>
                  <a:pt x="126524" y="28113"/>
                  <a:pt x="123615" y="32114"/>
                </a:cubicBezTo>
                <a:lnTo>
                  <a:pt x="52003" y="130581"/>
                </a:lnTo>
                <a:cubicBezTo>
                  <a:pt x="50464" y="132707"/>
                  <a:pt x="48087" y="134021"/>
                  <a:pt x="45457" y="134245"/>
                </a:cubicBezTo>
                <a:cubicBezTo>
                  <a:pt x="42828" y="134469"/>
                  <a:pt x="40282" y="133490"/>
                  <a:pt x="38436" y="131644"/>
                </a:cubicBezTo>
                <a:lnTo>
                  <a:pt x="2630" y="95837"/>
                </a:lnTo>
                <a:cubicBezTo>
                  <a:pt x="-867" y="92341"/>
                  <a:pt x="-867" y="86662"/>
                  <a:pt x="2630" y="83165"/>
                </a:cubicBezTo>
                <a:cubicBezTo>
                  <a:pt x="6126" y="79669"/>
                  <a:pt x="11805" y="79669"/>
                  <a:pt x="15302" y="83165"/>
                </a:cubicBezTo>
                <a:lnTo>
                  <a:pt x="43695" y="111559"/>
                </a:lnTo>
                <a:lnTo>
                  <a:pt x="109153" y="21568"/>
                </a:lnTo>
                <a:cubicBezTo>
                  <a:pt x="112062" y="17567"/>
                  <a:pt x="117657" y="16672"/>
                  <a:pt x="121657" y="19581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924146" y="5573235"/>
            <a:ext cx="287667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Profils excellents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1494" y="5859685"/>
            <a:ext cx="125322" cy="143225"/>
          </a:xfrm>
          <a:custGeom>
            <a:avLst/>
            <a:gdLst/>
            <a:ahLst/>
            <a:cxnLst/>
            <a:rect l="l" t="t" r="r" b="b"/>
            <a:pathLst>
              <a:path w="125322" h="143225">
                <a:moveTo>
                  <a:pt x="121629" y="19609"/>
                </a:moveTo>
                <a:cubicBezTo>
                  <a:pt x="125629" y="22519"/>
                  <a:pt x="126524" y="28113"/>
                  <a:pt x="123615" y="32114"/>
                </a:cubicBezTo>
                <a:lnTo>
                  <a:pt x="52003" y="130581"/>
                </a:lnTo>
                <a:cubicBezTo>
                  <a:pt x="50464" y="132707"/>
                  <a:pt x="48087" y="134021"/>
                  <a:pt x="45457" y="134245"/>
                </a:cubicBezTo>
                <a:cubicBezTo>
                  <a:pt x="42828" y="134469"/>
                  <a:pt x="40282" y="133490"/>
                  <a:pt x="38436" y="131644"/>
                </a:cubicBezTo>
                <a:lnTo>
                  <a:pt x="2630" y="95837"/>
                </a:lnTo>
                <a:cubicBezTo>
                  <a:pt x="-867" y="92341"/>
                  <a:pt x="-867" y="86662"/>
                  <a:pt x="2630" y="83165"/>
                </a:cubicBezTo>
                <a:cubicBezTo>
                  <a:pt x="6126" y="79669"/>
                  <a:pt x="11805" y="79669"/>
                  <a:pt x="15302" y="83165"/>
                </a:cubicBezTo>
                <a:lnTo>
                  <a:pt x="43695" y="111559"/>
                </a:lnTo>
                <a:lnTo>
                  <a:pt x="109153" y="21568"/>
                </a:lnTo>
                <a:cubicBezTo>
                  <a:pt x="112062" y="17567"/>
                  <a:pt x="117657" y="16672"/>
                  <a:pt x="121657" y="19581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924146" y="5823878"/>
            <a:ext cx="287667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 limites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45940" y="1328409"/>
            <a:ext cx="3695196" cy="5288571"/>
          </a:xfrm>
          <a:custGeom>
            <a:avLst/>
            <a:gdLst/>
            <a:ahLst/>
            <a:cxnLst/>
            <a:rect l="l" t="t" r="r" b="b"/>
            <a:pathLst>
              <a:path w="3695196" h="5288571">
                <a:moveTo>
                  <a:pt x="107419" y="0"/>
                </a:moveTo>
                <a:lnTo>
                  <a:pt x="3587777" y="0"/>
                </a:lnTo>
                <a:cubicBezTo>
                  <a:pt x="3647103" y="0"/>
                  <a:pt x="3695196" y="48093"/>
                  <a:pt x="3695196" y="107419"/>
                </a:cubicBezTo>
                <a:lnTo>
                  <a:pt x="3695196" y="5181152"/>
                </a:lnTo>
                <a:cubicBezTo>
                  <a:pt x="3695196" y="5240478"/>
                  <a:pt x="3647103" y="5288571"/>
                  <a:pt x="3587777" y="5288571"/>
                </a:cubicBezTo>
                <a:lnTo>
                  <a:pt x="107419" y="5288571"/>
                </a:lnTo>
                <a:cubicBezTo>
                  <a:pt x="48093" y="5288571"/>
                  <a:pt x="0" y="5240478"/>
                  <a:pt x="0" y="5181152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3" name="Shape 21"/>
          <p:cNvSpPr/>
          <p:nvPr/>
        </p:nvSpPr>
        <p:spPr>
          <a:xfrm>
            <a:off x="4428552" y="1511019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71614" y="0"/>
                </a:moveTo>
                <a:lnTo>
                  <a:pt x="358060" y="0"/>
                </a:lnTo>
                <a:cubicBezTo>
                  <a:pt x="397585" y="0"/>
                  <a:pt x="429674" y="32089"/>
                  <a:pt x="429674" y="71614"/>
                </a:cubicBezTo>
                <a:lnTo>
                  <a:pt x="429674" y="358060"/>
                </a:lnTo>
                <a:cubicBezTo>
                  <a:pt x="429674" y="397611"/>
                  <a:pt x="397611" y="429674"/>
                  <a:pt x="358060" y="429674"/>
                </a:cubicBezTo>
                <a:lnTo>
                  <a:pt x="71614" y="429674"/>
                </a:lnTo>
                <a:cubicBezTo>
                  <a:pt x="32089" y="429674"/>
                  <a:pt x="0" y="397585"/>
                  <a:pt x="0" y="358060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4" name="Shape 22"/>
          <p:cNvSpPr/>
          <p:nvPr/>
        </p:nvSpPr>
        <p:spPr>
          <a:xfrm>
            <a:off x="4553873" y="1636340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89515" y="179031"/>
                </a:moveTo>
                <a:cubicBezTo>
                  <a:pt x="138920" y="179031"/>
                  <a:pt x="179031" y="138920"/>
                  <a:pt x="179031" y="89515"/>
                </a:cubicBezTo>
                <a:cubicBezTo>
                  <a:pt x="179031" y="40111"/>
                  <a:pt x="138920" y="0"/>
                  <a:pt x="89515" y="0"/>
                </a:cubicBezTo>
                <a:cubicBezTo>
                  <a:pt x="40111" y="0"/>
                  <a:pt x="0" y="40111"/>
                  <a:pt x="0" y="89515"/>
                </a:cubicBezTo>
                <a:cubicBezTo>
                  <a:pt x="0" y="138920"/>
                  <a:pt x="40111" y="179031"/>
                  <a:pt x="89515" y="179031"/>
                </a:cubicBezTo>
                <a:close/>
                <a:moveTo>
                  <a:pt x="119028" y="74375"/>
                </a:moveTo>
                <a:lnTo>
                  <a:pt x="91054" y="119132"/>
                </a:lnTo>
                <a:cubicBezTo>
                  <a:pt x="89585" y="121475"/>
                  <a:pt x="87068" y="122944"/>
                  <a:pt x="84305" y="123084"/>
                </a:cubicBezTo>
                <a:cubicBezTo>
                  <a:pt x="81543" y="123224"/>
                  <a:pt x="78885" y="121965"/>
                  <a:pt x="77242" y="119727"/>
                </a:cubicBezTo>
                <a:lnTo>
                  <a:pt x="60458" y="97348"/>
                </a:lnTo>
                <a:cubicBezTo>
                  <a:pt x="57661" y="93642"/>
                  <a:pt x="58430" y="88396"/>
                  <a:pt x="62136" y="85599"/>
                </a:cubicBezTo>
                <a:cubicBezTo>
                  <a:pt x="65843" y="82802"/>
                  <a:pt x="71088" y="83571"/>
                  <a:pt x="73885" y="87278"/>
                </a:cubicBezTo>
                <a:lnTo>
                  <a:pt x="83326" y="99866"/>
                </a:lnTo>
                <a:lnTo>
                  <a:pt x="104796" y="65493"/>
                </a:lnTo>
                <a:cubicBezTo>
                  <a:pt x="107244" y="61577"/>
                  <a:pt x="112419" y="60353"/>
                  <a:pt x="116370" y="62836"/>
                </a:cubicBezTo>
                <a:cubicBezTo>
                  <a:pt x="120321" y="65318"/>
                  <a:pt x="121510" y="70458"/>
                  <a:pt x="119028" y="7441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Text 23"/>
          <p:cNvSpPr/>
          <p:nvPr/>
        </p:nvSpPr>
        <p:spPr>
          <a:xfrm>
            <a:off x="4965644" y="1582631"/>
            <a:ext cx="59080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Bilan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35713" y="2091078"/>
            <a:ext cx="3317441" cy="1124314"/>
          </a:xfrm>
          <a:custGeom>
            <a:avLst/>
            <a:gdLst/>
            <a:ahLst/>
            <a:cxnLst/>
            <a:rect l="l" t="t" r="r" b="b"/>
            <a:pathLst>
              <a:path w="3317441" h="1124314">
                <a:moveTo>
                  <a:pt x="107417" y="0"/>
                </a:moveTo>
                <a:lnTo>
                  <a:pt x="3210024" y="0"/>
                </a:lnTo>
                <a:cubicBezTo>
                  <a:pt x="3269349" y="0"/>
                  <a:pt x="3317441" y="48092"/>
                  <a:pt x="3317441" y="107417"/>
                </a:cubicBezTo>
                <a:lnTo>
                  <a:pt x="3317441" y="1016897"/>
                </a:lnTo>
                <a:cubicBezTo>
                  <a:pt x="3317441" y="1076221"/>
                  <a:pt x="3269349" y="1124314"/>
                  <a:pt x="3210024" y="1124314"/>
                </a:cubicBezTo>
                <a:lnTo>
                  <a:pt x="107417" y="1124314"/>
                </a:lnTo>
                <a:cubicBezTo>
                  <a:pt x="48092" y="1124314"/>
                  <a:pt x="0" y="1076221"/>
                  <a:pt x="0" y="1016897"/>
                </a:cubicBezTo>
                <a:lnTo>
                  <a:pt x="0" y="107417"/>
                </a:lnTo>
                <a:cubicBezTo>
                  <a:pt x="0" y="48132"/>
                  <a:pt x="48132" y="0"/>
                  <a:pt x="107417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2032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7" name="Text 25"/>
          <p:cNvSpPr/>
          <p:nvPr/>
        </p:nvSpPr>
        <p:spPr>
          <a:xfrm>
            <a:off x="4586099" y="2241470"/>
            <a:ext cx="3097233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Succès du Projet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86099" y="2599531"/>
            <a:ext cx="3088282" cy="46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Intégration réussie</a:t>
            </a:r>
            <a:r>
              <a:rPr lang="en-US" sz="1128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la Data Science dans un outil Web fonctionnel et accessible.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32132" y="3333554"/>
            <a:ext cx="3328183" cy="1869082"/>
          </a:xfrm>
          <a:custGeom>
            <a:avLst/>
            <a:gdLst/>
            <a:ahLst/>
            <a:cxnLst/>
            <a:rect l="l" t="t" r="r" b="b"/>
            <a:pathLst>
              <a:path w="3328183" h="1869082">
                <a:moveTo>
                  <a:pt x="71605" y="0"/>
                </a:moveTo>
                <a:lnTo>
                  <a:pt x="3256579" y="0"/>
                </a:lnTo>
                <a:cubicBezTo>
                  <a:pt x="3296125" y="0"/>
                  <a:pt x="3328183" y="32058"/>
                  <a:pt x="3328183" y="71605"/>
                </a:cubicBezTo>
                <a:lnTo>
                  <a:pt x="3328183" y="1797477"/>
                </a:lnTo>
                <a:cubicBezTo>
                  <a:pt x="3328183" y="1837023"/>
                  <a:pt x="3296125" y="1869082"/>
                  <a:pt x="3256579" y="1869082"/>
                </a:cubicBezTo>
                <a:lnTo>
                  <a:pt x="71605" y="1869082"/>
                </a:lnTo>
                <a:cubicBezTo>
                  <a:pt x="32058" y="1869082"/>
                  <a:pt x="0" y="1837023"/>
                  <a:pt x="0" y="1797477"/>
                </a:cubicBezTo>
                <a:lnTo>
                  <a:pt x="0" y="71605"/>
                </a:lnTo>
                <a:cubicBezTo>
                  <a:pt x="0" y="32085"/>
                  <a:pt x="32085" y="0"/>
                  <a:pt x="7160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0" name="Text 28"/>
          <p:cNvSpPr/>
          <p:nvPr/>
        </p:nvSpPr>
        <p:spPr>
          <a:xfrm>
            <a:off x="4578937" y="3480358"/>
            <a:ext cx="310618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Réalisations Clés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7889" y="3802613"/>
            <a:ext cx="161128" cy="143225"/>
          </a:xfrm>
          <a:custGeom>
            <a:avLst/>
            <a:gdLst/>
            <a:ahLst/>
            <a:cxnLst/>
            <a:rect l="l" t="t" r="r" b="b"/>
            <a:pathLst>
              <a:path w="161128" h="143225">
                <a:moveTo>
                  <a:pt x="86578" y="-5287"/>
                </a:moveTo>
                <a:cubicBezTo>
                  <a:pt x="85431" y="-7525"/>
                  <a:pt x="83109" y="-8952"/>
                  <a:pt x="80592" y="-8952"/>
                </a:cubicBezTo>
                <a:cubicBezTo>
                  <a:pt x="78074" y="-8952"/>
                  <a:pt x="75752" y="-7525"/>
                  <a:pt x="74606" y="-5287"/>
                </a:cubicBezTo>
                <a:lnTo>
                  <a:pt x="54017" y="35051"/>
                </a:lnTo>
                <a:lnTo>
                  <a:pt x="9287" y="42156"/>
                </a:lnTo>
                <a:cubicBezTo>
                  <a:pt x="6798" y="42548"/>
                  <a:pt x="4728" y="44310"/>
                  <a:pt x="3944" y="46716"/>
                </a:cubicBezTo>
                <a:cubicBezTo>
                  <a:pt x="3161" y="49122"/>
                  <a:pt x="3804" y="51751"/>
                  <a:pt x="5567" y="53541"/>
                </a:cubicBezTo>
                <a:lnTo>
                  <a:pt x="37569" y="85571"/>
                </a:lnTo>
                <a:lnTo>
                  <a:pt x="30519" y="130301"/>
                </a:lnTo>
                <a:cubicBezTo>
                  <a:pt x="30128" y="132791"/>
                  <a:pt x="31163" y="135308"/>
                  <a:pt x="33205" y="136791"/>
                </a:cubicBezTo>
                <a:cubicBezTo>
                  <a:pt x="35247" y="138273"/>
                  <a:pt x="37932" y="138497"/>
                  <a:pt x="40198" y="137350"/>
                </a:cubicBezTo>
                <a:lnTo>
                  <a:pt x="80592" y="116818"/>
                </a:lnTo>
                <a:lnTo>
                  <a:pt x="120958" y="137350"/>
                </a:lnTo>
                <a:cubicBezTo>
                  <a:pt x="123196" y="138497"/>
                  <a:pt x="125909" y="138273"/>
                  <a:pt x="127951" y="136791"/>
                </a:cubicBezTo>
                <a:cubicBezTo>
                  <a:pt x="129993" y="135308"/>
                  <a:pt x="131028" y="132819"/>
                  <a:pt x="130637" y="130301"/>
                </a:cubicBezTo>
                <a:lnTo>
                  <a:pt x="123559" y="85571"/>
                </a:lnTo>
                <a:lnTo>
                  <a:pt x="155561" y="53541"/>
                </a:lnTo>
                <a:cubicBezTo>
                  <a:pt x="157351" y="51751"/>
                  <a:pt x="157967" y="49122"/>
                  <a:pt x="157183" y="46716"/>
                </a:cubicBezTo>
                <a:cubicBezTo>
                  <a:pt x="156400" y="44310"/>
                  <a:pt x="154358" y="42548"/>
                  <a:pt x="151841" y="42156"/>
                </a:cubicBezTo>
                <a:lnTo>
                  <a:pt x="107139" y="35051"/>
                </a:lnTo>
                <a:lnTo>
                  <a:pt x="86578" y="-5287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2" name="Text 30"/>
          <p:cNvSpPr/>
          <p:nvPr/>
        </p:nvSpPr>
        <p:spPr>
          <a:xfrm>
            <a:off x="4808444" y="3766807"/>
            <a:ext cx="2876679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Pipeline ML complet (EDA → Déploiement)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87889" y="4303900"/>
            <a:ext cx="161128" cy="143225"/>
          </a:xfrm>
          <a:custGeom>
            <a:avLst/>
            <a:gdLst/>
            <a:ahLst/>
            <a:cxnLst/>
            <a:rect l="l" t="t" r="r" b="b"/>
            <a:pathLst>
              <a:path w="161128" h="143225">
                <a:moveTo>
                  <a:pt x="86578" y="-5287"/>
                </a:moveTo>
                <a:cubicBezTo>
                  <a:pt x="85431" y="-7525"/>
                  <a:pt x="83109" y="-8952"/>
                  <a:pt x="80592" y="-8952"/>
                </a:cubicBezTo>
                <a:cubicBezTo>
                  <a:pt x="78074" y="-8952"/>
                  <a:pt x="75752" y="-7525"/>
                  <a:pt x="74606" y="-5287"/>
                </a:cubicBezTo>
                <a:lnTo>
                  <a:pt x="54017" y="35051"/>
                </a:lnTo>
                <a:lnTo>
                  <a:pt x="9287" y="42156"/>
                </a:lnTo>
                <a:cubicBezTo>
                  <a:pt x="6798" y="42548"/>
                  <a:pt x="4728" y="44310"/>
                  <a:pt x="3944" y="46716"/>
                </a:cubicBezTo>
                <a:cubicBezTo>
                  <a:pt x="3161" y="49122"/>
                  <a:pt x="3804" y="51751"/>
                  <a:pt x="5567" y="53541"/>
                </a:cubicBezTo>
                <a:lnTo>
                  <a:pt x="37569" y="85571"/>
                </a:lnTo>
                <a:lnTo>
                  <a:pt x="30519" y="130301"/>
                </a:lnTo>
                <a:cubicBezTo>
                  <a:pt x="30128" y="132791"/>
                  <a:pt x="31163" y="135308"/>
                  <a:pt x="33205" y="136791"/>
                </a:cubicBezTo>
                <a:cubicBezTo>
                  <a:pt x="35247" y="138273"/>
                  <a:pt x="37932" y="138497"/>
                  <a:pt x="40198" y="137350"/>
                </a:cubicBezTo>
                <a:lnTo>
                  <a:pt x="80592" y="116818"/>
                </a:lnTo>
                <a:lnTo>
                  <a:pt x="120958" y="137350"/>
                </a:lnTo>
                <a:cubicBezTo>
                  <a:pt x="123196" y="138497"/>
                  <a:pt x="125909" y="138273"/>
                  <a:pt x="127951" y="136791"/>
                </a:cubicBezTo>
                <a:cubicBezTo>
                  <a:pt x="129993" y="135308"/>
                  <a:pt x="131028" y="132819"/>
                  <a:pt x="130637" y="130301"/>
                </a:cubicBezTo>
                <a:lnTo>
                  <a:pt x="123559" y="85571"/>
                </a:lnTo>
                <a:lnTo>
                  <a:pt x="155561" y="53541"/>
                </a:lnTo>
                <a:cubicBezTo>
                  <a:pt x="157351" y="51751"/>
                  <a:pt x="157967" y="49122"/>
                  <a:pt x="157183" y="46716"/>
                </a:cubicBezTo>
                <a:cubicBezTo>
                  <a:pt x="156400" y="44310"/>
                  <a:pt x="154358" y="42548"/>
                  <a:pt x="151841" y="42156"/>
                </a:cubicBezTo>
                <a:lnTo>
                  <a:pt x="107139" y="35051"/>
                </a:lnTo>
                <a:lnTo>
                  <a:pt x="86578" y="-5287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4" name="Text 32"/>
          <p:cNvSpPr/>
          <p:nvPr/>
        </p:nvSpPr>
        <p:spPr>
          <a:xfrm>
            <a:off x="4808444" y="4268093"/>
            <a:ext cx="287667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Interface utilisateur intuitive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87889" y="4590349"/>
            <a:ext cx="161128" cy="143225"/>
          </a:xfrm>
          <a:custGeom>
            <a:avLst/>
            <a:gdLst/>
            <a:ahLst/>
            <a:cxnLst/>
            <a:rect l="l" t="t" r="r" b="b"/>
            <a:pathLst>
              <a:path w="161128" h="143225">
                <a:moveTo>
                  <a:pt x="86578" y="-5287"/>
                </a:moveTo>
                <a:cubicBezTo>
                  <a:pt x="85431" y="-7525"/>
                  <a:pt x="83109" y="-8952"/>
                  <a:pt x="80592" y="-8952"/>
                </a:cubicBezTo>
                <a:cubicBezTo>
                  <a:pt x="78074" y="-8952"/>
                  <a:pt x="75752" y="-7525"/>
                  <a:pt x="74606" y="-5287"/>
                </a:cubicBezTo>
                <a:lnTo>
                  <a:pt x="54017" y="35051"/>
                </a:lnTo>
                <a:lnTo>
                  <a:pt x="9287" y="42156"/>
                </a:lnTo>
                <a:cubicBezTo>
                  <a:pt x="6798" y="42548"/>
                  <a:pt x="4728" y="44310"/>
                  <a:pt x="3944" y="46716"/>
                </a:cubicBezTo>
                <a:cubicBezTo>
                  <a:pt x="3161" y="49122"/>
                  <a:pt x="3804" y="51751"/>
                  <a:pt x="5567" y="53541"/>
                </a:cubicBezTo>
                <a:lnTo>
                  <a:pt x="37569" y="85571"/>
                </a:lnTo>
                <a:lnTo>
                  <a:pt x="30519" y="130301"/>
                </a:lnTo>
                <a:cubicBezTo>
                  <a:pt x="30128" y="132791"/>
                  <a:pt x="31163" y="135308"/>
                  <a:pt x="33205" y="136791"/>
                </a:cubicBezTo>
                <a:cubicBezTo>
                  <a:pt x="35247" y="138273"/>
                  <a:pt x="37932" y="138497"/>
                  <a:pt x="40198" y="137350"/>
                </a:cubicBezTo>
                <a:lnTo>
                  <a:pt x="80592" y="116818"/>
                </a:lnTo>
                <a:lnTo>
                  <a:pt x="120958" y="137350"/>
                </a:lnTo>
                <a:cubicBezTo>
                  <a:pt x="123196" y="138497"/>
                  <a:pt x="125909" y="138273"/>
                  <a:pt x="127951" y="136791"/>
                </a:cubicBezTo>
                <a:cubicBezTo>
                  <a:pt x="129993" y="135308"/>
                  <a:pt x="131028" y="132819"/>
                  <a:pt x="130637" y="130301"/>
                </a:cubicBezTo>
                <a:lnTo>
                  <a:pt x="123559" y="85571"/>
                </a:lnTo>
                <a:lnTo>
                  <a:pt x="155561" y="53541"/>
                </a:lnTo>
                <a:cubicBezTo>
                  <a:pt x="157351" y="51751"/>
                  <a:pt x="157967" y="49122"/>
                  <a:pt x="157183" y="46716"/>
                </a:cubicBezTo>
                <a:cubicBezTo>
                  <a:pt x="156400" y="44310"/>
                  <a:pt x="154358" y="42548"/>
                  <a:pt x="151841" y="42156"/>
                </a:cubicBezTo>
                <a:lnTo>
                  <a:pt x="107139" y="35051"/>
                </a:lnTo>
                <a:lnTo>
                  <a:pt x="86578" y="-5287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6" name="Text 34"/>
          <p:cNvSpPr/>
          <p:nvPr/>
        </p:nvSpPr>
        <p:spPr>
          <a:xfrm>
            <a:off x="4808444" y="4554543"/>
            <a:ext cx="287667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Sécurité et authentification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7889" y="4876798"/>
            <a:ext cx="161128" cy="143225"/>
          </a:xfrm>
          <a:custGeom>
            <a:avLst/>
            <a:gdLst/>
            <a:ahLst/>
            <a:cxnLst/>
            <a:rect l="l" t="t" r="r" b="b"/>
            <a:pathLst>
              <a:path w="161128" h="143225">
                <a:moveTo>
                  <a:pt x="86578" y="-5287"/>
                </a:moveTo>
                <a:cubicBezTo>
                  <a:pt x="85431" y="-7525"/>
                  <a:pt x="83109" y="-8952"/>
                  <a:pt x="80592" y="-8952"/>
                </a:cubicBezTo>
                <a:cubicBezTo>
                  <a:pt x="78074" y="-8952"/>
                  <a:pt x="75752" y="-7525"/>
                  <a:pt x="74606" y="-5287"/>
                </a:cubicBezTo>
                <a:lnTo>
                  <a:pt x="54017" y="35051"/>
                </a:lnTo>
                <a:lnTo>
                  <a:pt x="9287" y="42156"/>
                </a:lnTo>
                <a:cubicBezTo>
                  <a:pt x="6798" y="42548"/>
                  <a:pt x="4728" y="44310"/>
                  <a:pt x="3944" y="46716"/>
                </a:cubicBezTo>
                <a:cubicBezTo>
                  <a:pt x="3161" y="49122"/>
                  <a:pt x="3804" y="51751"/>
                  <a:pt x="5567" y="53541"/>
                </a:cubicBezTo>
                <a:lnTo>
                  <a:pt x="37569" y="85571"/>
                </a:lnTo>
                <a:lnTo>
                  <a:pt x="30519" y="130301"/>
                </a:lnTo>
                <a:cubicBezTo>
                  <a:pt x="30128" y="132791"/>
                  <a:pt x="31163" y="135308"/>
                  <a:pt x="33205" y="136791"/>
                </a:cubicBezTo>
                <a:cubicBezTo>
                  <a:pt x="35247" y="138273"/>
                  <a:pt x="37932" y="138497"/>
                  <a:pt x="40198" y="137350"/>
                </a:cubicBezTo>
                <a:lnTo>
                  <a:pt x="80592" y="116818"/>
                </a:lnTo>
                <a:lnTo>
                  <a:pt x="120958" y="137350"/>
                </a:lnTo>
                <a:cubicBezTo>
                  <a:pt x="123196" y="138497"/>
                  <a:pt x="125909" y="138273"/>
                  <a:pt x="127951" y="136791"/>
                </a:cubicBezTo>
                <a:cubicBezTo>
                  <a:pt x="129993" y="135308"/>
                  <a:pt x="131028" y="132819"/>
                  <a:pt x="130637" y="130301"/>
                </a:cubicBezTo>
                <a:lnTo>
                  <a:pt x="123559" y="85571"/>
                </a:lnTo>
                <a:lnTo>
                  <a:pt x="155561" y="53541"/>
                </a:lnTo>
                <a:cubicBezTo>
                  <a:pt x="157351" y="51751"/>
                  <a:pt x="157967" y="49122"/>
                  <a:pt x="157183" y="46716"/>
                </a:cubicBezTo>
                <a:cubicBezTo>
                  <a:pt x="156400" y="44310"/>
                  <a:pt x="154358" y="42548"/>
                  <a:pt x="151841" y="42156"/>
                </a:cubicBezTo>
                <a:lnTo>
                  <a:pt x="107139" y="35051"/>
                </a:lnTo>
                <a:lnTo>
                  <a:pt x="86578" y="-5287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8" name="Text 36"/>
          <p:cNvSpPr/>
          <p:nvPr/>
        </p:nvSpPr>
        <p:spPr>
          <a:xfrm>
            <a:off x="4808444" y="4840992"/>
            <a:ext cx="287667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Historique et statistiques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32132" y="5317221"/>
            <a:ext cx="3328183" cy="1117152"/>
          </a:xfrm>
          <a:custGeom>
            <a:avLst/>
            <a:gdLst/>
            <a:ahLst/>
            <a:cxnLst/>
            <a:rect l="l" t="t" r="r" b="b"/>
            <a:pathLst>
              <a:path w="3328183" h="1117152">
                <a:moveTo>
                  <a:pt x="71609" y="0"/>
                </a:moveTo>
                <a:lnTo>
                  <a:pt x="3256574" y="0"/>
                </a:lnTo>
                <a:cubicBezTo>
                  <a:pt x="3296123" y="0"/>
                  <a:pt x="3328183" y="32061"/>
                  <a:pt x="3328183" y="71609"/>
                </a:cubicBezTo>
                <a:lnTo>
                  <a:pt x="3328183" y="1045543"/>
                </a:lnTo>
                <a:cubicBezTo>
                  <a:pt x="3328183" y="1085065"/>
                  <a:pt x="3296096" y="1117152"/>
                  <a:pt x="3256574" y="1117152"/>
                </a:cubicBezTo>
                <a:lnTo>
                  <a:pt x="71609" y="1117152"/>
                </a:lnTo>
                <a:cubicBezTo>
                  <a:pt x="32061" y="1117152"/>
                  <a:pt x="0" y="1085092"/>
                  <a:pt x="0" y="1045543"/>
                </a:cubicBezTo>
                <a:lnTo>
                  <a:pt x="0" y="71609"/>
                </a:lnTo>
                <a:cubicBezTo>
                  <a:pt x="0" y="32087"/>
                  <a:pt x="32087" y="0"/>
                  <a:pt x="7160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0" name="Text 38"/>
          <p:cNvSpPr/>
          <p:nvPr/>
        </p:nvSpPr>
        <p:spPr>
          <a:xfrm>
            <a:off x="4543131" y="5464025"/>
            <a:ext cx="310618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Globale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98374" y="5714668"/>
            <a:ext cx="3195700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3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83%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43131" y="6072729"/>
            <a:ext cx="310618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F1-score moyen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30238" y="1328409"/>
            <a:ext cx="3695196" cy="5288571"/>
          </a:xfrm>
          <a:custGeom>
            <a:avLst/>
            <a:gdLst/>
            <a:ahLst/>
            <a:cxnLst/>
            <a:rect l="l" t="t" r="r" b="b"/>
            <a:pathLst>
              <a:path w="3695196" h="5288571">
                <a:moveTo>
                  <a:pt x="107419" y="0"/>
                </a:moveTo>
                <a:lnTo>
                  <a:pt x="3587777" y="0"/>
                </a:lnTo>
                <a:cubicBezTo>
                  <a:pt x="3647103" y="0"/>
                  <a:pt x="3695196" y="48093"/>
                  <a:pt x="3695196" y="107419"/>
                </a:cubicBezTo>
                <a:lnTo>
                  <a:pt x="3695196" y="5181152"/>
                </a:lnTo>
                <a:cubicBezTo>
                  <a:pt x="3695196" y="5240478"/>
                  <a:pt x="3647103" y="5288571"/>
                  <a:pt x="3587777" y="5288571"/>
                </a:cubicBezTo>
                <a:lnTo>
                  <a:pt x="107419" y="5288571"/>
                </a:lnTo>
                <a:cubicBezTo>
                  <a:pt x="48093" y="5288571"/>
                  <a:pt x="0" y="5240478"/>
                  <a:pt x="0" y="5181152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4" name="Shape 42"/>
          <p:cNvSpPr/>
          <p:nvPr/>
        </p:nvSpPr>
        <p:spPr>
          <a:xfrm>
            <a:off x="8312850" y="1511019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71614" y="0"/>
                </a:moveTo>
                <a:lnTo>
                  <a:pt x="358060" y="0"/>
                </a:lnTo>
                <a:cubicBezTo>
                  <a:pt x="397585" y="0"/>
                  <a:pt x="429674" y="32089"/>
                  <a:pt x="429674" y="71614"/>
                </a:cubicBezTo>
                <a:lnTo>
                  <a:pt x="429674" y="358060"/>
                </a:lnTo>
                <a:cubicBezTo>
                  <a:pt x="429674" y="397611"/>
                  <a:pt x="397611" y="429674"/>
                  <a:pt x="358060" y="429674"/>
                </a:cubicBezTo>
                <a:lnTo>
                  <a:pt x="71614" y="429674"/>
                </a:lnTo>
                <a:cubicBezTo>
                  <a:pt x="32089" y="429674"/>
                  <a:pt x="0" y="397585"/>
                  <a:pt x="0" y="358060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5" name="Shape 43"/>
          <p:cNvSpPr/>
          <p:nvPr/>
        </p:nvSpPr>
        <p:spPr>
          <a:xfrm>
            <a:off x="8438171" y="1636340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44758" y="111894"/>
                </a:moveTo>
                <a:lnTo>
                  <a:pt x="8567" y="111894"/>
                </a:lnTo>
                <a:cubicBezTo>
                  <a:pt x="-140" y="111894"/>
                  <a:pt x="-5490" y="102418"/>
                  <a:pt x="-1014" y="94935"/>
                </a:cubicBezTo>
                <a:lnTo>
                  <a:pt x="17483" y="64094"/>
                </a:lnTo>
                <a:cubicBezTo>
                  <a:pt x="20526" y="59024"/>
                  <a:pt x="25980" y="55947"/>
                  <a:pt x="31890" y="55947"/>
                </a:cubicBezTo>
                <a:lnTo>
                  <a:pt x="65108" y="55947"/>
                </a:lnTo>
                <a:cubicBezTo>
                  <a:pt x="91718" y="10875"/>
                  <a:pt x="131406" y="8602"/>
                  <a:pt x="157946" y="12483"/>
                </a:cubicBezTo>
                <a:cubicBezTo>
                  <a:pt x="162422" y="13148"/>
                  <a:pt x="165918" y="16644"/>
                  <a:pt x="166548" y="21085"/>
                </a:cubicBezTo>
                <a:cubicBezTo>
                  <a:pt x="170429" y="47625"/>
                  <a:pt x="168156" y="87313"/>
                  <a:pt x="123084" y="113922"/>
                </a:cubicBezTo>
                <a:lnTo>
                  <a:pt x="123084" y="147141"/>
                </a:lnTo>
                <a:cubicBezTo>
                  <a:pt x="123084" y="153050"/>
                  <a:pt x="120007" y="158505"/>
                  <a:pt x="114936" y="161547"/>
                </a:cubicBezTo>
                <a:lnTo>
                  <a:pt x="84096" y="180045"/>
                </a:lnTo>
                <a:cubicBezTo>
                  <a:pt x="76648" y="184521"/>
                  <a:pt x="67137" y="179136"/>
                  <a:pt x="67137" y="170464"/>
                </a:cubicBezTo>
                <a:lnTo>
                  <a:pt x="67137" y="134273"/>
                </a:lnTo>
                <a:cubicBezTo>
                  <a:pt x="67137" y="121930"/>
                  <a:pt x="57101" y="111894"/>
                  <a:pt x="44758" y="111894"/>
                </a:cubicBezTo>
                <a:lnTo>
                  <a:pt x="44723" y="111894"/>
                </a:lnTo>
                <a:close/>
                <a:moveTo>
                  <a:pt x="139868" y="55947"/>
                </a:moveTo>
                <a:cubicBezTo>
                  <a:pt x="139868" y="46684"/>
                  <a:pt x="132347" y="39163"/>
                  <a:pt x="123084" y="39163"/>
                </a:cubicBezTo>
                <a:cubicBezTo>
                  <a:pt x="113820" y="39163"/>
                  <a:pt x="106300" y="46684"/>
                  <a:pt x="106300" y="55947"/>
                </a:cubicBezTo>
                <a:cubicBezTo>
                  <a:pt x="106300" y="65211"/>
                  <a:pt x="113820" y="72731"/>
                  <a:pt x="123084" y="72731"/>
                </a:cubicBezTo>
                <a:cubicBezTo>
                  <a:pt x="132347" y="72731"/>
                  <a:pt x="139868" y="65211"/>
                  <a:pt x="139868" y="55947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6" name="Text 44"/>
          <p:cNvSpPr/>
          <p:nvPr/>
        </p:nvSpPr>
        <p:spPr>
          <a:xfrm>
            <a:off x="8849942" y="1582631"/>
            <a:ext cx="1360634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16430" y="2291600"/>
            <a:ext cx="3328183" cy="1314086"/>
          </a:xfrm>
          <a:custGeom>
            <a:avLst/>
            <a:gdLst/>
            <a:ahLst/>
            <a:cxnLst/>
            <a:rect l="l" t="t" r="r" b="b"/>
            <a:pathLst>
              <a:path w="3328183" h="1314086">
                <a:moveTo>
                  <a:pt x="71618" y="0"/>
                </a:moveTo>
                <a:lnTo>
                  <a:pt x="3256566" y="0"/>
                </a:lnTo>
                <a:cubicBezTo>
                  <a:pt x="3296119" y="0"/>
                  <a:pt x="3328183" y="32064"/>
                  <a:pt x="3328183" y="71618"/>
                </a:cubicBezTo>
                <a:lnTo>
                  <a:pt x="3328183" y="1242469"/>
                </a:lnTo>
                <a:cubicBezTo>
                  <a:pt x="3328183" y="1282022"/>
                  <a:pt x="3296119" y="1314086"/>
                  <a:pt x="3256566" y="1314086"/>
                </a:cubicBezTo>
                <a:lnTo>
                  <a:pt x="71618" y="1314086"/>
                </a:lnTo>
                <a:cubicBezTo>
                  <a:pt x="32064" y="1314086"/>
                  <a:pt x="0" y="1282022"/>
                  <a:pt x="0" y="1242469"/>
                </a:cubicBezTo>
                <a:lnTo>
                  <a:pt x="0" y="71618"/>
                </a:lnTo>
                <a:cubicBezTo>
                  <a:pt x="0" y="32064"/>
                  <a:pt x="32064" y="0"/>
                  <a:pt x="71618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8" name="Shape 46"/>
          <p:cNvSpPr/>
          <p:nvPr/>
        </p:nvSpPr>
        <p:spPr>
          <a:xfrm>
            <a:off x="8463235" y="2438403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71612" y="0"/>
                </a:moveTo>
                <a:lnTo>
                  <a:pt x="286449" y="0"/>
                </a:lnTo>
                <a:cubicBezTo>
                  <a:pt x="326000" y="0"/>
                  <a:pt x="358062" y="32062"/>
                  <a:pt x="358062" y="71612"/>
                </a:cubicBezTo>
                <a:lnTo>
                  <a:pt x="358062" y="286449"/>
                </a:lnTo>
                <a:cubicBezTo>
                  <a:pt x="358062" y="326000"/>
                  <a:pt x="326000" y="358062"/>
                  <a:pt x="286449" y="358062"/>
                </a:cubicBezTo>
                <a:lnTo>
                  <a:pt x="71612" y="358062"/>
                </a:lnTo>
                <a:cubicBezTo>
                  <a:pt x="32062" y="358062"/>
                  <a:pt x="0" y="326000"/>
                  <a:pt x="0" y="286449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9" name="Shape 47"/>
          <p:cNvSpPr/>
          <p:nvPr/>
        </p:nvSpPr>
        <p:spPr>
          <a:xfrm>
            <a:off x="8563940" y="2536870"/>
            <a:ext cx="161128" cy="161128"/>
          </a:xfrm>
          <a:custGeom>
            <a:avLst/>
            <a:gdLst/>
            <a:ahLst/>
            <a:cxnLst/>
            <a:rect l="l" t="t" r="r" b="b"/>
            <a:pathLst>
              <a:path w="161128" h="161128">
                <a:moveTo>
                  <a:pt x="0" y="30211"/>
                </a:moveTo>
                <a:cubicBezTo>
                  <a:pt x="0" y="24641"/>
                  <a:pt x="4500" y="20141"/>
                  <a:pt x="10070" y="20141"/>
                </a:cubicBezTo>
                <a:lnTo>
                  <a:pt x="130916" y="20141"/>
                </a:lnTo>
                <a:cubicBezTo>
                  <a:pt x="136487" y="20141"/>
                  <a:pt x="140987" y="24641"/>
                  <a:pt x="140987" y="30211"/>
                </a:cubicBezTo>
                <a:cubicBezTo>
                  <a:pt x="140987" y="35782"/>
                  <a:pt x="136487" y="40282"/>
                  <a:pt x="130916" y="40282"/>
                </a:cubicBezTo>
                <a:lnTo>
                  <a:pt x="10070" y="40282"/>
                </a:lnTo>
                <a:cubicBezTo>
                  <a:pt x="4500" y="40282"/>
                  <a:pt x="0" y="35782"/>
                  <a:pt x="0" y="30211"/>
                </a:cubicBezTo>
                <a:close/>
                <a:moveTo>
                  <a:pt x="20141" y="80564"/>
                </a:moveTo>
                <a:cubicBezTo>
                  <a:pt x="20141" y="74994"/>
                  <a:pt x="24641" y="70493"/>
                  <a:pt x="30211" y="70493"/>
                </a:cubicBezTo>
                <a:lnTo>
                  <a:pt x="151057" y="70493"/>
                </a:lnTo>
                <a:cubicBezTo>
                  <a:pt x="156628" y="70493"/>
                  <a:pt x="161128" y="74994"/>
                  <a:pt x="161128" y="80564"/>
                </a:cubicBezTo>
                <a:cubicBezTo>
                  <a:pt x="161128" y="86134"/>
                  <a:pt x="156628" y="90634"/>
                  <a:pt x="151057" y="90634"/>
                </a:cubicBezTo>
                <a:lnTo>
                  <a:pt x="30211" y="90634"/>
                </a:lnTo>
                <a:cubicBezTo>
                  <a:pt x="24641" y="90634"/>
                  <a:pt x="20141" y="86134"/>
                  <a:pt x="20141" y="80564"/>
                </a:cubicBezTo>
                <a:close/>
                <a:moveTo>
                  <a:pt x="140987" y="130916"/>
                </a:moveTo>
                <a:cubicBezTo>
                  <a:pt x="140987" y="136487"/>
                  <a:pt x="136487" y="140987"/>
                  <a:pt x="130916" y="140987"/>
                </a:cubicBezTo>
                <a:lnTo>
                  <a:pt x="10070" y="140987"/>
                </a:lnTo>
                <a:cubicBezTo>
                  <a:pt x="4500" y="140987"/>
                  <a:pt x="0" y="136487"/>
                  <a:pt x="0" y="130916"/>
                </a:cubicBezTo>
                <a:cubicBezTo>
                  <a:pt x="0" y="125346"/>
                  <a:pt x="4500" y="120846"/>
                  <a:pt x="10070" y="120846"/>
                </a:cubicBezTo>
                <a:lnTo>
                  <a:pt x="130916" y="120846"/>
                </a:lnTo>
                <a:cubicBezTo>
                  <a:pt x="136487" y="120846"/>
                  <a:pt x="140987" y="125346"/>
                  <a:pt x="140987" y="130916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0" name="Text 48"/>
          <p:cNvSpPr/>
          <p:nvPr/>
        </p:nvSpPr>
        <p:spPr>
          <a:xfrm>
            <a:off x="8928716" y="2438403"/>
            <a:ext cx="2649656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Données en Temps Réel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928716" y="2760659"/>
            <a:ext cx="2640705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Intégration de </a:t>
            </a:r>
            <a:r>
              <a:rPr lang="en-US" sz="1128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streaming de données</a:t>
            </a:r>
            <a:r>
              <a:rPr lang="en-US" sz="112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via Apache Flink pour des prédictions en temps réel.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16430" y="3720263"/>
            <a:ext cx="3328183" cy="1314086"/>
          </a:xfrm>
          <a:custGeom>
            <a:avLst/>
            <a:gdLst/>
            <a:ahLst/>
            <a:cxnLst/>
            <a:rect l="l" t="t" r="r" b="b"/>
            <a:pathLst>
              <a:path w="3328183" h="1314086">
                <a:moveTo>
                  <a:pt x="71618" y="0"/>
                </a:moveTo>
                <a:lnTo>
                  <a:pt x="3256566" y="0"/>
                </a:lnTo>
                <a:cubicBezTo>
                  <a:pt x="3296119" y="0"/>
                  <a:pt x="3328183" y="32064"/>
                  <a:pt x="3328183" y="71618"/>
                </a:cubicBezTo>
                <a:lnTo>
                  <a:pt x="3328183" y="1242469"/>
                </a:lnTo>
                <a:cubicBezTo>
                  <a:pt x="3328183" y="1282022"/>
                  <a:pt x="3296119" y="1314086"/>
                  <a:pt x="3256566" y="1314086"/>
                </a:cubicBezTo>
                <a:lnTo>
                  <a:pt x="71618" y="1314086"/>
                </a:lnTo>
                <a:cubicBezTo>
                  <a:pt x="32064" y="1314086"/>
                  <a:pt x="0" y="1282022"/>
                  <a:pt x="0" y="1242469"/>
                </a:cubicBezTo>
                <a:lnTo>
                  <a:pt x="0" y="71618"/>
                </a:lnTo>
                <a:cubicBezTo>
                  <a:pt x="0" y="32064"/>
                  <a:pt x="32064" y="0"/>
                  <a:pt x="71618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3" name="Shape 51"/>
          <p:cNvSpPr/>
          <p:nvPr/>
        </p:nvSpPr>
        <p:spPr>
          <a:xfrm>
            <a:off x="8463235" y="3867066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71612" y="0"/>
                </a:moveTo>
                <a:lnTo>
                  <a:pt x="286449" y="0"/>
                </a:lnTo>
                <a:cubicBezTo>
                  <a:pt x="326000" y="0"/>
                  <a:pt x="358062" y="32062"/>
                  <a:pt x="358062" y="71612"/>
                </a:cubicBezTo>
                <a:lnTo>
                  <a:pt x="358062" y="286449"/>
                </a:lnTo>
                <a:cubicBezTo>
                  <a:pt x="358062" y="326000"/>
                  <a:pt x="326000" y="358062"/>
                  <a:pt x="286449" y="358062"/>
                </a:cubicBezTo>
                <a:lnTo>
                  <a:pt x="71612" y="358062"/>
                </a:lnTo>
                <a:cubicBezTo>
                  <a:pt x="32062" y="358062"/>
                  <a:pt x="0" y="326000"/>
                  <a:pt x="0" y="286449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4" name="Shape 52"/>
          <p:cNvSpPr/>
          <p:nvPr/>
        </p:nvSpPr>
        <p:spPr>
          <a:xfrm>
            <a:off x="8563940" y="3965533"/>
            <a:ext cx="161128" cy="161128"/>
          </a:xfrm>
          <a:custGeom>
            <a:avLst/>
            <a:gdLst/>
            <a:ahLst/>
            <a:cxnLst/>
            <a:rect l="l" t="t" r="r" b="b"/>
            <a:pathLst>
              <a:path w="161128" h="161128">
                <a:moveTo>
                  <a:pt x="85568" y="6357"/>
                </a:moveTo>
                <a:cubicBezTo>
                  <a:pt x="82484" y="4595"/>
                  <a:pt x="78676" y="4595"/>
                  <a:pt x="75560" y="6357"/>
                </a:cubicBezTo>
                <a:lnTo>
                  <a:pt x="5067" y="46639"/>
                </a:lnTo>
                <a:cubicBezTo>
                  <a:pt x="1101" y="48905"/>
                  <a:pt x="-850" y="53562"/>
                  <a:pt x="315" y="57968"/>
                </a:cubicBezTo>
                <a:cubicBezTo>
                  <a:pt x="1479" y="62374"/>
                  <a:pt x="5507" y="65458"/>
                  <a:pt x="10070" y="65458"/>
                </a:cubicBezTo>
                <a:lnTo>
                  <a:pt x="20141" y="65458"/>
                </a:lnTo>
                <a:lnTo>
                  <a:pt x="20141" y="130916"/>
                </a:lnTo>
                <a:lnTo>
                  <a:pt x="20141" y="130916"/>
                </a:lnTo>
                <a:lnTo>
                  <a:pt x="4028" y="143001"/>
                </a:lnTo>
                <a:cubicBezTo>
                  <a:pt x="1479" y="144889"/>
                  <a:pt x="0" y="147879"/>
                  <a:pt x="0" y="151057"/>
                </a:cubicBezTo>
                <a:cubicBezTo>
                  <a:pt x="0" y="156628"/>
                  <a:pt x="4500" y="161128"/>
                  <a:pt x="10070" y="161128"/>
                </a:cubicBezTo>
                <a:lnTo>
                  <a:pt x="151057" y="161128"/>
                </a:lnTo>
                <a:cubicBezTo>
                  <a:pt x="156628" y="161128"/>
                  <a:pt x="161128" y="156628"/>
                  <a:pt x="161128" y="151057"/>
                </a:cubicBezTo>
                <a:cubicBezTo>
                  <a:pt x="161128" y="147879"/>
                  <a:pt x="159649" y="144889"/>
                  <a:pt x="157100" y="143001"/>
                </a:cubicBezTo>
                <a:lnTo>
                  <a:pt x="140987" y="130916"/>
                </a:lnTo>
                <a:lnTo>
                  <a:pt x="140987" y="65458"/>
                </a:lnTo>
                <a:lnTo>
                  <a:pt x="151057" y="65458"/>
                </a:lnTo>
                <a:cubicBezTo>
                  <a:pt x="155620" y="65458"/>
                  <a:pt x="159617" y="62374"/>
                  <a:pt x="160782" y="57968"/>
                </a:cubicBezTo>
                <a:cubicBezTo>
                  <a:pt x="161946" y="53562"/>
                  <a:pt x="159995" y="48905"/>
                  <a:pt x="156030" y="46639"/>
                </a:cubicBezTo>
                <a:lnTo>
                  <a:pt x="85536" y="6357"/>
                </a:lnTo>
                <a:close/>
                <a:moveTo>
                  <a:pt x="125881" y="65458"/>
                </a:moveTo>
                <a:lnTo>
                  <a:pt x="125881" y="130916"/>
                </a:lnTo>
                <a:lnTo>
                  <a:pt x="105740" y="130916"/>
                </a:lnTo>
                <a:lnTo>
                  <a:pt x="105740" y="65458"/>
                </a:lnTo>
                <a:lnTo>
                  <a:pt x="125881" y="65458"/>
                </a:lnTo>
                <a:close/>
                <a:moveTo>
                  <a:pt x="90634" y="65458"/>
                </a:moveTo>
                <a:lnTo>
                  <a:pt x="90634" y="130916"/>
                </a:lnTo>
                <a:lnTo>
                  <a:pt x="70493" y="130916"/>
                </a:lnTo>
                <a:lnTo>
                  <a:pt x="70493" y="65458"/>
                </a:lnTo>
                <a:lnTo>
                  <a:pt x="90634" y="65458"/>
                </a:lnTo>
                <a:close/>
                <a:moveTo>
                  <a:pt x="55388" y="65458"/>
                </a:moveTo>
                <a:lnTo>
                  <a:pt x="55388" y="130916"/>
                </a:lnTo>
                <a:lnTo>
                  <a:pt x="35247" y="130916"/>
                </a:lnTo>
                <a:lnTo>
                  <a:pt x="35247" y="65458"/>
                </a:lnTo>
                <a:lnTo>
                  <a:pt x="55388" y="65458"/>
                </a:lnTo>
                <a:close/>
                <a:moveTo>
                  <a:pt x="80564" y="30211"/>
                </a:moveTo>
                <a:cubicBezTo>
                  <a:pt x="86122" y="30211"/>
                  <a:pt x="90634" y="34724"/>
                  <a:pt x="90634" y="40282"/>
                </a:cubicBezTo>
                <a:cubicBezTo>
                  <a:pt x="90634" y="45840"/>
                  <a:pt x="86122" y="50352"/>
                  <a:pt x="80564" y="50352"/>
                </a:cubicBezTo>
                <a:cubicBezTo>
                  <a:pt x="75006" y="50352"/>
                  <a:pt x="70493" y="45840"/>
                  <a:pt x="70493" y="40282"/>
                </a:cubicBezTo>
                <a:cubicBezTo>
                  <a:pt x="70493" y="34724"/>
                  <a:pt x="75006" y="30211"/>
                  <a:pt x="80564" y="30211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5" name="Text 53"/>
          <p:cNvSpPr/>
          <p:nvPr/>
        </p:nvSpPr>
        <p:spPr>
          <a:xfrm>
            <a:off x="8928716" y="3867066"/>
            <a:ext cx="2649656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Extension à d'Autres Facultés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928716" y="4189322"/>
            <a:ext cx="2640705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Adaptation du modèle pour d'autres </a:t>
            </a:r>
            <a:r>
              <a:rPr lang="en-US" sz="1128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facultés et universités</a:t>
            </a:r>
            <a:r>
              <a:rPr lang="en-US" sz="112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avec personnalisation.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16430" y="5148925"/>
            <a:ext cx="3328183" cy="1081346"/>
          </a:xfrm>
          <a:custGeom>
            <a:avLst/>
            <a:gdLst/>
            <a:ahLst/>
            <a:cxnLst/>
            <a:rect l="l" t="t" r="r" b="b"/>
            <a:pathLst>
              <a:path w="3328183" h="1081346">
                <a:moveTo>
                  <a:pt x="71618" y="0"/>
                </a:moveTo>
                <a:lnTo>
                  <a:pt x="3256566" y="0"/>
                </a:lnTo>
                <a:cubicBezTo>
                  <a:pt x="3296119" y="0"/>
                  <a:pt x="3328183" y="32064"/>
                  <a:pt x="3328183" y="71618"/>
                </a:cubicBezTo>
                <a:lnTo>
                  <a:pt x="3328183" y="1009729"/>
                </a:lnTo>
                <a:cubicBezTo>
                  <a:pt x="3328183" y="1049282"/>
                  <a:pt x="3296119" y="1081346"/>
                  <a:pt x="3256566" y="1081346"/>
                </a:cubicBezTo>
                <a:lnTo>
                  <a:pt x="71618" y="1081346"/>
                </a:lnTo>
                <a:cubicBezTo>
                  <a:pt x="32064" y="1081346"/>
                  <a:pt x="0" y="1049282"/>
                  <a:pt x="0" y="1009729"/>
                </a:cubicBezTo>
                <a:lnTo>
                  <a:pt x="0" y="71618"/>
                </a:lnTo>
                <a:cubicBezTo>
                  <a:pt x="0" y="32091"/>
                  <a:pt x="32091" y="0"/>
                  <a:pt x="71618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8" name="Shape 56"/>
          <p:cNvSpPr/>
          <p:nvPr/>
        </p:nvSpPr>
        <p:spPr>
          <a:xfrm>
            <a:off x="8463235" y="5295737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71612" y="0"/>
                </a:moveTo>
                <a:lnTo>
                  <a:pt x="286449" y="0"/>
                </a:lnTo>
                <a:cubicBezTo>
                  <a:pt x="326000" y="0"/>
                  <a:pt x="358062" y="32062"/>
                  <a:pt x="358062" y="71612"/>
                </a:cubicBezTo>
                <a:lnTo>
                  <a:pt x="358062" y="286449"/>
                </a:lnTo>
                <a:cubicBezTo>
                  <a:pt x="358062" y="326000"/>
                  <a:pt x="326000" y="358062"/>
                  <a:pt x="286449" y="358062"/>
                </a:cubicBezTo>
                <a:lnTo>
                  <a:pt x="71612" y="358062"/>
                </a:lnTo>
                <a:cubicBezTo>
                  <a:pt x="32062" y="358062"/>
                  <a:pt x="0" y="326000"/>
                  <a:pt x="0" y="286449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9" name="Shape 57"/>
          <p:cNvSpPr/>
          <p:nvPr/>
        </p:nvSpPr>
        <p:spPr>
          <a:xfrm>
            <a:off x="8574011" y="5394204"/>
            <a:ext cx="140987" cy="161128"/>
          </a:xfrm>
          <a:custGeom>
            <a:avLst/>
            <a:gdLst/>
            <a:ahLst/>
            <a:cxnLst/>
            <a:rect l="l" t="t" r="r" b="b"/>
            <a:pathLst>
              <a:path w="140987" h="161128">
                <a:moveTo>
                  <a:pt x="70493" y="0"/>
                </a:moveTo>
                <a:cubicBezTo>
                  <a:pt x="64923" y="0"/>
                  <a:pt x="60423" y="4500"/>
                  <a:pt x="60423" y="10070"/>
                </a:cubicBezTo>
                <a:lnTo>
                  <a:pt x="60423" y="11078"/>
                </a:lnTo>
                <a:cubicBezTo>
                  <a:pt x="37450" y="15735"/>
                  <a:pt x="20141" y="36065"/>
                  <a:pt x="20141" y="60423"/>
                </a:cubicBezTo>
                <a:lnTo>
                  <a:pt x="20141" y="67252"/>
                </a:lnTo>
                <a:cubicBezTo>
                  <a:pt x="20141" y="82389"/>
                  <a:pt x="14980" y="97086"/>
                  <a:pt x="5539" y="108919"/>
                </a:cubicBezTo>
                <a:lnTo>
                  <a:pt x="2455" y="112758"/>
                </a:lnTo>
                <a:cubicBezTo>
                  <a:pt x="850" y="114741"/>
                  <a:pt x="0" y="117195"/>
                  <a:pt x="0" y="119744"/>
                </a:cubicBezTo>
                <a:cubicBezTo>
                  <a:pt x="0" y="125913"/>
                  <a:pt x="5004" y="130916"/>
                  <a:pt x="11172" y="130916"/>
                </a:cubicBezTo>
                <a:lnTo>
                  <a:pt x="129783" y="130916"/>
                </a:lnTo>
                <a:cubicBezTo>
                  <a:pt x="135952" y="130916"/>
                  <a:pt x="140955" y="125913"/>
                  <a:pt x="140955" y="119744"/>
                </a:cubicBezTo>
                <a:cubicBezTo>
                  <a:pt x="140955" y="117195"/>
                  <a:pt x="140106" y="114741"/>
                  <a:pt x="138501" y="112758"/>
                </a:cubicBezTo>
                <a:lnTo>
                  <a:pt x="135417" y="108919"/>
                </a:lnTo>
                <a:cubicBezTo>
                  <a:pt x="126007" y="97086"/>
                  <a:pt x="120846" y="82389"/>
                  <a:pt x="120846" y="67252"/>
                </a:cubicBezTo>
                <a:lnTo>
                  <a:pt x="120846" y="60423"/>
                </a:lnTo>
                <a:cubicBezTo>
                  <a:pt x="120846" y="36065"/>
                  <a:pt x="103537" y="15735"/>
                  <a:pt x="80564" y="11078"/>
                </a:cubicBezTo>
                <a:lnTo>
                  <a:pt x="80564" y="10070"/>
                </a:lnTo>
                <a:cubicBezTo>
                  <a:pt x="80564" y="4500"/>
                  <a:pt x="76064" y="0"/>
                  <a:pt x="70493" y="0"/>
                </a:cubicBezTo>
                <a:close/>
                <a:moveTo>
                  <a:pt x="50982" y="146022"/>
                </a:moveTo>
                <a:cubicBezTo>
                  <a:pt x="53216" y="154708"/>
                  <a:pt x="61115" y="161128"/>
                  <a:pt x="70493" y="161128"/>
                </a:cubicBezTo>
                <a:cubicBezTo>
                  <a:pt x="79872" y="161128"/>
                  <a:pt x="87771" y="154708"/>
                  <a:pt x="90005" y="146022"/>
                </a:cubicBezTo>
                <a:lnTo>
                  <a:pt x="50982" y="146022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0" name="Text 58"/>
          <p:cNvSpPr/>
          <p:nvPr/>
        </p:nvSpPr>
        <p:spPr>
          <a:xfrm>
            <a:off x="8928716" y="5295737"/>
            <a:ext cx="2649656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Système d'Alertes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928716" y="5617993"/>
            <a:ext cx="2640705" cy="46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Mise en place d'</a:t>
            </a:r>
            <a:r>
              <a:rPr lang="en-US" sz="1128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alertes automatiques</a:t>
            </a:r>
            <a:r>
              <a:rPr lang="en-US" sz="1128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pour les étudiants à risque.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architecturaldigest.com/185448742e096bed610766cc0651e5b4b7c9168f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17" r="17"/>
          <a:stretch/>
        </p:blipFill>
        <p:spPr>
          <a:xfrm>
            <a:off x="0" y="0"/>
            <a:ext cx="12192000" cy="686033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60330"/>
          </a:xfrm>
          <a:custGeom>
            <a:avLst/>
            <a:gdLst/>
            <a:ahLst/>
            <a:cxnLst/>
            <a:rect l="l" t="t" r="r" b="b"/>
            <a:pathLst>
              <a:path w="12192000" h="6860330">
                <a:moveTo>
                  <a:pt x="0" y="0"/>
                </a:moveTo>
                <a:lnTo>
                  <a:pt x="12192000" y="0"/>
                </a:lnTo>
                <a:lnTo>
                  <a:pt x="12192000" y="6860330"/>
                </a:lnTo>
                <a:lnTo>
                  <a:pt x="0" y="686033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Shape 1"/>
          <p:cNvSpPr/>
          <p:nvPr/>
        </p:nvSpPr>
        <p:spPr>
          <a:xfrm>
            <a:off x="5583456" y="-70371"/>
            <a:ext cx="1030914" cy="1030914"/>
          </a:xfrm>
          <a:custGeom>
            <a:avLst/>
            <a:gdLst/>
            <a:ahLst/>
            <a:cxnLst/>
            <a:rect l="l" t="t" r="r" b="b"/>
            <a:pathLst>
              <a:path w="1030914" h="1030914">
                <a:moveTo>
                  <a:pt x="515457" y="0"/>
                </a:moveTo>
                <a:lnTo>
                  <a:pt x="515457" y="0"/>
                </a:lnTo>
                <a:cubicBezTo>
                  <a:pt x="799945" y="0"/>
                  <a:pt x="1030914" y="230968"/>
                  <a:pt x="1030914" y="515457"/>
                </a:cubicBezTo>
                <a:lnTo>
                  <a:pt x="1030914" y="515457"/>
                </a:lnTo>
                <a:cubicBezTo>
                  <a:pt x="1030914" y="799945"/>
                  <a:pt x="799945" y="1030914"/>
                  <a:pt x="515457" y="1030914"/>
                </a:cubicBezTo>
                <a:lnTo>
                  <a:pt x="515457" y="1030914"/>
                </a:lnTo>
                <a:cubicBezTo>
                  <a:pt x="230968" y="1030914"/>
                  <a:pt x="0" y="799945"/>
                  <a:pt x="0" y="515457"/>
                </a:cubicBezTo>
                <a:lnTo>
                  <a:pt x="0" y="515457"/>
                </a:lnTo>
                <a:cubicBezTo>
                  <a:pt x="0" y="230968"/>
                  <a:pt x="230968" y="0"/>
                  <a:pt x="515457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2032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2"/>
          <p:cNvSpPr/>
          <p:nvPr/>
        </p:nvSpPr>
        <p:spPr>
          <a:xfrm>
            <a:off x="5846311" y="220448"/>
            <a:ext cx="503339" cy="447413"/>
          </a:xfrm>
          <a:custGeom>
            <a:avLst/>
            <a:gdLst/>
            <a:ahLst/>
            <a:cxnLst/>
            <a:rect l="l" t="t" r="r" b="b"/>
            <a:pathLst>
              <a:path w="503339" h="447413">
                <a:moveTo>
                  <a:pt x="234979" y="46489"/>
                </a:moveTo>
                <a:lnTo>
                  <a:pt x="133088" y="159740"/>
                </a:lnTo>
                <a:cubicBezTo>
                  <a:pt x="129068" y="164197"/>
                  <a:pt x="129243" y="171100"/>
                  <a:pt x="133525" y="175382"/>
                </a:cubicBezTo>
                <a:cubicBezTo>
                  <a:pt x="160177" y="202035"/>
                  <a:pt x="203433" y="202035"/>
                  <a:pt x="230086" y="175382"/>
                </a:cubicBezTo>
                <a:lnTo>
                  <a:pt x="257874" y="147594"/>
                </a:lnTo>
                <a:cubicBezTo>
                  <a:pt x="261544" y="143924"/>
                  <a:pt x="266176" y="141914"/>
                  <a:pt x="270894" y="141564"/>
                </a:cubicBezTo>
                <a:cubicBezTo>
                  <a:pt x="276837" y="141040"/>
                  <a:pt x="282954" y="143050"/>
                  <a:pt x="287498" y="147594"/>
                </a:cubicBezTo>
                <a:lnTo>
                  <a:pt x="441820" y="300606"/>
                </a:lnTo>
                <a:lnTo>
                  <a:pt x="503339" y="251670"/>
                </a:lnTo>
                <a:lnTo>
                  <a:pt x="503339" y="0"/>
                </a:lnTo>
                <a:lnTo>
                  <a:pt x="405468" y="55927"/>
                </a:lnTo>
                <a:lnTo>
                  <a:pt x="384670" y="42032"/>
                </a:lnTo>
                <a:cubicBezTo>
                  <a:pt x="370863" y="32857"/>
                  <a:pt x="354697" y="27963"/>
                  <a:pt x="338094" y="27963"/>
                </a:cubicBezTo>
                <a:lnTo>
                  <a:pt x="276575" y="27963"/>
                </a:lnTo>
                <a:cubicBezTo>
                  <a:pt x="275613" y="27963"/>
                  <a:pt x="274565" y="27963"/>
                  <a:pt x="273603" y="28051"/>
                </a:cubicBezTo>
                <a:cubicBezTo>
                  <a:pt x="258835" y="28837"/>
                  <a:pt x="244941" y="35478"/>
                  <a:pt x="234979" y="46489"/>
                </a:cubicBezTo>
                <a:close/>
                <a:moveTo>
                  <a:pt x="101891" y="131690"/>
                </a:moveTo>
                <a:lnTo>
                  <a:pt x="195219" y="27963"/>
                </a:lnTo>
                <a:lnTo>
                  <a:pt x="160614" y="27963"/>
                </a:lnTo>
                <a:cubicBezTo>
                  <a:pt x="138331" y="27963"/>
                  <a:pt x="117009" y="36789"/>
                  <a:pt x="101280" y="52519"/>
                </a:cubicBezTo>
                <a:lnTo>
                  <a:pt x="0" y="167780"/>
                </a:lnTo>
                <a:lnTo>
                  <a:pt x="0" y="475376"/>
                </a:lnTo>
                <a:lnTo>
                  <a:pt x="125835" y="356532"/>
                </a:lnTo>
                <a:lnTo>
                  <a:pt x="136671" y="365533"/>
                </a:lnTo>
                <a:cubicBezTo>
                  <a:pt x="156769" y="382311"/>
                  <a:pt x="182111" y="391486"/>
                  <a:pt x="208239" y="391486"/>
                </a:cubicBezTo>
                <a:lnTo>
                  <a:pt x="221959" y="391486"/>
                </a:lnTo>
                <a:lnTo>
                  <a:pt x="215842" y="385369"/>
                </a:lnTo>
                <a:cubicBezTo>
                  <a:pt x="207628" y="377155"/>
                  <a:pt x="207628" y="363872"/>
                  <a:pt x="215842" y="355746"/>
                </a:cubicBezTo>
                <a:cubicBezTo>
                  <a:pt x="224056" y="347619"/>
                  <a:pt x="237339" y="347531"/>
                  <a:pt x="245465" y="355746"/>
                </a:cubicBezTo>
                <a:lnTo>
                  <a:pt x="281293" y="391574"/>
                </a:lnTo>
                <a:lnTo>
                  <a:pt x="289158" y="391574"/>
                </a:lnTo>
                <a:cubicBezTo>
                  <a:pt x="305849" y="391574"/>
                  <a:pt x="322190" y="387816"/>
                  <a:pt x="337045" y="380825"/>
                </a:cubicBezTo>
                <a:lnTo>
                  <a:pt x="313713" y="357406"/>
                </a:lnTo>
                <a:cubicBezTo>
                  <a:pt x="305499" y="349192"/>
                  <a:pt x="305499" y="335909"/>
                  <a:pt x="313713" y="327782"/>
                </a:cubicBezTo>
                <a:cubicBezTo>
                  <a:pt x="321928" y="319656"/>
                  <a:pt x="335210" y="319568"/>
                  <a:pt x="343337" y="327782"/>
                </a:cubicBezTo>
                <a:lnTo>
                  <a:pt x="371300" y="355746"/>
                </a:lnTo>
                <a:lnTo>
                  <a:pt x="386593" y="340453"/>
                </a:lnTo>
                <a:cubicBezTo>
                  <a:pt x="394370" y="332676"/>
                  <a:pt x="396642" y="321403"/>
                  <a:pt x="393234" y="311529"/>
                </a:cubicBezTo>
                <a:lnTo>
                  <a:pt x="272730" y="191986"/>
                </a:lnTo>
                <a:lnTo>
                  <a:pt x="259709" y="205006"/>
                </a:lnTo>
                <a:cubicBezTo>
                  <a:pt x="216628" y="248087"/>
                  <a:pt x="146895" y="248087"/>
                  <a:pt x="103814" y="205006"/>
                </a:cubicBezTo>
                <a:cubicBezTo>
                  <a:pt x="83715" y="184907"/>
                  <a:pt x="82929" y="152662"/>
                  <a:pt x="101891" y="131602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Text 3"/>
          <p:cNvSpPr/>
          <p:nvPr/>
        </p:nvSpPr>
        <p:spPr>
          <a:xfrm>
            <a:off x="2525086" y="1264411"/>
            <a:ext cx="7149284" cy="671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28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Remerciements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22958" y="2159237"/>
            <a:ext cx="6953541" cy="913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2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Merci pour votre attention.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2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Nous sommes à votre disposition pour vos questions.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925856" y="3519185"/>
            <a:ext cx="4015530" cy="2468228"/>
          </a:xfrm>
          <a:custGeom>
            <a:avLst/>
            <a:gdLst/>
            <a:ahLst/>
            <a:cxnLst/>
            <a:rect l="l" t="t" r="r" b="b"/>
            <a:pathLst>
              <a:path w="4015530" h="2468228">
                <a:moveTo>
                  <a:pt x="111860" y="0"/>
                </a:moveTo>
                <a:lnTo>
                  <a:pt x="3903670" y="0"/>
                </a:lnTo>
                <a:cubicBezTo>
                  <a:pt x="3965449" y="0"/>
                  <a:pt x="4015530" y="50081"/>
                  <a:pt x="4015530" y="111860"/>
                </a:cubicBezTo>
                <a:lnTo>
                  <a:pt x="4015530" y="2356367"/>
                </a:lnTo>
                <a:cubicBezTo>
                  <a:pt x="4015530" y="2418146"/>
                  <a:pt x="3965449" y="2468228"/>
                  <a:pt x="3903670" y="2468228"/>
                </a:cubicBezTo>
                <a:lnTo>
                  <a:pt x="111860" y="2468228"/>
                </a:lnTo>
                <a:cubicBezTo>
                  <a:pt x="50081" y="2468228"/>
                  <a:pt x="0" y="2418146"/>
                  <a:pt x="0" y="2356367"/>
                </a:cubicBezTo>
                <a:lnTo>
                  <a:pt x="0" y="111860"/>
                </a:lnTo>
                <a:cubicBezTo>
                  <a:pt x="0" y="50081"/>
                  <a:pt x="50081" y="0"/>
                  <a:pt x="111860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6"/>
          <p:cNvSpPr/>
          <p:nvPr/>
        </p:nvSpPr>
        <p:spPr>
          <a:xfrm>
            <a:off x="2111346" y="3746618"/>
            <a:ext cx="364455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b="1" kern="0" spc="66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Équipe du Projet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111346" y="4156747"/>
            <a:ext cx="364455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BASSIRY Wijdane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111346" y="4492306"/>
            <a:ext cx="364455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MHADA Hiba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111346" y="4827866"/>
            <a:ext cx="364455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MOUJOUD Aya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111346" y="5163426"/>
            <a:ext cx="364455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GRANDI Soukaina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111346" y="5498985"/>
            <a:ext cx="364455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TACE Mouad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50847" y="3519185"/>
            <a:ext cx="4015530" cy="2468228"/>
          </a:xfrm>
          <a:custGeom>
            <a:avLst/>
            <a:gdLst/>
            <a:ahLst/>
            <a:cxnLst/>
            <a:rect l="l" t="t" r="r" b="b"/>
            <a:pathLst>
              <a:path w="4015530" h="2468228">
                <a:moveTo>
                  <a:pt x="111860" y="0"/>
                </a:moveTo>
                <a:lnTo>
                  <a:pt x="3903670" y="0"/>
                </a:lnTo>
                <a:cubicBezTo>
                  <a:pt x="3965449" y="0"/>
                  <a:pt x="4015530" y="50081"/>
                  <a:pt x="4015530" y="111860"/>
                </a:cubicBezTo>
                <a:lnTo>
                  <a:pt x="4015530" y="2356367"/>
                </a:lnTo>
                <a:cubicBezTo>
                  <a:pt x="4015530" y="2418146"/>
                  <a:pt x="3965449" y="2468228"/>
                  <a:pt x="3903670" y="2468228"/>
                </a:cubicBezTo>
                <a:lnTo>
                  <a:pt x="111860" y="2468228"/>
                </a:lnTo>
                <a:cubicBezTo>
                  <a:pt x="50081" y="2468228"/>
                  <a:pt x="0" y="2418146"/>
                  <a:pt x="0" y="2356367"/>
                </a:cubicBezTo>
                <a:lnTo>
                  <a:pt x="0" y="111860"/>
                </a:lnTo>
                <a:cubicBezTo>
                  <a:pt x="0" y="50081"/>
                  <a:pt x="50081" y="0"/>
                  <a:pt x="111860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6" name="Text 13"/>
          <p:cNvSpPr/>
          <p:nvPr/>
        </p:nvSpPr>
        <p:spPr>
          <a:xfrm>
            <a:off x="6436337" y="3746618"/>
            <a:ext cx="364455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b="1" kern="0" spc="66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Encadrants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36337" y="4156747"/>
            <a:ext cx="364455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Pr. SAID NOUH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36337" y="4492306"/>
            <a:ext cx="364455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Pr. TAOUFIK AMZIL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78282" y="4980732"/>
            <a:ext cx="3560661" cy="7457"/>
          </a:xfrm>
          <a:custGeom>
            <a:avLst/>
            <a:gdLst/>
            <a:ahLst/>
            <a:cxnLst/>
            <a:rect l="l" t="t" r="r" b="b"/>
            <a:pathLst>
              <a:path w="3560661" h="7457">
                <a:moveTo>
                  <a:pt x="0" y="0"/>
                </a:moveTo>
                <a:lnTo>
                  <a:pt x="3560661" y="0"/>
                </a:lnTo>
                <a:lnTo>
                  <a:pt x="3560661" y="7457"/>
                </a:lnTo>
                <a:lnTo>
                  <a:pt x="0" y="745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Text 17"/>
          <p:cNvSpPr/>
          <p:nvPr/>
        </p:nvSpPr>
        <p:spPr>
          <a:xfrm>
            <a:off x="6440997" y="5208165"/>
            <a:ext cx="3635229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Université Hassan II de Casablanca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Faculté des Sciences Ben M'Sick</a:t>
            </a:r>
            <a:endParaRPr lang="en-US" sz="16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79E6779-25D7-B015-CC83-A9301C9E97FA}"/>
              </a:ext>
            </a:extLst>
          </p:cNvPr>
          <p:cNvGrpSpPr/>
          <p:nvPr/>
        </p:nvGrpSpPr>
        <p:grpSpPr>
          <a:xfrm>
            <a:off x="5173910" y="6172879"/>
            <a:ext cx="1843714" cy="492154"/>
            <a:chOff x="5173910" y="6442279"/>
            <a:chExt cx="1843714" cy="492154"/>
          </a:xfrm>
        </p:grpSpPr>
        <p:sp>
          <p:nvSpPr>
            <p:cNvPr id="21" name="Shape 18"/>
            <p:cNvSpPr/>
            <p:nvPr/>
          </p:nvSpPr>
          <p:spPr>
            <a:xfrm>
              <a:off x="5173910" y="6442279"/>
              <a:ext cx="1843714" cy="492154"/>
            </a:xfrm>
            <a:custGeom>
              <a:avLst/>
              <a:gdLst/>
              <a:ahLst/>
              <a:cxnLst/>
              <a:rect l="l" t="t" r="r" b="b"/>
              <a:pathLst>
                <a:path w="1843714" h="492154">
                  <a:moveTo>
                    <a:pt x="246077" y="0"/>
                  </a:moveTo>
                  <a:lnTo>
                    <a:pt x="1597637" y="0"/>
                  </a:lnTo>
                  <a:cubicBezTo>
                    <a:pt x="1733541" y="0"/>
                    <a:pt x="1843714" y="110172"/>
                    <a:pt x="1843714" y="246077"/>
                  </a:cubicBezTo>
                  <a:lnTo>
                    <a:pt x="1843714" y="246077"/>
                  </a:lnTo>
                  <a:cubicBezTo>
                    <a:pt x="1843714" y="381982"/>
                    <a:pt x="1733541" y="492154"/>
                    <a:pt x="1597637" y="492154"/>
                  </a:cubicBezTo>
                  <a:lnTo>
                    <a:pt x="246077" y="492154"/>
                  </a:lnTo>
                  <a:cubicBezTo>
                    <a:pt x="110263" y="492154"/>
                    <a:pt x="0" y="381891"/>
                    <a:pt x="0" y="246077"/>
                  </a:cubicBezTo>
                  <a:lnTo>
                    <a:pt x="0" y="246077"/>
                  </a:lnTo>
                  <a:cubicBezTo>
                    <a:pt x="0" y="110263"/>
                    <a:pt x="110263" y="0"/>
                    <a:pt x="246077" y="0"/>
                  </a:cubicBezTo>
                  <a:close/>
                </a:path>
              </a:pathLst>
            </a:custGeom>
            <a:solidFill>
              <a:srgbClr val="6366F1">
                <a:alpha val="20000"/>
              </a:srgbClr>
            </a:solidFill>
            <a:ln w="10160">
              <a:solidFill>
                <a:srgbClr val="6366F1"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22" name="Shape 19"/>
            <p:cNvSpPr/>
            <p:nvPr/>
          </p:nvSpPr>
          <p:spPr>
            <a:xfrm>
              <a:off x="5429309" y="6576501"/>
              <a:ext cx="223706" cy="223706"/>
            </a:xfrm>
            <a:custGeom>
              <a:avLst/>
              <a:gdLst/>
              <a:ahLst/>
              <a:cxnLst/>
              <a:rect l="l" t="t" r="r" b="b"/>
              <a:pathLst>
                <a:path w="223706" h="223706">
                  <a:moveTo>
                    <a:pt x="111853" y="223706"/>
                  </a:moveTo>
                  <a:cubicBezTo>
                    <a:pt x="173587" y="223706"/>
                    <a:pt x="223706" y="173587"/>
                    <a:pt x="223706" y="111853"/>
                  </a:cubicBezTo>
                  <a:cubicBezTo>
                    <a:pt x="223706" y="50120"/>
                    <a:pt x="173587" y="0"/>
                    <a:pt x="111853" y="0"/>
                  </a:cubicBezTo>
                  <a:cubicBezTo>
                    <a:pt x="50120" y="0"/>
                    <a:pt x="0" y="50120"/>
                    <a:pt x="0" y="111853"/>
                  </a:cubicBezTo>
                  <a:cubicBezTo>
                    <a:pt x="0" y="173587"/>
                    <a:pt x="50120" y="223706"/>
                    <a:pt x="111853" y="223706"/>
                  </a:cubicBezTo>
                  <a:close/>
                  <a:moveTo>
                    <a:pt x="111853" y="76899"/>
                  </a:moveTo>
                  <a:cubicBezTo>
                    <a:pt x="104120" y="76899"/>
                    <a:pt x="97872" y="83147"/>
                    <a:pt x="97872" y="90881"/>
                  </a:cubicBezTo>
                  <a:cubicBezTo>
                    <a:pt x="97872" y="96692"/>
                    <a:pt x="93196" y="101367"/>
                    <a:pt x="87385" y="101367"/>
                  </a:cubicBezTo>
                  <a:cubicBezTo>
                    <a:pt x="81574" y="101367"/>
                    <a:pt x="76899" y="96692"/>
                    <a:pt x="76899" y="90881"/>
                  </a:cubicBezTo>
                  <a:cubicBezTo>
                    <a:pt x="76899" y="71569"/>
                    <a:pt x="92541" y="55927"/>
                    <a:pt x="111853" y="55927"/>
                  </a:cubicBezTo>
                  <a:cubicBezTo>
                    <a:pt x="131165" y="55927"/>
                    <a:pt x="146807" y="71569"/>
                    <a:pt x="146807" y="90881"/>
                  </a:cubicBezTo>
                  <a:cubicBezTo>
                    <a:pt x="146807" y="111504"/>
                    <a:pt x="131078" y="120242"/>
                    <a:pt x="122339" y="123432"/>
                  </a:cubicBezTo>
                  <a:lnTo>
                    <a:pt x="122339" y="125092"/>
                  </a:lnTo>
                  <a:cubicBezTo>
                    <a:pt x="122339" y="130903"/>
                    <a:pt x="117664" y="135578"/>
                    <a:pt x="111853" y="135578"/>
                  </a:cubicBezTo>
                  <a:cubicBezTo>
                    <a:pt x="106042" y="135578"/>
                    <a:pt x="101367" y="130903"/>
                    <a:pt x="101367" y="125092"/>
                  </a:cubicBezTo>
                  <a:lnTo>
                    <a:pt x="101367" y="121553"/>
                  </a:lnTo>
                  <a:cubicBezTo>
                    <a:pt x="101367" y="112596"/>
                    <a:pt x="107833" y="106173"/>
                    <a:pt x="114518" y="103989"/>
                  </a:cubicBezTo>
                  <a:cubicBezTo>
                    <a:pt x="117315" y="103071"/>
                    <a:pt x="120286" y="101585"/>
                    <a:pt x="122471" y="99488"/>
                  </a:cubicBezTo>
                  <a:cubicBezTo>
                    <a:pt x="124349" y="97653"/>
                    <a:pt x="125835" y="95119"/>
                    <a:pt x="125835" y="90924"/>
                  </a:cubicBezTo>
                  <a:cubicBezTo>
                    <a:pt x="125835" y="83191"/>
                    <a:pt x="119587" y="76943"/>
                    <a:pt x="111853" y="76943"/>
                  </a:cubicBezTo>
                  <a:close/>
                  <a:moveTo>
                    <a:pt x="97872" y="160789"/>
                  </a:moveTo>
                  <a:cubicBezTo>
                    <a:pt x="97872" y="153072"/>
                    <a:pt x="104137" y="146807"/>
                    <a:pt x="111853" y="146807"/>
                  </a:cubicBezTo>
                  <a:cubicBezTo>
                    <a:pt x="119570" y="146807"/>
                    <a:pt x="125835" y="153072"/>
                    <a:pt x="125835" y="160789"/>
                  </a:cubicBezTo>
                  <a:cubicBezTo>
                    <a:pt x="125835" y="168506"/>
                    <a:pt x="119570" y="174771"/>
                    <a:pt x="111853" y="174771"/>
                  </a:cubicBezTo>
                  <a:cubicBezTo>
                    <a:pt x="104137" y="174771"/>
                    <a:pt x="97872" y="168506"/>
                    <a:pt x="97872" y="160789"/>
                  </a:cubicBezTo>
                  <a:close/>
                </a:path>
              </a:pathLst>
            </a:custGeom>
            <a:solidFill>
              <a:srgbClr val="6366F1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23" name="Text 20"/>
            <p:cNvSpPr/>
            <p:nvPr/>
          </p:nvSpPr>
          <p:spPr>
            <a:xfrm>
              <a:off x="5746226" y="6557859"/>
              <a:ext cx="1090569" cy="2609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68" b="1" dirty="0">
                  <a:solidFill>
                    <a:srgbClr val="6366F1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Questions ?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1499</Words>
  <Application>Microsoft Office PowerPoint</Application>
  <PresentationFormat>Widescreen</PresentationFormat>
  <Paragraphs>351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Liter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de la Réussite Académique des Étudiants</dc:title>
  <dc:subject>Prédiction de la Réussite Académique des Étudiants</dc:subject>
  <dc:creator>Kimi</dc:creator>
  <cp:lastModifiedBy>Wijdane Bassiry</cp:lastModifiedBy>
  <cp:revision>4</cp:revision>
  <dcterms:created xsi:type="dcterms:W3CDTF">2026-02-16T14:37:34Z</dcterms:created>
  <dcterms:modified xsi:type="dcterms:W3CDTF">2026-03-03T22:57:12Z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{"Label":"Prédiction de la Réussite Académique des Étudiants","ContentProducer":"001191110108MACG2KBH8F10000","ProduceID":"19c66c4d-fb22-84e2-8000-00003fce722b","ReservedCode1":"","ContentPropagator":"001191110108MACG2KBH8F20000","PropagateID":"19c66c4d-fb22-84e2-8000-00003fce722b","ReservedCode2":""}</vt:lpwstr>
  </property>
</Properties>
</file>